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微软雅黑" panose="020B0503020204020204" pitchFamily="34" charset="-122"/>
      <p:regular r:id="rId24"/>
      <p:bold r:id="rId25"/>
    </p:embeddedFont>
    <p:embeddedFont>
      <p:font typeface="MiSans"/>
      <p:regular r:id="rId26"/>
    </p:embeddedFont>
    <p:embeddedFont>
      <p:font typeface="Noto Sans SC" panose="020B0200000000000000"/>
      <p:regular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89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76080" y="1481138"/>
            <a:ext cx="3238500" cy="428625"/>
          </a:xfrm>
          <a:custGeom>
            <a:avLst/>
            <a:gdLst/>
            <a:ahLst/>
            <a:cxnLst/>
            <a:rect l="l" t="t" r="r" b="b"/>
            <a:pathLst>
              <a:path w="3238500" h="428625">
                <a:moveTo>
                  <a:pt x="214313" y="0"/>
                </a:moveTo>
                <a:lnTo>
                  <a:pt x="3024188" y="0"/>
                </a:lnTo>
                <a:cubicBezTo>
                  <a:pt x="3142470" y="0"/>
                  <a:pt x="3238500" y="96030"/>
                  <a:pt x="3238500" y="214313"/>
                </a:cubicBezTo>
                <a:lnTo>
                  <a:pt x="3238500" y="214313"/>
                </a:lnTo>
                <a:cubicBezTo>
                  <a:pt x="3238500" y="332595"/>
                  <a:pt x="3142470" y="428625"/>
                  <a:pt x="302418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 w="12700">
            <a:solidFill>
              <a:srgbClr val="4A9B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666580" y="1581150"/>
            <a:ext cx="28587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 INFERENCE OPTIMIZATION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5890" y="2447925"/>
            <a:ext cx="34194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原理简介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8650" y="4391025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大语言模型推理优化的核心技术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92698" y="5172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145110" y="5153025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 Architecture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94635" y="51720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535141" y="5153025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Optimization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93868" y="5172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746281" y="5153025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 Management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14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591175" cy="1581150"/>
          </a:xfrm>
          <a:custGeom>
            <a:avLst/>
            <a:gdLst/>
            <a:ahLst/>
            <a:cxnLst/>
            <a:rect l="l" t="t" r="r" b="b"/>
            <a:pathLst>
              <a:path w="5591175" h="1581150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1466849"/>
                </a:lnTo>
                <a:cubicBezTo>
                  <a:pt x="5591175" y="1529976"/>
                  <a:pt x="5540001" y="1581150"/>
                  <a:pt x="54768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19125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69218" y="1609725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04925" y="1495425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背景:大模型推理的挑战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4925" y="1838325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理解自回归生成模式与重复计算问题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5063" y="1262063"/>
            <a:ext cx="5591175" cy="1581150"/>
          </a:xfrm>
          <a:custGeom>
            <a:avLst/>
            <a:gdLst/>
            <a:ahLst/>
            <a:cxnLst/>
            <a:rect l="l" t="t" r="r" b="b"/>
            <a:pathLst>
              <a:path w="5591175" h="1581150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1466849"/>
                </a:lnTo>
                <a:cubicBezTo>
                  <a:pt x="5591175" y="1529976"/>
                  <a:pt x="5540001" y="1581150"/>
                  <a:pt x="54768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48425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79171" y="16097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4225" y="1495425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Cache核心原理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4225" y="1838325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空间换时间:缓存机制的工作流程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078138"/>
            <a:ext cx="5591175" cy="1581150"/>
          </a:xfrm>
          <a:custGeom>
            <a:avLst/>
            <a:gdLst/>
            <a:ahLst/>
            <a:cxnLst/>
            <a:rect l="l" t="t" r="r" b="b"/>
            <a:pathLst>
              <a:path w="5591175" h="1581150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1466849"/>
                </a:lnTo>
                <a:cubicBezTo>
                  <a:pt x="5591175" y="1529976"/>
                  <a:pt x="5540001" y="1581150"/>
                  <a:pt x="54768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9125" y="3311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46894" y="34258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04925" y="33115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显存占用分析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4925" y="3654400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速度的代价:理解显存消耗的结构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3078138"/>
            <a:ext cx="5591175" cy="1581150"/>
          </a:xfrm>
          <a:custGeom>
            <a:avLst/>
            <a:gdLst/>
            <a:ahLst/>
            <a:cxnLst/>
            <a:rect l="l" t="t" r="r" b="b"/>
            <a:pathLst>
              <a:path w="5591175" h="1581150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1466849"/>
                </a:lnTo>
                <a:cubicBezTo>
                  <a:pt x="5591175" y="1529976"/>
                  <a:pt x="5540001" y="1581150"/>
                  <a:pt x="54768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48425" y="3311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76417" y="34258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4225" y="33115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优缺点对比与权衡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4225" y="3654400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速度与显存的Trade-off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4894213"/>
            <a:ext cx="5591175" cy="1581150"/>
          </a:xfrm>
          <a:custGeom>
            <a:avLst/>
            <a:gdLst/>
            <a:ahLst/>
            <a:cxnLst/>
            <a:rect l="l" t="t" r="r" b="b"/>
            <a:pathLst>
              <a:path w="5591175" h="1581150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1466849"/>
                </a:lnTo>
                <a:cubicBezTo>
                  <a:pt x="5591175" y="1529976"/>
                  <a:pt x="5540001" y="1581150"/>
                  <a:pt x="54768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19125" y="5127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45852" y="52418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04925" y="5127575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进阶:降低KV Cache开销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4925" y="5470475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注意力机制的进化:MQA与GQA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63" y="4894213"/>
            <a:ext cx="5591175" cy="1581150"/>
          </a:xfrm>
          <a:custGeom>
            <a:avLst/>
            <a:gdLst/>
            <a:ahLst/>
            <a:cxnLst/>
            <a:rect l="l" t="t" r="r" b="b"/>
            <a:pathLst>
              <a:path w="5591175" h="1581150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1466849"/>
                </a:lnTo>
                <a:cubicBezTo>
                  <a:pt x="5591175" y="1529976"/>
                  <a:pt x="5540001" y="1581150"/>
                  <a:pt x="54768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48425" y="5127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574706" y="52418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4225" y="5127575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工程实践要点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4225" y="5470475"/>
            <a:ext cx="4514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从理论到生产:系统级优化方案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86723" y="-180489"/>
            <a:ext cx="7219541" cy="7219541"/>
          </a:xfrm>
          <a:custGeom>
            <a:avLst/>
            <a:gdLst/>
            <a:ahLst/>
            <a:cxnLst/>
            <a:rect l="l" t="t" r="r" b="b"/>
            <a:pathLst>
              <a:path w="7219541" h="7219541">
                <a:moveTo>
                  <a:pt x="3609771" y="0"/>
                </a:moveTo>
                <a:lnTo>
                  <a:pt x="3609771" y="0"/>
                </a:lnTo>
                <a:cubicBezTo>
                  <a:pt x="5603392" y="0"/>
                  <a:pt x="7219541" y="1616149"/>
                  <a:pt x="7219541" y="3609771"/>
                </a:cubicBezTo>
                <a:lnTo>
                  <a:pt x="7219541" y="3609771"/>
                </a:lnTo>
                <a:cubicBezTo>
                  <a:pt x="7219541" y="5603392"/>
                  <a:pt x="5603392" y="7219541"/>
                  <a:pt x="3609771" y="7219541"/>
                </a:cubicBezTo>
                <a:lnTo>
                  <a:pt x="3609771" y="7219541"/>
                </a:lnTo>
                <a:cubicBezTo>
                  <a:pt x="1616149" y="7219541"/>
                  <a:pt x="0" y="5603392"/>
                  <a:pt x="0" y="3609771"/>
                </a:cubicBezTo>
                <a:lnTo>
                  <a:pt x="0" y="3609771"/>
                </a:lnTo>
                <a:cubicBezTo>
                  <a:pt x="0" y="1616149"/>
                  <a:pt x="1616149" y="0"/>
                  <a:pt x="3609770" y="0"/>
                </a:cubicBezTo>
                <a:close/>
              </a:path>
            </a:pathLst>
          </a:custGeom>
          <a:solidFill>
            <a:srgbClr val="4A9B9B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489" y="1813910"/>
            <a:ext cx="1326591" cy="406099"/>
          </a:xfrm>
          <a:custGeom>
            <a:avLst/>
            <a:gdLst/>
            <a:ahLst/>
            <a:cxnLst/>
            <a:rect l="l" t="t" r="r" b="b"/>
            <a:pathLst>
              <a:path w="1326591" h="406099">
                <a:moveTo>
                  <a:pt x="203050" y="0"/>
                </a:moveTo>
                <a:lnTo>
                  <a:pt x="1123541" y="0"/>
                </a:lnTo>
                <a:cubicBezTo>
                  <a:pt x="1235682" y="0"/>
                  <a:pt x="1326591" y="90908"/>
                  <a:pt x="1326591" y="203050"/>
                </a:cubicBezTo>
                <a:lnTo>
                  <a:pt x="1326591" y="203050"/>
                </a:lnTo>
                <a:cubicBezTo>
                  <a:pt x="1326591" y="315191"/>
                  <a:pt x="1235682" y="406099"/>
                  <a:pt x="1123541" y="406099"/>
                </a:cubicBezTo>
                <a:lnTo>
                  <a:pt x="203050" y="406099"/>
                </a:lnTo>
                <a:cubicBezTo>
                  <a:pt x="90983" y="406099"/>
                  <a:pt x="0" y="315116"/>
                  <a:pt x="0" y="203050"/>
                </a:cubicBezTo>
                <a:lnTo>
                  <a:pt x="0" y="203050"/>
                </a:lnTo>
                <a:cubicBezTo>
                  <a:pt x="0" y="90983"/>
                  <a:pt x="90983" y="0"/>
                  <a:pt x="20305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 w="12700">
            <a:solidFill>
              <a:srgbClr val="4A9B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0977" y="1809397"/>
            <a:ext cx="1398786" cy="397075"/>
          </a:xfrm>
          <a:prstGeom prst="rect">
            <a:avLst/>
          </a:prstGeom>
          <a:noFill/>
          <a:ln/>
        </p:spPr>
        <p:txBody>
          <a:bodyPr wrap="square" lIns="144391" tIns="72195" rIns="144391" bIns="72195" rtlCol="0" anchor="ctr"/>
          <a:lstStyle/>
          <a:p>
            <a:pPr>
              <a:lnSpc>
                <a:spcPct val="130000"/>
              </a:lnSpc>
            </a:pPr>
            <a:r>
              <a:rPr lang="en-US" sz="1279" b="1" kern="0" spc="64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0977" y="2441107"/>
            <a:ext cx="11740779" cy="135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背景: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大模型推理的挑战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0977" y="4011358"/>
            <a:ext cx="6172708" cy="35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5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理解自回归生成模式与重复计算问题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0977" y="4904776"/>
            <a:ext cx="577563" cy="36098"/>
          </a:xfrm>
          <a:custGeom>
            <a:avLst/>
            <a:gdLst/>
            <a:ahLst/>
            <a:cxnLst/>
            <a:rect l="l" t="t" r="r" b="b"/>
            <a:pathLst>
              <a:path w="577563" h="36098">
                <a:moveTo>
                  <a:pt x="0" y="0"/>
                </a:moveTo>
                <a:lnTo>
                  <a:pt x="577563" y="0"/>
                </a:lnTo>
                <a:lnTo>
                  <a:pt x="577563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2931" y="4796483"/>
            <a:ext cx="434074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Autoregressive Generation &amp; Computational Redundancy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01.1 自回归生成模式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自回归生成:逐词预测的本质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90663"/>
            <a:ext cx="5848350" cy="3076575"/>
          </a:xfrm>
          <a:custGeom>
            <a:avLst/>
            <a:gdLst/>
            <a:ahLst/>
            <a:cxnLst/>
            <a:rect l="l" t="t" r="r" b="b"/>
            <a:pathLst>
              <a:path w="5848350" h="3076575">
                <a:moveTo>
                  <a:pt x="114295" y="0"/>
                </a:moveTo>
                <a:lnTo>
                  <a:pt x="5734055" y="0"/>
                </a:lnTo>
                <a:cubicBezTo>
                  <a:pt x="5797178" y="0"/>
                  <a:pt x="5848350" y="51172"/>
                  <a:pt x="5848350" y="114295"/>
                </a:cubicBezTo>
                <a:lnTo>
                  <a:pt x="5848350" y="2962280"/>
                </a:lnTo>
                <a:cubicBezTo>
                  <a:pt x="5848350" y="3025403"/>
                  <a:pt x="5797178" y="3076575"/>
                  <a:pt x="5734055" y="3076575"/>
                </a:cubicBezTo>
                <a:lnTo>
                  <a:pt x="114295" y="3076575"/>
                </a:lnTo>
                <a:cubicBezTo>
                  <a:pt x="51172" y="3076575"/>
                  <a:pt x="0" y="3025403"/>
                  <a:pt x="0" y="296228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66750" y="17621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57250" y="1724025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43125"/>
            <a:ext cx="54578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在大语言模型(LLM)的推理过程中,模型采用</a:t>
            </a:r>
            <a:r>
              <a:rPr lang="en-US" sz="120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自回归(Autoregressive)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的方式逐个生成Token。这意味着模型必须基于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完整的历史上下文(Context)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来预测下一个Token。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8175" y="3038475"/>
            <a:ext cx="5362575" cy="1295400"/>
          </a:xfrm>
          <a:custGeom>
            <a:avLst/>
            <a:gdLst/>
            <a:ahLst/>
            <a:cxnLst/>
            <a:rect l="l" t="t" r="r" b="b"/>
            <a:pathLst>
              <a:path w="5362575" h="1295400">
                <a:moveTo>
                  <a:pt x="0" y="0"/>
                </a:moveTo>
                <a:lnTo>
                  <a:pt x="5286380" y="0"/>
                </a:lnTo>
                <a:cubicBezTo>
                  <a:pt x="5328433" y="0"/>
                  <a:pt x="5362575" y="34142"/>
                  <a:pt x="5362575" y="76195"/>
                </a:cubicBezTo>
                <a:lnTo>
                  <a:pt x="5362575" y="1219205"/>
                </a:lnTo>
                <a:cubicBezTo>
                  <a:pt x="5362575" y="1261286"/>
                  <a:pt x="5328461" y="1295400"/>
                  <a:pt x="5286380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38175" y="3038475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09625" y="3190875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示例流程: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625" y="345757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2818" y="345757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90117" y="3486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F6B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113955" y="3457575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预测: "World"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9625" y="372427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2818" y="3724275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 World"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371799" y="3752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F6B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595637" y="37242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预测: "!"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9625" y="399097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2818" y="399097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 World !"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32385" y="40195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F6B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2756222" y="3990975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预测: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4805363"/>
            <a:ext cx="5848350" cy="1819275"/>
          </a:xfrm>
          <a:custGeom>
            <a:avLst/>
            <a:gdLst/>
            <a:ahLst/>
            <a:cxnLst/>
            <a:rect l="l" t="t" r="r" b="b"/>
            <a:pathLst>
              <a:path w="5848350" h="1819275">
                <a:moveTo>
                  <a:pt x="114305" y="0"/>
                </a:moveTo>
                <a:lnTo>
                  <a:pt x="5734045" y="0"/>
                </a:lnTo>
                <a:cubicBezTo>
                  <a:pt x="5797174" y="0"/>
                  <a:pt x="5848350" y="51176"/>
                  <a:pt x="5848350" y="114305"/>
                </a:cubicBezTo>
                <a:lnTo>
                  <a:pt x="5848350" y="1704970"/>
                </a:lnTo>
                <a:cubicBezTo>
                  <a:pt x="5848350" y="1768099"/>
                  <a:pt x="5797174" y="1819275"/>
                  <a:pt x="5734045" y="1819275"/>
                </a:cubicBezTo>
                <a:lnTo>
                  <a:pt x="114305" y="1819275"/>
                </a:lnTo>
                <a:cubicBezTo>
                  <a:pt x="51176" y="1819275"/>
                  <a:pt x="0" y="1768099"/>
                  <a:pt x="0" y="170497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42938" y="5076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7250" y="5038725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25" y="5438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07157" y="5457825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2025" y="5419725"/>
            <a:ext cx="35528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模型必须基于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完整的历史上下文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来预测下一个Token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125" y="5800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95920" y="581977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2025" y="5781675"/>
            <a:ext cx="3467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每生成一个新词,模型都需要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重新回顾之前所有的词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" y="6162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94209" y="61817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2025" y="6143625"/>
            <a:ext cx="3162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没有缓存时,"Hello"等历史上下文会被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重复编码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47470" y="1490663"/>
            <a:ext cx="5257800" cy="5133975"/>
          </a:xfrm>
          <a:custGeom>
            <a:avLst/>
            <a:gdLst/>
            <a:ahLst/>
            <a:cxnLst/>
            <a:rect l="l" t="t" r="r" b="b"/>
            <a:pathLst>
              <a:path w="5257800" h="5133975">
                <a:moveTo>
                  <a:pt x="114282" y="0"/>
                </a:moveTo>
                <a:lnTo>
                  <a:pt x="5143518" y="0"/>
                </a:lnTo>
                <a:cubicBezTo>
                  <a:pt x="5206634" y="0"/>
                  <a:pt x="5257800" y="51166"/>
                  <a:pt x="5257800" y="114282"/>
                </a:cubicBezTo>
                <a:lnTo>
                  <a:pt x="5257800" y="5019693"/>
                </a:lnTo>
                <a:cubicBezTo>
                  <a:pt x="5257800" y="5082809"/>
                  <a:pt x="5206634" y="5133975"/>
                  <a:pt x="5143518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737970" y="172402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自回归生成流程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785595" y="5957888"/>
            <a:ext cx="4781550" cy="428625"/>
          </a:xfrm>
          <a:custGeom>
            <a:avLst/>
            <a:gdLst/>
            <a:ahLst/>
            <a:cxnLst/>
            <a:rect l="l" t="t" r="r" b="b"/>
            <a:pathLst>
              <a:path w="4781550" h="428625">
                <a:moveTo>
                  <a:pt x="76201" y="0"/>
                </a:moveTo>
                <a:lnTo>
                  <a:pt x="4705349" y="0"/>
                </a:lnTo>
                <a:cubicBezTo>
                  <a:pt x="4747434" y="0"/>
                  <a:pt x="4781550" y="34116"/>
                  <a:pt x="4781550" y="76201"/>
                </a:cubicBezTo>
                <a:lnTo>
                  <a:pt x="4781550" y="352424"/>
                </a:lnTo>
                <a:cubicBezTo>
                  <a:pt x="4781550" y="394509"/>
                  <a:pt x="4747434" y="428625"/>
                  <a:pt x="47053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8"/>
          <p:cNvSpPr/>
          <p:nvPr/>
        </p:nvSpPr>
        <p:spPr>
          <a:xfrm>
            <a:off x="7534498" y="6105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7099920" y="6076950"/>
            <a:ext cx="438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图示展示了模型如何基于历史上下文逐步生成Token</a:t>
            </a:r>
            <a:endParaRPr lang="en-US" sz="16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ADBE2C52-43EE-95A0-7D1B-2A6CECE4D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969" y="2608701"/>
            <a:ext cx="4945455" cy="27586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9587" y="4857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01.2 重复计算问题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O(N²)计算陷阱:无缓存的代价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90663"/>
            <a:ext cx="5314950" cy="2505075"/>
          </a:xfrm>
          <a:custGeom>
            <a:avLst/>
            <a:gdLst/>
            <a:ahLst/>
            <a:cxnLst/>
            <a:rect l="l" t="t" r="r" b="b"/>
            <a:pathLst>
              <a:path w="5314950" h="2505075">
                <a:moveTo>
                  <a:pt x="114307" y="0"/>
                </a:moveTo>
                <a:lnTo>
                  <a:pt x="5200643" y="0"/>
                </a:lnTo>
                <a:cubicBezTo>
                  <a:pt x="5263731" y="0"/>
                  <a:pt x="5314950" y="51219"/>
                  <a:pt x="5314950" y="114307"/>
                </a:cubicBezTo>
                <a:lnTo>
                  <a:pt x="5314950" y="2390768"/>
                </a:lnTo>
                <a:cubicBezTo>
                  <a:pt x="5314950" y="2453856"/>
                  <a:pt x="5263731" y="2505075"/>
                  <a:pt x="5200643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2938" y="176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57250" y="172402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重复计算的本质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43125"/>
            <a:ext cx="4924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如果不使用缓存机制,每生成一个新的Token,模型都需要将之前所有Token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重新输入模型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,并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重新计算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它们的Key(K)和Value(V)矩阵。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888" y="2795588"/>
            <a:ext cx="4838700" cy="962025"/>
          </a:xfrm>
          <a:custGeom>
            <a:avLst/>
            <a:gdLst/>
            <a:ahLst/>
            <a:cxnLst/>
            <a:rect l="l" t="t" r="r" b="b"/>
            <a:pathLst>
              <a:path w="4838700" h="962025">
                <a:moveTo>
                  <a:pt x="76202" y="0"/>
                </a:moveTo>
                <a:lnTo>
                  <a:pt x="4762498" y="0"/>
                </a:lnTo>
                <a:cubicBezTo>
                  <a:pt x="4804555" y="0"/>
                  <a:pt x="4838700" y="34145"/>
                  <a:pt x="4838700" y="76202"/>
                </a:cubicBezTo>
                <a:lnTo>
                  <a:pt x="4838700" y="885823"/>
                </a:lnTo>
                <a:cubicBezTo>
                  <a:pt x="4838700" y="927880"/>
                  <a:pt x="4804555" y="962025"/>
                  <a:pt x="4762498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81050" y="299085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单步计算复杂度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89289" y="295275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O(N²)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1050" y="337185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完整生成复杂度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89289" y="333375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O(L³)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233863"/>
            <a:ext cx="5314950" cy="1876425"/>
          </a:xfrm>
          <a:custGeom>
            <a:avLst/>
            <a:gdLst/>
            <a:ahLst/>
            <a:cxnLst/>
            <a:rect l="l" t="t" r="r" b="b"/>
            <a:pathLst>
              <a:path w="5314950" h="1876425">
                <a:moveTo>
                  <a:pt x="114293" y="0"/>
                </a:moveTo>
                <a:lnTo>
                  <a:pt x="5200657" y="0"/>
                </a:lnTo>
                <a:cubicBezTo>
                  <a:pt x="5263779" y="0"/>
                  <a:pt x="5314950" y="51171"/>
                  <a:pt x="5314950" y="114293"/>
                </a:cubicBezTo>
                <a:lnTo>
                  <a:pt x="5314950" y="1762132"/>
                </a:lnTo>
                <a:cubicBezTo>
                  <a:pt x="5314950" y="1825254"/>
                  <a:pt x="5263779" y="1876425"/>
                  <a:pt x="5200657" y="1876425"/>
                </a:cubicBezTo>
                <a:lnTo>
                  <a:pt x="114293" y="1876425"/>
                </a:lnTo>
                <a:cubicBezTo>
                  <a:pt x="51171" y="1876425"/>
                  <a:pt x="0" y="1825254"/>
                  <a:pt x="0" y="1762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42938" y="4505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7250" y="446722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计算量增长趋势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125" y="490537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序列长度 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85925" y="4886325"/>
            <a:ext cx="3019425" cy="228600"/>
          </a:xfrm>
          <a:custGeom>
            <a:avLst/>
            <a:gdLst/>
            <a:ahLst/>
            <a:cxnLst/>
            <a:rect l="l" t="t" r="r" b="b"/>
            <a:pathLst>
              <a:path w="3019425" h="228600">
                <a:moveTo>
                  <a:pt x="114300" y="0"/>
                </a:moveTo>
                <a:lnTo>
                  <a:pt x="2905125" y="0"/>
                </a:lnTo>
                <a:cubicBezTo>
                  <a:pt x="2968209" y="0"/>
                  <a:pt x="3019425" y="51216"/>
                  <a:pt x="3019425" y="114300"/>
                </a:cubicBezTo>
                <a:lnTo>
                  <a:pt x="3019425" y="114300"/>
                </a:lnTo>
                <a:cubicBezTo>
                  <a:pt x="3019425" y="177384"/>
                  <a:pt x="2968209" y="228600"/>
                  <a:pt x="29051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685925" y="4886325"/>
            <a:ext cx="600075" cy="228600"/>
          </a:xfrm>
          <a:custGeom>
            <a:avLst/>
            <a:gdLst/>
            <a:ahLst/>
            <a:cxnLst/>
            <a:rect l="l" t="t" r="r" b="b"/>
            <a:pathLst>
              <a:path w="600075" h="228600">
                <a:moveTo>
                  <a:pt x="114300" y="0"/>
                </a:moveTo>
                <a:lnTo>
                  <a:pt x="485775" y="0"/>
                </a:lnTo>
                <a:cubicBezTo>
                  <a:pt x="548859" y="0"/>
                  <a:pt x="600075" y="51216"/>
                  <a:pt x="600075" y="114300"/>
                </a:cubicBezTo>
                <a:lnTo>
                  <a:pt x="600075" y="114300"/>
                </a:lnTo>
                <a:cubicBezTo>
                  <a:pt x="600075" y="177384"/>
                  <a:pt x="548859" y="228600"/>
                  <a:pt x="48577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B9B"/>
              </a:gs>
              <a:gs pos="100000">
                <a:srgbClr val="D9A443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91075" y="490537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125" y="528637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计算量 O(N²)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85925" y="5267325"/>
            <a:ext cx="3019425" cy="228600"/>
          </a:xfrm>
          <a:custGeom>
            <a:avLst/>
            <a:gdLst/>
            <a:ahLst/>
            <a:cxnLst/>
            <a:rect l="l" t="t" r="r" b="b"/>
            <a:pathLst>
              <a:path w="3019425" h="228600">
                <a:moveTo>
                  <a:pt x="114300" y="0"/>
                </a:moveTo>
                <a:lnTo>
                  <a:pt x="2905125" y="0"/>
                </a:lnTo>
                <a:cubicBezTo>
                  <a:pt x="2968209" y="0"/>
                  <a:pt x="3019425" y="51216"/>
                  <a:pt x="3019425" y="114300"/>
                </a:cubicBezTo>
                <a:lnTo>
                  <a:pt x="3019425" y="114300"/>
                </a:lnTo>
                <a:cubicBezTo>
                  <a:pt x="3019425" y="177384"/>
                  <a:pt x="2968209" y="228600"/>
                  <a:pt x="29051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685925" y="5267325"/>
            <a:ext cx="1809750" cy="228600"/>
          </a:xfrm>
          <a:custGeom>
            <a:avLst/>
            <a:gdLst/>
            <a:ahLst/>
            <a:cxnLst/>
            <a:rect l="l" t="t" r="r" b="b"/>
            <a:pathLst>
              <a:path w="1809750" h="228600">
                <a:moveTo>
                  <a:pt x="114300" y="0"/>
                </a:moveTo>
                <a:lnTo>
                  <a:pt x="1695450" y="0"/>
                </a:lnTo>
                <a:cubicBezTo>
                  <a:pt x="1758534" y="0"/>
                  <a:pt x="1809750" y="51216"/>
                  <a:pt x="1809750" y="114300"/>
                </a:cubicBezTo>
                <a:lnTo>
                  <a:pt x="1809750" y="114300"/>
                </a:lnTo>
                <a:cubicBezTo>
                  <a:pt x="1809750" y="177384"/>
                  <a:pt x="1758534" y="228600"/>
                  <a:pt x="16954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B9B"/>
              </a:gs>
              <a:gs pos="100000">
                <a:srgbClr val="D9A443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791075" y="528637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9125" y="566737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完整O(L³)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685925" y="5648325"/>
            <a:ext cx="3019425" cy="228600"/>
          </a:xfrm>
          <a:custGeom>
            <a:avLst/>
            <a:gdLst/>
            <a:ahLst/>
            <a:cxnLst/>
            <a:rect l="l" t="t" r="r" b="b"/>
            <a:pathLst>
              <a:path w="3019425" h="228600">
                <a:moveTo>
                  <a:pt x="114300" y="0"/>
                </a:moveTo>
                <a:lnTo>
                  <a:pt x="2905125" y="0"/>
                </a:lnTo>
                <a:cubicBezTo>
                  <a:pt x="2968209" y="0"/>
                  <a:pt x="3019425" y="51216"/>
                  <a:pt x="3019425" y="114300"/>
                </a:cubicBezTo>
                <a:lnTo>
                  <a:pt x="3019425" y="114300"/>
                </a:lnTo>
                <a:cubicBezTo>
                  <a:pt x="3019425" y="177384"/>
                  <a:pt x="2968209" y="228600"/>
                  <a:pt x="29051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685925" y="5648325"/>
            <a:ext cx="3019425" cy="228600"/>
          </a:xfrm>
          <a:custGeom>
            <a:avLst/>
            <a:gdLst/>
            <a:ahLst/>
            <a:cxnLst/>
            <a:rect l="l" t="t" r="r" b="b"/>
            <a:pathLst>
              <a:path w="3019425" h="228600">
                <a:moveTo>
                  <a:pt x="114300" y="0"/>
                </a:moveTo>
                <a:lnTo>
                  <a:pt x="2905125" y="0"/>
                </a:lnTo>
                <a:cubicBezTo>
                  <a:pt x="2968209" y="0"/>
                  <a:pt x="3019425" y="51216"/>
                  <a:pt x="3019425" y="114300"/>
                </a:cubicBezTo>
                <a:lnTo>
                  <a:pt x="3019425" y="114300"/>
                </a:lnTo>
                <a:cubicBezTo>
                  <a:pt x="3019425" y="177384"/>
                  <a:pt x="2968209" y="228600"/>
                  <a:pt x="29051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B9B"/>
              </a:gs>
              <a:gs pos="100000">
                <a:srgbClr val="D9A443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791075" y="566737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1M+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15038" y="1490663"/>
            <a:ext cx="5791200" cy="4981575"/>
          </a:xfrm>
          <a:custGeom>
            <a:avLst/>
            <a:gdLst/>
            <a:ahLst/>
            <a:cxnLst/>
            <a:rect l="l" t="t" r="r" b="b"/>
            <a:pathLst>
              <a:path w="5791200" h="4981575">
                <a:moveTo>
                  <a:pt x="114277" y="0"/>
                </a:moveTo>
                <a:lnTo>
                  <a:pt x="5676923" y="0"/>
                </a:lnTo>
                <a:cubicBezTo>
                  <a:pt x="5740036" y="0"/>
                  <a:pt x="5791200" y="51164"/>
                  <a:pt x="5791200" y="114277"/>
                </a:cubicBezTo>
                <a:lnTo>
                  <a:pt x="5791200" y="4867298"/>
                </a:lnTo>
                <a:cubicBezTo>
                  <a:pt x="5791200" y="4930411"/>
                  <a:pt x="5740036" y="4981575"/>
                  <a:pt x="5676923" y="4981575"/>
                </a:cubicBezTo>
                <a:lnTo>
                  <a:pt x="114277" y="4981575"/>
                </a:lnTo>
                <a:cubicBezTo>
                  <a:pt x="51164" y="4981575"/>
                  <a:pt x="0" y="4930411"/>
                  <a:pt x="0" y="4867298"/>
                </a:cubicBezTo>
                <a:lnTo>
                  <a:pt x="0" y="114277"/>
                </a:lnTo>
                <a:cubicBezTo>
                  <a:pt x="0" y="51206"/>
                  <a:pt x="51206" y="0"/>
                  <a:pt x="114277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9A44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1" name="Text 29"/>
          <p:cNvSpPr/>
          <p:nvPr/>
        </p:nvSpPr>
        <p:spPr>
          <a:xfrm>
            <a:off x="6205538" y="172402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无缓存机制下的计算陷阱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67450" y="5324475"/>
            <a:ext cx="5305425" cy="419100"/>
          </a:xfrm>
          <a:custGeom>
            <a:avLst/>
            <a:gdLst/>
            <a:ahLst/>
            <a:cxnLst/>
            <a:rect l="l" t="t" r="r" b="b"/>
            <a:pathLst>
              <a:path w="5305425" h="419100">
                <a:moveTo>
                  <a:pt x="38100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342899"/>
                </a:lnTo>
                <a:cubicBezTo>
                  <a:pt x="5305425" y="384984"/>
                  <a:pt x="5271309" y="419100"/>
                  <a:pt x="5229224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6267450" y="532447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6400800" y="5438775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生成第N个Token时,必须重新计算前N-1个Token的K和V矩阵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267450" y="5819775"/>
            <a:ext cx="5305425" cy="419100"/>
          </a:xfrm>
          <a:custGeom>
            <a:avLst/>
            <a:gdLst/>
            <a:ahLst/>
            <a:cxnLst/>
            <a:rect l="l" t="t" r="r" b="b"/>
            <a:pathLst>
              <a:path w="5305425" h="419100">
                <a:moveTo>
                  <a:pt x="38100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342899"/>
                </a:lnTo>
                <a:cubicBezTo>
                  <a:pt x="5305425" y="384984"/>
                  <a:pt x="5271309" y="419100"/>
                  <a:pt x="5229224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6267450" y="581977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6400800" y="5934075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随着序列变长,推理速度将被海量的重复计算严重拖慢</a:t>
            </a:r>
            <a:endParaRPr lang="en-US" sz="160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A4420B8-C385-157F-D999-5EE629F10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268" y="2105025"/>
            <a:ext cx="5472740" cy="305276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86723" y="-180489"/>
            <a:ext cx="7219541" cy="7219541"/>
          </a:xfrm>
          <a:custGeom>
            <a:avLst/>
            <a:gdLst/>
            <a:ahLst/>
            <a:cxnLst/>
            <a:rect l="l" t="t" r="r" b="b"/>
            <a:pathLst>
              <a:path w="7219541" h="7219541">
                <a:moveTo>
                  <a:pt x="3609771" y="0"/>
                </a:moveTo>
                <a:lnTo>
                  <a:pt x="3609771" y="0"/>
                </a:lnTo>
                <a:cubicBezTo>
                  <a:pt x="5603392" y="0"/>
                  <a:pt x="7219541" y="1616149"/>
                  <a:pt x="7219541" y="3609771"/>
                </a:cubicBezTo>
                <a:lnTo>
                  <a:pt x="7219541" y="3609771"/>
                </a:lnTo>
                <a:cubicBezTo>
                  <a:pt x="7219541" y="5603392"/>
                  <a:pt x="5603392" y="7219541"/>
                  <a:pt x="3609771" y="7219541"/>
                </a:cubicBezTo>
                <a:lnTo>
                  <a:pt x="3609771" y="7219541"/>
                </a:lnTo>
                <a:cubicBezTo>
                  <a:pt x="1616149" y="7219541"/>
                  <a:pt x="0" y="5603392"/>
                  <a:pt x="0" y="3609771"/>
                </a:cubicBezTo>
                <a:lnTo>
                  <a:pt x="0" y="3609771"/>
                </a:lnTo>
                <a:cubicBezTo>
                  <a:pt x="0" y="1616149"/>
                  <a:pt x="1616149" y="0"/>
                  <a:pt x="3609770" y="0"/>
                </a:cubicBezTo>
                <a:close/>
              </a:path>
            </a:pathLst>
          </a:custGeom>
          <a:solidFill>
            <a:srgbClr val="4A9B9B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489" y="1813910"/>
            <a:ext cx="1353664" cy="406099"/>
          </a:xfrm>
          <a:custGeom>
            <a:avLst/>
            <a:gdLst/>
            <a:ahLst/>
            <a:cxnLst/>
            <a:rect l="l" t="t" r="r" b="b"/>
            <a:pathLst>
              <a:path w="1353664" h="406099">
                <a:moveTo>
                  <a:pt x="203050" y="0"/>
                </a:moveTo>
                <a:lnTo>
                  <a:pt x="1150614" y="0"/>
                </a:lnTo>
                <a:cubicBezTo>
                  <a:pt x="1262756" y="0"/>
                  <a:pt x="1353664" y="90908"/>
                  <a:pt x="1353664" y="203050"/>
                </a:cubicBezTo>
                <a:lnTo>
                  <a:pt x="1353664" y="203050"/>
                </a:lnTo>
                <a:cubicBezTo>
                  <a:pt x="1353664" y="315191"/>
                  <a:pt x="1262756" y="406099"/>
                  <a:pt x="1150614" y="406099"/>
                </a:cubicBezTo>
                <a:lnTo>
                  <a:pt x="203050" y="406099"/>
                </a:lnTo>
                <a:cubicBezTo>
                  <a:pt x="90983" y="406099"/>
                  <a:pt x="0" y="315116"/>
                  <a:pt x="0" y="203050"/>
                </a:cubicBezTo>
                <a:lnTo>
                  <a:pt x="0" y="203050"/>
                </a:lnTo>
                <a:cubicBezTo>
                  <a:pt x="0" y="90983"/>
                  <a:pt x="90983" y="0"/>
                  <a:pt x="20305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 w="12700">
            <a:solidFill>
              <a:srgbClr val="4A9B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0977" y="1809397"/>
            <a:ext cx="1425859" cy="397075"/>
          </a:xfrm>
          <a:prstGeom prst="rect">
            <a:avLst/>
          </a:prstGeom>
          <a:noFill/>
          <a:ln/>
        </p:spPr>
        <p:txBody>
          <a:bodyPr wrap="square" lIns="144391" tIns="72195" rIns="144391" bIns="72195" rtlCol="0" anchor="ctr"/>
          <a:lstStyle/>
          <a:p>
            <a:pPr>
              <a:lnSpc>
                <a:spcPct val="130000"/>
              </a:lnSpc>
            </a:pPr>
            <a:r>
              <a:rPr lang="en-US" sz="1279" b="1" kern="0" spc="64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0977" y="2441107"/>
            <a:ext cx="11740779" cy="135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0977" y="4011358"/>
            <a:ext cx="6172708" cy="35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5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空间换时间:缓存机制的工作流程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0977" y="4904776"/>
            <a:ext cx="577563" cy="36098"/>
          </a:xfrm>
          <a:custGeom>
            <a:avLst/>
            <a:gdLst/>
            <a:ahLst/>
            <a:cxnLst/>
            <a:rect l="l" t="t" r="r" b="b"/>
            <a:pathLst>
              <a:path w="577563" h="36098">
                <a:moveTo>
                  <a:pt x="0" y="0"/>
                </a:moveTo>
                <a:lnTo>
                  <a:pt x="577563" y="0"/>
                </a:lnTo>
                <a:lnTo>
                  <a:pt x="577563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2931" y="4796483"/>
            <a:ext cx="3384160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Space-Time Tradeoff &amp; Caching Mechanism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667" y="338667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67733" y="0"/>
                </a:moveTo>
                <a:lnTo>
                  <a:pt x="270933" y="0"/>
                </a:lnTo>
                <a:cubicBezTo>
                  <a:pt x="308316" y="0"/>
                  <a:pt x="338667" y="30350"/>
                  <a:pt x="338667" y="67733"/>
                </a:cubicBezTo>
                <a:lnTo>
                  <a:pt x="338667" y="270933"/>
                </a:lnTo>
                <a:cubicBezTo>
                  <a:pt x="338667" y="308341"/>
                  <a:pt x="308341" y="338667"/>
                  <a:pt x="270933" y="338667"/>
                </a:cubicBezTo>
                <a:lnTo>
                  <a:pt x="67733" y="338667"/>
                </a:lnTo>
                <a:cubicBezTo>
                  <a:pt x="30350" y="338667"/>
                  <a:pt x="0" y="308316"/>
                  <a:pt x="0" y="270933"/>
                </a:cubicBezTo>
                <a:lnTo>
                  <a:pt x="0" y="67733"/>
                </a:lnTo>
                <a:cubicBezTo>
                  <a:pt x="0" y="30325"/>
                  <a:pt x="30325" y="0"/>
                  <a:pt x="67733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3442" y="431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8933" y="423333"/>
            <a:ext cx="11684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kern="0" spc="47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02.1 KV Cache定义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8667" y="778933"/>
            <a:ext cx="116670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什么是KV Cache?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900" y="1325033"/>
            <a:ext cx="5401733" cy="2717800"/>
          </a:xfrm>
          <a:custGeom>
            <a:avLst/>
            <a:gdLst/>
            <a:ahLst/>
            <a:cxnLst/>
            <a:rect l="l" t="t" r="r" b="b"/>
            <a:pathLst>
              <a:path w="5401733" h="2717800">
                <a:moveTo>
                  <a:pt x="101591" y="0"/>
                </a:moveTo>
                <a:lnTo>
                  <a:pt x="5300142" y="0"/>
                </a:lnTo>
                <a:cubicBezTo>
                  <a:pt x="5356249" y="0"/>
                  <a:pt x="5401733" y="45484"/>
                  <a:pt x="5401733" y="101591"/>
                </a:cubicBezTo>
                <a:lnTo>
                  <a:pt x="5401733" y="2616209"/>
                </a:lnTo>
                <a:cubicBezTo>
                  <a:pt x="5401733" y="2672316"/>
                  <a:pt x="5356249" y="2717800"/>
                  <a:pt x="5300142" y="2717800"/>
                </a:cubicBezTo>
                <a:lnTo>
                  <a:pt x="101591" y="2717800"/>
                </a:lnTo>
                <a:cubicBezTo>
                  <a:pt x="45484" y="2717800"/>
                  <a:pt x="0" y="2672316"/>
                  <a:pt x="0" y="26162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2667" y="1566333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62000" y="1532467"/>
            <a:ext cx="4859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0333" y="1905000"/>
            <a:ext cx="50546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Cache本质上是一种</a:t>
            </a:r>
            <a:r>
              <a:rPr lang="en-US" sz="1067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缓存机制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,用于存储Transformer模型中Attention层的</a:t>
            </a:r>
            <a:r>
              <a:rPr lang="en-US" sz="1067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Key和Value矩阵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7267" y="2480733"/>
            <a:ext cx="4969933" cy="711200"/>
          </a:xfrm>
          <a:custGeom>
            <a:avLst/>
            <a:gdLst/>
            <a:ahLst/>
            <a:cxnLst/>
            <a:rect l="l" t="t" r="r" b="b"/>
            <a:pathLst>
              <a:path w="4969933" h="711200">
                <a:moveTo>
                  <a:pt x="0" y="0"/>
                </a:moveTo>
                <a:lnTo>
                  <a:pt x="4902199" y="0"/>
                </a:lnTo>
                <a:cubicBezTo>
                  <a:pt x="4939607" y="0"/>
                  <a:pt x="4969933" y="30326"/>
                  <a:pt x="4969933" y="67735"/>
                </a:cubicBezTo>
                <a:lnTo>
                  <a:pt x="4969933" y="643465"/>
                </a:lnTo>
                <a:cubicBezTo>
                  <a:pt x="4969933" y="680874"/>
                  <a:pt x="4939607" y="711200"/>
                  <a:pt x="4902199" y="711200"/>
                </a:cubicBez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67267" y="2480733"/>
            <a:ext cx="33867" cy="711200"/>
          </a:xfrm>
          <a:custGeom>
            <a:avLst/>
            <a:gdLst/>
            <a:ahLst/>
            <a:cxnLst/>
            <a:rect l="l" t="t" r="r" b="b"/>
            <a:pathLst>
              <a:path w="33867" h="711200">
                <a:moveTo>
                  <a:pt x="0" y="0"/>
                </a:moveTo>
                <a:lnTo>
                  <a:pt x="33867" y="0"/>
                </a:lnTo>
                <a:lnTo>
                  <a:pt x="33867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19667" y="2616200"/>
            <a:ext cx="47498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在推理过程中,模型只需要计算</a:t>
            </a:r>
            <a:r>
              <a:rPr lang="en-US" sz="1067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当前新生成Token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的Query(Q)、Key(K)和Value(V),然后将新的K和V</a:t>
            </a:r>
            <a:r>
              <a:rPr lang="en-US" sz="1067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追加到缓存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4567" y="3331633"/>
            <a:ext cx="4978400" cy="499533"/>
          </a:xfrm>
          <a:custGeom>
            <a:avLst/>
            <a:gdLst/>
            <a:ahLst/>
            <a:cxnLst/>
            <a:rect l="l" t="t" r="r" b="b"/>
            <a:pathLst>
              <a:path w="4978400" h="499533">
                <a:moveTo>
                  <a:pt x="67732" y="0"/>
                </a:moveTo>
                <a:lnTo>
                  <a:pt x="4910668" y="0"/>
                </a:lnTo>
                <a:cubicBezTo>
                  <a:pt x="4948075" y="0"/>
                  <a:pt x="4978400" y="30325"/>
                  <a:pt x="4978400" y="67732"/>
                </a:cubicBezTo>
                <a:lnTo>
                  <a:pt x="4978400" y="431802"/>
                </a:lnTo>
                <a:cubicBezTo>
                  <a:pt x="4978400" y="469209"/>
                  <a:pt x="4948075" y="499533"/>
                  <a:pt x="4910668" y="499533"/>
                </a:cubicBezTo>
                <a:lnTo>
                  <a:pt x="67732" y="499533"/>
                </a:lnTo>
                <a:cubicBezTo>
                  <a:pt x="30325" y="499533"/>
                  <a:pt x="0" y="469209"/>
                  <a:pt x="0" y="431802"/>
                </a:cubicBezTo>
                <a:lnTo>
                  <a:pt x="0" y="67732"/>
                </a:lnTo>
                <a:cubicBezTo>
                  <a:pt x="0" y="30350"/>
                  <a:pt x="30350" y="0"/>
                  <a:pt x="67732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94267" y="3471333"/>
            <a:ext cx="4766733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最后,利用当前的Q与</a:t>
            </a:r>
            <a:r>
              <a:rPr lang="en-US" sz="1067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完整的缓存</a:t>
            </a:r>
            <a:r>
              <a:rPr lang="en-US" sz="106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(历史K/V + 当前K/V)进行注意力计算。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900" y="4254500"/>
            <a:ext cx="5401733" cy="2379133"/>
          </a:xfrm>
          <a:custGeom>
            <a:avLst/>
            <a:gdLst/>
            <a:ahLst/>
            <a:cxnLst/>
            <a:rect l="l" t="t" r="r" b="b"/>
            <a:pathLst>
              <a:path w="5401733" h="2379133">
                <a:moveTo>
                  <a:pt x="101589" y="0"/>
                </a:moveTo>
                <a:lnTo>
                  <a:pt x="5300144" y="0"/>
                </a:lnTo>
                <a:cubicBezTo>
                  <a:pt x="5356250" y="0"/>
                  <a:pt x="5401733" y="45483"/>
                  <a:pt x="5401733" y="101589"/>
                </a:cubicBezTo>
                <a:lnTo>
                  <a:pt x="5401733" y="2277544"/>
                </a:lnTo>
                <a:cubicBezTo>
                  <a:pt x="5401733" y="2333650"/>
                  <a:pt x="5356250" y="2379133"/>
                  <a:pt x="5300144" y="2379133"/>
                </a:cubicBezTo>
                <a:lnTo>
                  <a:pt x="101589" y="2379133"/>
                </a:lnTo>
                <a:cubicBezTo>
                  <a:pt x="45521" y="2379133"/>
                  <a:pt x="0" y="2333613"/>
                  <a:pt x="0" y="2277544"/>
                </a:cubicBezTo>
                <a:lnTo>
                  <a:pt x="0" y="101589"/>
                </a:lnTo>
                <a:cubicBezTo>
                  <a:pt x="0" y="45521"/>
                  <a:pt x="45521" y="0"/>
                  <a:pt x="101589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71500" y="44958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62000" y="4461933"/>
            <a:ext cx="4859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4567" y="4838700"/>
            <a:ext cx="2421467" cy="719667"/>
          </a:xfrm>
          <a:custGeom>
            <a:avLst/>
            <a:gdLst/>
            <a:ahLst/>
            <a:cxnLst/>
            <a:rect l="l" t="t" r="r" b="b"/>
            <a:pathLst>
              <a:path w="2421467" h="719667">
                <a:moveTo>
                  <a:pt x="67735" y="0"/>
                </a:moveTo>
                <a:lnTo>
                  <a:pt x="2353732" y="0"/>
                </a:lnTo>
                <a:cubicBezTo>
                  <a:pt x="2391141" y="0"/>
                  <a:pt x="2421467" y="30326"/>
                  <a:pt x="2421467" y="67735"/>
                </a:cubicBezTo>
                <a:lnTo>
                  <a:pt x="2421467" y="651932"/>
                </a:lnTo>
                <a:cubicBezTo>
                  <a:pt x="2421467" y="689341"/>
                  <a:pt x="2391141" y="719667"/>
                  <a:pt x="2353732" y="719667"/>
                </a:cubicBezTo>
                <a:lnTo>
                  <a:pt x="67735" y="719667"/>
                </a:lnTo>
                <a:cubicBezTo>
                  <a:pt x="30351" y="719667"/>
                  <a:pt x="0" y="689316"/>
                  <a:pt x="0" y="651932"/>
                </a:cubicBezTo>
                <a:lnTo>
                  <a:pt x="0" y="67735"/>
                </a:lnTo>
                <a:cubicBezTo>
                  <a:pt x="0" y="30351"/>
                  <a:pt x="30351" y="0"/>
                  <a:pt x="6773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19667" y="5012267"/>
            <a:ext cx="118533" cy="135467"/>
          </a:xfrm>
          <a:custGeom>
            <a:avLst/>
            <a:gdLst/>
            <a:ahLst/>
            <a:cxnLst/>
            <a:rect l="l" t="t" r="r" b="b"/>
            <a:pathLst>
              <a:path w="118533" h="135467">
                <a:moveTo>
                  <a:pt x="89641" y="-2619"/>
                </a:moveTo>
                <a:cubicBezTo>
                  <a:pt x="92789" y="-344"/>
                  <a:pt x="93954" y="3784"/>
                  <a:pt x="92525" y="7382"/>
                </a:cubicBezTo>
                <a:lnTo>
                  <a:pt x="71781" y="59267"/>
                </a:lnTo>
                <a:lnTo>
                  <a:pt x="110067" y="59267"/>
                </a:lnTo>
                <a:cubicBezTo>
                  <a:pt x="113639" y="59267"/>
                  <a:pt x="116814" y="61489"/>
                  <a:pt x="118031" y="64849"/>
                </a:cubicBezTo>
                <a:cubicBezTo>
                  <a:pt x="119248" y="68210"/>
                  <a:pt x="118216" y="71967"/>
                  <a:pt x="115491" y="74242"/>
                </a:cubicBezTo>
                <a:lnTo>
                  <a:pt x="39291" y="137742"/>
                </a:lnTo>
                <a:cubicBezTo>
                  <a:pt x="36301" y="140229"/>
                  <a:pt x="32041" y="140361"/>
                  <a:pt x="28893" y="138086"/>
                </a:cubicBezTo>
                <a:cubicBezTo>
                  <a:pt x="25744" y="135811"/>
                  <a:pt x="24580" y="131683"/>
                  <a:pt x="26009" y="128085"/>
                </a:cubicBezTo>
                <a:lnTo>
                  <a:pt x="46752" y="76200"/>
                </a:lnTo>
                <a:lnTo>
                  <a:pt x="8467" y="76200"/>
                </a:lnTo>
                <a:cubicBezTo>
                  <a:pt x="4895" y="76200"/>
                  <a:pt x="1720" y="73978"/>
                  <a:pt x="503" y="70617"/>
                </a:cubicBezTo>
                <a:cubicBezTo>
                  <a:pt x="-714" y="67257"/>
                  <a:pt x="317" y="63500"/>
                  <a:pt x="3043" y="61225"/>
                </a:cubicBezTo>
                <a:lnTo>
                  <a:pt x="79243" y="-2275"/>
                </a:lnTo>
                <a:cubicBezTo>
                  <a:pt x="82232" y="-4763"/>
                  <a:pt x="86492" y="-4895"/>
                  <a:pt x="89641" y="-2619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31333" y="4978400"/>
            <a:ext cx="8805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避免重复计算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267" y="5249333"/>
            <a:ext cx="2201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无需重新计算历史Token的K/V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15733" y="4838700"/>
            <a:ext cx="2421467" cy="719667"/>
          </a:xfrm>
          <a:custGeom>
            <a:avLst/>
            <a:gdLst/>
            <a:ahLst/>
            <a:cxnLst/>
            <a:rect l="l" t="t" r="r" b="b"/>
            <a:pathLst>
              <a:path w="2421467" h="719667">
                <a:moveTo>
                  <a:pt x="67735" y="0"/>
                </a:moveTo>
                <a:lnTo>
                  <a:pt x="2353732" y="0"/>
                </a:lnTo>
                <a:cubicBezTo>
                  <a:pt x="2391141" y="0"/>
                  <a:pt x="2421467" y="30326"/>
                  <a:pt x="2421467" y="67735"/>
                </a:cubicBezTo>
                <a:lnTo>
                  <a:pt x="2421467" y="651932"/>
                </a:lnTo>
                <a:cubicBezTo>
                  <a:pt x="2421467" y="689341"/>
                  <a:pt x="2391141" y="719667"/>
                  <a:pt x="2353732" y="719667"/>
                </a:cubicBezTo>
                <a:lnTo>
                  <a:pt x="67735" y="719667"/>
                </a:lnTo>
                <a:cubicBezTo>
                  <a:pt x="30351" y="719667"/>
                  <a:pt x="0" y="689316"/>
                  <a:pt x="0" y="651932"/>
                </a:cubicBezTo>
                <a:lnTo>
                  <a:pt x="0" y="67735"/>
                </a:lnTo>
                <a:cubicBezTo>
                  <a:pt x="0" y="30351"/>
                  <a:pt x="30351" y="0"/>
                  <a:pt x="6773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272367" y="5012267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0" y="67733"/>
                </a:moveTo>
                <a:cubicBezTo>
                  <a:pt x="0" y="30350"/>
                  <a:pt x="30350" y="0"/>
                  <a:pt x="67733" y="0"/>
                </a:cubicBezTo>
                <a:cubicBezTo>
                  <a:pt x="105116" y="0"/>
                  <a:pt x="135467" y="30350"/>
                  <a:pt x="135467" y="67733"/>
                </a:cubicBezTo>
                <a:cubicBezTo>
                  <a:pt x="135467" y="105116"/>
                  <a:pt x="105116" y="135467"/>
                  <a:pt x="67733" y="135467"/>
                </a:cubicBezTo>
                <a:cubicBezTo>
                  <a:pt x="30350" y="135467"/>
                  <a:pt x="0" y="105116"/>
                  <a:pt x="0" y="67733"/>
                </a:cubicBezTo>
                <a:close/>
                <a:moveTo>
                  <a:pt x="76200" y="25400"/>
                </a:moveTo>
                <a:cubicBezTo>
                  <a:pt x="76200" y="20727"/>
                  <a:pt x="72406" y="16933"/>
                  <a:pt x="67733" y="16933"/>
                </a:cubicBezTo>
                <a:cubicBezTo>
                  <a:pt x="63060" y="16933"/>
                  <a:pt x="59267" y="20727"/>
                  <a:pt x="59267" y="25400"/>
                </a:cubicBezTo>
                <a:cubicBezTo>
                  <a:pt x="59267" y="30073"/>
                  <a:pt x="63060" y="33867"/>
                  <a:pt x="67733" y="33867"/>
                </a:cubicBezTo>
                <a:cubicBezTo>
                  <a:pt x="72406" y="33867"/>
                  <a:pt x="76200" y="30073"/>
                  <a:pt x="76200" y="25400"/>
                </a:cubicBezTo>
                <a:close/>
                <a:moveTo>
                  <a:pt x="67733" y="110067"/>
                </a:moveTo>
                <a:cubicBezTo>
                  <a:pt x="77073" y="110067"/>
                  <a:pt x="84667" y="102473"/>
                  <a:pt x="84667" y="93133"/>
                </a:cubicBezTo>
                <a:cubicBezTo>
                  <a:pt x="84667" y="88847"/>
                  <a:pt x="83079" y="84905"/>
                  <a:pt x="80433" y="81941"/>
                </a:cubicBezTo>
                <a:lnTo>
                  <a:pt x="98822" y="45191"/>
                </a:lnTo>
                <a:cubicBezTo>
                  <a:pt x="100383" y="42042"/>
                  <a:pt x="99113" y="38232"/>
                  <a:pt x="95991" y="36671"/>
                </a:cubicBezTo>
                <a:cubicBezTo>
                  <a:pt x="92869" y="35110"/>
                  <a:pt x="89032" y="36380"/>
                  <a:pt x="87471" y="39502"/>
                </a:cubicBezTo>
                <a:lnTo>
                  <a:pt x="69083" y="76253"/>
                </a:lnTo>
                <a:cubicBezTo>
                  <a:pt x="68633" y="76226"/>
                  <a:pt x="68183" y="76200"/>
                  <a:pt x="67733" y="76200"/>
                </a:cubicBezTo>
                <a:cubicBezTo>
                  <a:pt x="58394" y="76200"/>
                  <a:pt x="50800" y="83794"/>
                  <a:pt x="50800" y="93133"/>
                </a:cubicBezTo>
                <a:cubicBezTo>
                  <a:pt x="50800" y="102473"/>
                  <a:pt x="58394" y="110067"/>
                  <a:pt x="67733" y="110067"/>
                </a:cubicBezTo>
                <a:close/>
                <a:moveTo>
                  <a:pt x="46567" y="38100"/>
                </a:moveTo>
                <a:cubicBezTo>
                  <a:pt x="46567" y="33427"/>
                  <a:pt x="42773" y="29633"/>
                  <a:pt x="38100" y="29633"/>
                </a:cubicBezTo>
                <a:cubicBezTo>
                  <a:pt x="33427" y="29633"/>
                  <a:pt x="29633" y="33427"/>
                  <a:pt x="29633" y="38100"/>
                </a:cubicBezTo>
                <a:cubicBezTo>
                  <a:pt x="29633" y="42773"/>
                  <a:pt x="33427" y="46567"/>
                  <a:pt x="38100" y="46567"/>
                </a:cubicBezTo>
                <a:cubicBezTo>
                  <a:pt x="42773" y="46567"/>
                  <a:pt x="46567" y="42773"/>
                  <a:pt x="46567" y="38100"/>
                </a:cubicBezTo>
                <a:close/>
                <a:moveTo>
                  <a:pt x="25400" y="76200"/>
                </a:moveTo>
                <a:cubicBezTo>
                  <a:pt x="30073" y="76200"/>
                  <a:pt x="33867" y="72406"/>
                  <a:pt x="33867" y="67733"/>
                </a:cubicBezTo>
                <a:cubicBezTo>
                  <a:pt x="33867" y="63060"/>
                  <a:pt x="30073" y="59267"/>
                  <a:pt x="25400" y="59267"/>
                </a:cubicBezTo>
                <a:cubicBezTo>
                  <a:pt x="20727" y="59267"/>
                  <a:pt x="16933" y="63060"/>
                  <a:pt x="16933" y="67733"/>
                </a:cubicBezTo>
                <a:cubicBezTo>
                  <a:pt x="16933" y="72406"/>
                  <a:pt x="20727" y="76200"/>
                  <a:pt x="25400" y="76200"/>
                </a:cubicBezTo>
                <a:close/>
                <a:moveTo>
                  <a:pt x="118533" y="67733"/>
                </a:moveTo>
                <a:cubicBezTo>
                  <a:pt x="118533" y="63060"/>
                  <a:pt x="114740" y="59267"/>
                  <a:pt x="110067" y="59267"/>
                </a:cubicBezTo>
                <a:cubicBezTo>
                  <a:pt x="105394" y="59267"/>
                  <a:pt x="101600" y="63060"/>
                  <a:pt x="101600" y="67733"/>
                </a:cubicBezTo>
                <a:cubicBezTo>
                  <a:pt x="101600" y="72406"/>
                  <a:pt x="105394" y="76200"/>
                  <a:pt x="110067" y="76200"/>
                </a:cubicBezTo>
                <a:cubicBezTo>
                  <a:pt x="114740" y="76200"/>
                  <a:pt x="118533" y="72406"/>
                  <a:pt x="118533" y="67733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492500" y="4978400"/>
            <a:ext cx="1032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计算复杂度O(N)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55433" y="5249333"/>
            <a:ext cx="2201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单步计算量线性增长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4567" y="5702300"/>
            <a:ext cx="2421467" cy="719667"/>
          </a:xfrm>
          <a:custGeom>
            <a:avLst/>
            <a:gdLst/>
            <a:ahLst/>
            <a:cxnLst/>
            <a:rect l="l" t="t" r="r" b="b"/>
            <a:pathLst>
              <a:path w="2421467" h="719667">
                <a:moveTo>
                  <a:pt x="67735" y="0"/>
                </a:moveTo>
                <a:lnTo>
                  <a:pt x="2353732" y="0"/>
                </a:lnTo>
                <a:cubicBezTo>
                  <a:pt x="2391141" y="0"/>
                  <a:pt x="2421467" y="30326"/>
                  <a:pt x="2421467" y="67735"/>
                </a:cubicBezTo>
                <a:lnTo>
                  <a:pt x="2421467" y="651932"/>
                </a:lnTo>
                <a:cubicBezTo>
                  <a:pt x="2421467" y="689341"/>
                  <a:pt x="2391141" y="719667"/>
                  <a:pt x="2353732" y="719667"/>
                </a:cubicBezTo>
                <a:lnTo>
                  <a:pt x="67735" y="719667"/>
                </a:lnTo>
                <a:cubicBezTo>
                  <a:pt x="30351" y="719667"/>
                  <a:pt x="0" y="689316"/>
                  <a:pt x="0" y="651932"/>
                </a:cubicBezTo>
                <a:lnTo>
                  <a:pt x="0" y="67735"/>
                </a:lnTo>
                <a:cubicBezTo>
                  <a:pt x="0" y="30351"/>
                  <a:pt x="30351" y="0"/>
                  <a:pt x="6773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11200" y="5875867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33867" y="84667"/>
                </a:moveTo>
                <a:lnTo>
                  <a:pt x="6482" y="84667"/>
                </a:lnTo>
                <a:cubicBezTo>
                  <a:pt x="-106" y="84667"/>
                  <a:pt x="-4154" y="77496"/>
                  <a:pt x="-767" y="71834"/>
                </a:cubicBezTo>
                <a:lnTo>
                  <a:pt x="13229" y="48498"/>
                </a:lnTo>
                <a:cubicBezTo>
                  <a:pt x="15531" y="44662"/>
                  <a:pt x="19659" y="42333"/>
                  <a:pt x="24130" y="42333"/>
                </a:cubicBezTo>
                <a:lnTo>
                  <a:pt x="49265" y="42333"/>
                </a:lnTo>
                <a:cubicBezTo>
                  <a:pt x="69400" y="8229"/>
                  <a:pt x="99430" y="6509"/>
                  <a:pt x="119512" y="9446"/>
                </a:cubicBezTo>
                <a:cubicBezTo>
                  <a:pt x="122899" y="9948"/>
                  <a:pt x="125545" y="12594"/>
                  <a:pt x="126021" y="15954"/>
                </a:cubicBezTo>
                <a:cubicBezTo>
                  <a:pt x="128958" y="36036"/>
                  <a:pt x="127238" y="66066"/>
                  <a:pt x="93133" y="86201"/>
                </a:cubicBezTo>
                <a:lnTo>
                  <a:pt x="93133" y="111337"/>
                </a:lnTo>
                <a:cubicBezTo>
                  <a:pt x="93133" y="115808"/>
                  <a:pt x="90805" y="119936"/>
                  <a:pt x="86969" y="122238"/>
                </a:cubicBezTo>
                <a:lnTo>
                  <a:pt x="63632" y="136234"/>
                </a:lnTo>
                <a:cubicBezTo>
                  <a:pt x="57997" y="139621"/>
                  <a:pt x="50800" y="135546"/>
                  <a:pt x="50800" y="128984"/>
                </a:cubicBezTo>
                <a:lnTo>
                  <a:pt x="50800" y="101600"/>
                </a:lnTo>
                <a:cubicBezTo>
                  <a:pt x="50800" y="92260"/>
                  <a:pt x="43206" y="84667"/>
                  <a:pt x="33867" y="84667"/>
                </a:cubicBezTo>
                <a:lnTo>
                  <a:pt x="33840" y="84667"/>
                </a:lnTo>
                <a:close/>
                <a:moveTo>
                  <a:pt x="105833" y="42333"/>
                </a:moveTo>
                <a:cubicBezTo>
                  <a:pt x="105833" y="35324"/>
                  <a:pt x="100143" y="29633"/>
                  <a:pt x="93133" y="29633"/>
                </a:cubicBezTo>
                <a:cubicBezTo>
                  <a:pt x="86124" y="29633"/>
                  <a:pt x="80433" y="35324"/>
                  <a:pt x="80433" y="42333"/>
                </a:cubicBezTo>
                <a:cubicBezTo>
                  <a:pt x="80433" y="49343"/>
                  <a:pt x="86124" y="55033"/>
                  <a:pt x="93133" y="55033"/>
                </a:cubicBezTo>
                <a:cubicBezTo>
                  <a:pt x="100143" y="55033"/>
                  <a:pt x="105833" y="49343"/>
                  <a:pt x="105833" y="42333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31333" y="5842000"/>
            <a:ext cx="8805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推理速度稳定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267" y="6112933"/>
            <a:ext cx="2201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不受序列长度显著影响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115733" y="5702300"/>
            <a:ext cx="2421467" cy="719667"/>
          </a:xfrm>
          <a:custGeom>
            <a:avLst/>
            <a:gdLst/>
            <a:ahLst/>
            <a:cxnLst/>
            <a:rect l="l" t="t" r="r" b="b"/>
            <a:pathLst>
              <a:path w="2421467" h="719667">
                <a:moveTo>
                  <a:pt x="67735" y="0"/>
                </a:moveTo>
                <a:lnTo>
                  <a:pt x="2353732" y="0"/>
                </a:lnTo>
                <a:cubicBezTo>
                  <a:pt x="2391141" y="0"/>
                  <a:pt x="2421467" y="30326"/>
                  <a:pt x="2421467" y="67735"/>
                </a:cubicBezTo>
                <a:lnTo>
                  <a:pt x="2421467" y="651932"/>
                </a:lnTo>
                <a:cubicBezTo>
                  <a:pt x="2421467" y="689341"/>
                  <a:pt x="2391141" y="719667"/>
                  <a:pt x="2353732" y="719667"/>
                </a:cubicBezTo>
                <a:lnTo>
                  <a:pt x="67735" y="719667"/>
                </a:lnTo>
                <a:cubicBezTo>
                  <a:pt x="30351" y="719667"/>
                  <a:pt x="0" y="689316"/>
                  <a:pt x="0" y="651932"/>
                </a:cubicBezTo>
                <a:lnTo>
                  <a:pt x="0" y="67735"/>
                </a:lnTo>
                <a:cubicBezTo>
                  <a:pt x="0" y="30351"/>
                  <a:pt x="30351" y="0"/>
                  <a:pt x="6773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3272367" y="5875867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61516" y="1376"/>
                </a:moveTo>
                <a:cubicBezTo>
                  <a:pt x="65458" y="-450"/>
                  <a:pt x="70009" y="-450"/>
                  <a:pt x="73951" y="1376"/>
                </a:cubicBezTo>
                <a:lnTo>
                  <a:pt x="131789" y="28099"/>
                </a:lnTo>
                <a:cubicBezTo>
                  <a:pt x="134038" y="29131"/>
                  <a:pt x="135467" y="31380"/>
                  <a:pt x="135467" y="33867"/>
                </a:cubicBezTo>
                <a:cubicBezTo>
                  <a:pt x="135467" y="36354"/>
                  <a:pt x="134038" y="38603"/>
                  <a:pt x="131789" y="39635"/>
                </a:cubicBezTo>
                <a:lnTo>
                  <a:pt x="73951" y="66357"/>
                </a:lnTo>
                <a:cubicBezTo>
                  <a:pt x="70009" y="68183"/>
                  <a:pt x="65458" y="68183"/>
                  <a:pt x="61516" y="66357"/>
                </a:cubicBezTo>
                <a:lnTo>
                  <a:pt x="3678" y="39635"/>
                </a:lnTo>
                <a:cubicBezTo>
                  <a:pt x="1429" y="38576"/>
                  <a:pt x="0" y="36327"/>
                  <a:pt x="0" y="33867"/>
                </a:cubicBezTo>
                <a:cubicBezTo>
                  <a:pt x="0" y="31406"/>
                  <a:pt x="1429" y="29131"/>
                  <a:pt x="3678" y="28099"/>
                </a:cubicBezTo>
                <a:lnTo>
                  <a:pt x="61516" y="1376"/>
                </a:lnTo>
                <a:close/>
                <a:moveTo>
                  <a:pt x="12726" y="57785"/>
                </a:moveTo>
                <a:lnTo>
                  <a:pt x="56198" y="77867"/>
                </a:lnTo>
                <a:cubicBezTo>
                  <a:pt x="63526" y="81254"/>
                  <a:pt x="71967" y="81254"/>
                  <a:pt x="79296" y="77867"/>
                </a:cubicBezTo>
                <a:lnTo>
                  <a:pt x="122767" y="57785"/>
                </a:lnTo>
                <a:lnTo>
                  <a:pt x="131789" y="61965"/>
                </a:lnTo>
                <a:cubicBezTo>
                  <a:pt x="134038" y="62997"/>
                  <a:pt x="135467" y="65246"/>
                  <a:pt x="135467" y="67733"/>
                </a:cubicBezTo>
                <a:cubicBezTo>
                  <a:pt x="135467" y="70220"/>
                  <a:pt x="134038" y="72469"/>
                  <a:pt x="131789" y="73501"/>
                </a:cubicBezTo>
                <a:lnTo>
                  <a:pt x="73951" y="100224"/>
                </a:lnTo>
                <a:cubicBezTo>
                  <a:pt x="70009" y="102050"/>
                  <a:pt x="65458" y="102050"/>
                  <a:pt x="61516" y="100224"/>
                </a:cubicBezTo>
                <a:lnTo>
                  <a:pt x="3678" y="73501"/>
                </a:lnTo>
                <a:cubicBezTo>
                  <a:pt x="1429" y="72443"/>
                  <a:pt x="0" y="70194"/>
                  <a:pt x="0" y="67733"/>
                </a:cubicBezTo>
                <a:cubicBezTo>
                  <a:pt x="0" y="65273"/>
                  <a:pt x="1429" y="62997"/>
                  <a:pt x="3678" y="61965"/>
                </a:cubicBezTo>
                <a:lnTo>
                  <a:pt x="12700" y="57785"/>
                </a:lnTo>
                <a:close/>
                <a:moveTo>
                  <a:pt x="3678" y="95832"/>
                </a:moveTo>
                <a:lnTo>
                  <a:pt x="12700" y="91652"/>
                </a:lnTo>
                <a:lnTo>
                  <a:pt x="56171" y="111734"/>
                </a:lnTo>
                <a:cubicBezTo>
                  <a:pt x="63500" y="115120"/>
                  <a:pt x="71940" y="115120"/>
                  <a:pt x="79269" y="111734"/>
                </a:cubicBezTo>
                <a:lnTo>
                  <a:pt x="122740" y="91652"/>
                </a:lnTo>
                <a:lnTo>
                  <a:pt x="131763" y="95832"/>
                </a:lnTo>
                <a:cubicBezTo>
                  <a:pt x="134011" y="96864"/>
                  <a:pt x="135440" y="99113"/>
                  <a:pt x="135440" y="101600"/>
                </a:cubicBezTo>
                <a:cubicBezTo>
                  <a:pt x="135440" y="104087"/>
                  <a:pt x="134011" y="106336"/>
                  <a:pt x="131763" y="107368"/>
                </a:cubicBezTo>
                <a:lnTo>
                  <a:pt x="73925" y="134091"/>
                </a:lnTo>
                <a:cubicBezTo>
                  <a:pt x="69982" y="135916"/>
                  <a:pt x="65431" y="135916"/>
                  <a:pt x="61489" y="134091"/>
                </a:cubicBezTo>
                <a:lnTo>
                  <a:pt x="3678" y="107368"/>
                </a:lnTo>
                <a:cubicBezTo>
                  <a:pt x="1429" y="106310"/>
                  <a:pt x="0" y="104061"/>
                  <a:pt x="0" y="101600"/>
                </a:cubicBezTo>
                <a:cubicBezTo>
                  <a:pt x="0" y="99139"/>
                  <a:pt x="1429" y="96864"/>
                  <a:pt x="3678" y="95832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492500" y="5842000"/>
            <a:ext cx="7450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空间换时间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55433" y="6112933"/>
            <a:ext cx="2201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用显存换取计算效率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24033" y="1325033"/>
            <a:ext cx="5825067" cy="5308600"/>
          </a:xfrm>
          <a:custGeom>
            <a:avLst/>
            <a:gdLst/>
            <a:ahLst/>
            <a:cxnLst/>
            <a:rect l="l" t="t" r="r" b="b"/>
            <a:pathLst>
              <a:path w="5825067" h="5308600">
                <a:moveTo>
                  <a:pt x="101607" y="0"/>
                </a:moveTo>
                <a:lnTo>
                  <a:pt x="5723460" y="0"/>
                </a:lnTo>
                <a:cubicBezTo>
                  <a:pt x="5779576" y="0"/>
                  <a:pt x="5825067" y="45491"/>
                  <a:pt x="5825067" y="101607"/>
                </a:cubicBezTo>
                <a:lnTo>
                  <a:pt x="5825067" y="5206993"/>
                </a:lnTo>
                <a:cubicBezTo>
                  <a:pt x="5825067" y="5263109"/>
                  <a:pt x="5779576" y="5308600"/>
                  <a:pt x="5723460" y="5308600"/>
                </a:cubicBezTo>
                <a:lnTo>
                  <a:pt x="101607" y="5308600"/>
                </a:lnTo>
                <a:cubicBezTo>
                  <a:pt x="45491" y="5308600"/>
                  <a:pt x="0" y="5263109"/>
                  <a:pt x="0" y="52069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193367" y="1532467"/>
            <a:ext cx="54864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有无KV Cache的对比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248400" y="5613400"/>
            <a:ext cx="5393267" cy="372533"/>
          </a:xfrm>
          <a:custGeom>
            <a:avLst/>
            <a:gdLst/>
            <a:ahLst/>
            <a:cxnLst/>
            <a:rect l="l" t="t" r="r" b="b"/>
            <a:pathLst>
              <a:path w="5393267" h="372533">
                <a:moveTo>
                  <a:pt x="33867" y="0"/>
                </a:moveTo>
                <a:lnTo>
                  <a:pt x="5325533" y="0"/>
                </a:lnTo>
                <a:cubicBezTo>
                  <a:pt x="5362941" y="0"/>
                  <a:pt x="5393267" y="30326"/>
                  <a:pt x="5393267" y="67734"/>
                </a:cubicBezTo>
                <a:lnTo>
                  <a:pt x="5393267" y="304799"/>
                </a:lnTo>
                <a:cubicBezTo>
                  <a:pt x="5393267" y="342208"/>
                  <a:pt x="5362941" y="372533"/>
                  <a:pt x="5325533" y="372533"/>
                </a:cubicBezTo>
                <a:lnTo>
                  <a:pt x="33867" y="372533"/>
                </a:lnTo>
                <a:cubicBezTo>
                  <a:pt x="15163" y="372533"/>
                  <a:pt x="0" y="357371"/>
                  <a:pt x="0" y="338667"/>
                </a:cubicBezTo>
                <a:lnTo>
                  <a:pt x="0" y="33867"/>
                </a:lnTo>
                <a:cubicBezTo>
                  <a:pt x="0" y="15163"/>
                  <a:pt x="15163" y="0"/>
                  <a:pt x="338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6248400" y="5613400"/>
            <a:ext cx="33867" cy="372533"/>
          </a:xfrm>
          <a:custGeom>
            <a:avLst/>
            <a:gdLst/>
            <a:ahLst/>
            <a:cxnLst/>
            <a:rect l="l" t="t" r="r" b="b"/>
            <a:pathLst>
              <a:path w="33867" h="372533">
                <a:moveTo>
                  <a:pt x="33867" y="0"/>
                </a:moveTo>
                <a:lnTo>
                  <a:pt x="33867" y="0"/>
                </a:lnTo>
                <a:lnTo>
                  <a:pt x="33867" y="372533"/>
                </a:lnTo>
                <a:lnTo>
                  <a:pt x="33867" y="372533"/>
                </a:lnTo>
                <a:cubicBezTo>
                  <a:pt x="15163" y="372533"/>
                  <a:pt x="0" y="357371"/>
                  <a:pt x="0" y="338667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6366933" y="5715000"/>
            <a:ext cx="52324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Without KV Cache:</a:t>
            </a:r>
            <a:r>
              <a:rPr lang="en-US" sz="93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每个Token都需要重新处理所有历史Token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48400" y="6053667"/>
            <a:ext cx="5393267" cy="372533"/>
          </a:xfrm>
          <a:custGeom>
            <a:avLst/>
            <a:gdLst/>
            <a:ahLst/>
            <a:cxnLst/>
            <a:rect l="l" t="t" r="r" b="b"/>
            <a:pathLst>
              <a:path w="5393267" h="372533">
                <a:moveTo>
                  <a:pt x="33867" y="0"/>
                </a:moveTo>
                <a:lnTo>
                  <a:pt x="5325533" y="0"/>
                </a:lnTo>
                <a:cubicBezTo>
                  <a:pt x="5362941" y="0"/>
                  <a:pt x="5393267" y="30326"/>
                  <a:pt x="5393267" y="67734"/>
                </a:cubicBezTo>
                <a:lnTo>
                  <a:pt x="5393267" y="304799"/>
                </a:lnTo>
                <a:cubicBezTo>
                  <a:pt x="5393267" y="342208"/>
                  <a:pt x="5362941" y="372533"/>
                  <a:pt x="5325533" y="372533"/>
                </a:cubicBezTo>
                <a:lnTo>
                  <a:pt x="33867" y="372533"/>
                </a:lnTo>
                <a:cubicBezTo>
                  <a:pt x="15163" y="372533"/>
                  <a:pt x="0" y="357371"/>
                  <a:pt x="0" y="338667"/>
                </a:cubicBezTo>
                <a:lnTo>
                  <a:pt x="0" y="33867"/>
                </a:lnTo>
                <a:cubicBezTo>
                  <a:pt x="0" y="15163"/>
                  <a:pt x="15163" y="0"/>
                  <a:pt x="3386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8"/>
          <p:cNvSpPr/>
          <p:nvPr/>
        </p:nvSpPr>
        <p:spPr>
          <a:xfrm>
            <a:off x="6248400" y="6053667"/>
            <a:ext cx="33867" cy="372533"/>
          </a:xfrm>
          <a:custGeom>
            <a:avLst/>
            <a:gdLst/>
            <a:ahLst/>
            <a:cxnLst/>
            <a:rect l="l" t="t" r="r" b="b"/>
            <a:pathLst>
              <a:path w="33867" h="372533">
                <a:moveTo>
                  <a:pt x="33867" y="0"/>
                </a:moveTo>
                <a:lnTo>
                  <a:pt x="33867" y="0"/>
                </a:lnTo>
                <a:lnTo>
                  <a:pt x="33867" y="372533"/>
                </a:lnTo>
                <a:lnTo>
                  <a:pt x="33867" y="372533"/>
                </a:lnTo>
                <a:cubicBezTo>
                  <a:pt x="15163" y="372533"/>
                  <a:pt x="0" y="357371"/>
                  <a:pt x="0" y="338667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6366933" y="6155267"/>
            <a:ext cx="52324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 KV Cache:</a:t>
            </a:r>
            <a:r>
              <a:rPr lang="en-US" sz="93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只计算新Token,利用缓存的历史K/V</a:t>
            </a:r>
            <a:endParaRPr lang="en-US" sz="1600" dirty="0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49226818-5F0A-4AF5-8066-4CA09E9D1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48" y="1837268"/>
            <a:ext cx="3780369" cy="378036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374850"/>
            <a:ext cx="374850" cy="374850"/>
          </a:xfrm>
          <a:custGeom>
            <a:avLst/>
            <a:gdLst/>
            <a:ahLst/>
            <a:cxnLst/>
            <a:rect l="l" t="t" r="r" b="b"/>
            <a:pathLst>
              <a:path w="374850" h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80277" y="477934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0" y="84341"/>
                </a:moveTo>
                <a:cubicBezTo>
                  <a:pt x="0" y="37792"/>
                  <a:pt x="37792" y="0"/>
                  <a:pt x="84341" y="0"/>
                </a:cubicBezTo>
                <a:cubicBezTo>
                  <a:pt x="130890" y="0"/>
                  <a:pt x="168683" y="37792"/>
                  <a:pt x="168683" y="84341"/>
                </a:cubicBezTo>
                <a:cubicBezTo>
                  <a:pt x="168683" y="130890"/>
                  <a:pt x="130890" y="168683"/>
                  <a:pt x="84341" y="168683"/>
                </a:cubicBezTo>
                <a:cubicBezTo>
                  <a:pt x="37792" y="168683"/>
                  <a:pt x="0" y="130890"/>
                  <a:pt x="0" y="84341"/>
                </a:cubicBezTo>
                <a:close/>
                <a:moveTo>
                  <a:pt x="62037" y="48463"/>
                </a:moveTo>
                <a:cubicBezTo>
                  <a:pt x="59533" y="49847"/>
                  <a:pt x="57985" y="52516"/>
                  <a:pt x="57985" y="55349"/>
                </a:cubicBezTo>
                <a:lnTo>
                  <a:pt x="57985" y="113334"/>
                </a:lnTo>
                <a:cubicBezTo>
                  <a:pt x="57985" y="116200"/>
                  <a:pt x="59533" y="118836"/>
                  <a:pt x="62037" y="120219"/>
                </a:cubicBezTo>
                <a:cubicBezTo>
                  <a:pt x="64541" y="121603"/>
                  <a:pt x="67572" y="121570"/>
                  <a:pt x="70043" y="120055"/>
                </a:cubicBezTo>
                <a:lnTo>
                  <a:pt x="117485" y="91062"/>
                </a:lnTo>
                <a:cubicBezTo>
                  <a:pt x="119824" y="89613"/>
                  <a:pt x="121274" y="87076"/>
                  <a:pt x="121274" y="84308"/>
                </a:cubicBezTo>
                <a:cubicBezTo>
                  <a:pt x="121274" y="81541"/>
                  <a:pt x="119824" y="79004"/>
                  <a:pt x="117485" y="77554"/>
                </a:cubicBezTo>
                <a:lnTo>
                  <a:pt x="70043" y="48562"/>
                </a:lnTo>
                <a:cubicBezTo>
                  <a:pt x="67605" y="47080"/>
                  <a:pt x="64541" y="47014"/>
                  <a:pt x="62037" y="48397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62155" y="468563"/>
            <a:ext cx="177116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kern="0" spc="52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02.2 工作流程 - Prefill阶段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4850" y="862155"/>
            <a:ext cx="11610982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Prefill阶段:首Token生成与缓存初始化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9536" y="1466601"/>
            <a:ext cx="5332243" cy="3364280"/>
          </a:xfrm>
          <a:custGeom>
            <a:avLst/>
            <a:gdLst/>
            <a:ahLst/>
            <a:cxnLst/>
            <a:rect l="l" t="t" r="r" b="b"/>
            <a:pathLst>
              <a:path w="5332243" h="3364280">
                <a:moveTo>
                  <a:pt x="112468" y="0"/>
                </a:moveTo>
                <a:lnTo>
                  <a:pt x="5219775" y="0"/>
                </a:lnTo>
                <a:cubicBezTo>
                  <a:pt x="5281889" y="0"/>
                  <a:pt x="5332243" y="50354"/>
                  <a:pt x="5332243" y="112468"/>
                </a:cubicBezTo>
                <a:lnTo>
                  <a:pt x="5332243" y="3251812"/>
                </a:lnTo>
                <a:cubicBezTo>
                  <a:pt x="5332243" y="3313926"/>
                  <a:pt x="5281889" y="3364280"/>
                  <a:pt x="5219775" y="3364280"/>
                </a:cubicBezTo>
                <a:lnTo>
                  <a:pt x="112468" y="3364280"/>
                </a:lnTo>
                <a:cubicBezTo>
                  <a:pt x="50354" y="3364280"/>
                  <a:pt x="0" y="3313926"/>
                  <a:pt x="0" y="3251812"/>
                </a:cubicBezTo>
                <a:lnTo>
                  <a:pt x="0" y="112468"/>
                </a:lnTo>
                <a:cubicBezTo>
                  <a:pt x="0" y="50395"/>
                  <a:pt x="50395" y="0"/>
                  <a:pt x="11246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32560" y="1733682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93713" y="187425"/>
                </a:moveTo>
                <a:cubicBezTo>
                  <a:pt x="145434" y="187425"/>
                  <a:pt x="187425" y="145434"/>
                  <a:pt x="187425" y="93713"/>
                </a:cubicBezTo>
                <a:cubicBezTo>
                  <a:pt x="187425" y="41991"/>
                  <a:pt x="145434" y="0"/>
                  <a:pt x="93713" y="0"/>
                </a:cubicBezTo>
                <a:cubicBezTo>
                  <a:pt x="41991" y="0"/>
                  <a:pt x="0" y="41991"/>
                  <a:pt x="0" y="93713"/>
                </a:cubicBezTo>
                <a:cubicBezTo>
                  <a:pt x="0" y="145434"/>
                  <a:pt x="41991" y="187425"/>
                  <a:pt x="93713" y="187425"/>
                </a:cubicBezTo>
                <a:close/>
                <a:moveTo>
                  <a:pt x="81998" y="58570"/>
                </a:moveTo>
                <a:cubicBezTo>
                  <a:pt x="81998" y="52105"/>
                  <a:pt x="87247" y="46856"/>
                  <a:pt x="93713" y="46856"/>
                </a:cubicBezTo>
                <a:cubicBezTo>
                  <a:pt x="100178" y="46856"/>
                  <a:pt x="105427" y="52105"/>
                  <a:pt x="105427" y="58570"/>
                </a:cubicBezTo>
                <a:cubicBezTo>
                  <a:pt x="105427" y="65035"/>
                  <a:pt x="100178" y="70284"/>
                  <a:pt x="93713" y="70284"/>
                </a:cubicBezTo>
                <a:cubicBezTo>
                  <a:pt x="87247" y="70284"/>
                  <a:pt x="81998" y="65035"/>
                  <a:pt x="81998" y="58570"/>
                </a:cubicBezTo>
                <a:close/>
                <a:moveTo>
                  <a:pt x="79070" y="81998"/>
                </a:moveTo>
                <a:lnTo>
                  <a:pt x="96641" y="81998"/>
                </a:lnTo>
                <a:cubicBezTo>
                  <a:pt x="101510" y="81998"/>
                  <a:pt x="105427" y="85915"/>
                  <a:pt x="105427" y="90784"/>
                </a:cubicBezTo>
                <a:lnTo>
                  <a:pt x="105427" y="122998"/>
                </a:lnTo>
                <a:lnTo>
                  <a:pt x="108355" y="122998"/>
                </a:lnTo>
                <a:cubicBezTo>
                  <a:pt x="113224" y="122998"/>
                  <a:pt x="117141" y="126915"/>
                  <a:pt x="117141" y="131783"/>
                </a:cubicBezTo>
                <a:cubicBezTo>
                  <a:pt x="117141" y="136652"/>
                  <a:pt x="113224" y="140569"/>
                  <a:pt x="108355" y="140569"/>
                </a:cubicBezTo>
                <a:lnTo>
                  <a:pt x="79070" y="140569"/>
                </a:lnTo>
                <a:cubicBezTo>
                  <a:pt x="74201" y="140569"/>
                  <a:pt x="70284" y="136652"/>
                  <a:pt x="70284" y="131783"/>
                </a:cubicBezTo>
                <a:cubicBezTo>
                  <a:pt x="70284" y="126915"/>
                  <a:pt x="74201" y="122998"/>
                  <a:pt x="79070" y="122998"/>
                </a:cubicBezTo>
                <a:lnTo>
                  <a:pt x="87855" y="122998"/>
                </a:lnTo>
                <a:lnTo>
                  <a:pt x="87855" y="99570"/>
                </a:lnTo>
                <a:lnTo>
                  <a:pt x="79070" y="99570"/>
                </a:lnTo>
                <a:cubicBezTo>
                  <a:pt x="74201" y="99570"/>
                  <a:pt x="70284" y="95653"/>
                  <a:pt x="70284" y="90784"/>
                </a:cubicBezTo>
                <a:cubicBezTo>
                  <a:pt x="70284" y="85915"/>
                  <a:pt x="74201" y="81998"/>
                  <a:pt x="79070" y="81998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43413" y="1696197"/>
            <a:ext cx="4732483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131" y="2108532"/>
            <a:ext cx="4948022" cy="48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Prefill阶段</a:t>
            </a:r>
            <a:r>
              <a:rPr lang="en-US" sz="118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是KV Cache的初始化过程,模型一次性接收完整的Prompt输入,并行计算所有输入Token的K和V,并将它们存入Cache。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3817" y="2750463"/>
            <a:ext cx="4863680" cy="1846137"/>
          </a:xfrm>
          <a:custGeom>
            <a:avLst/>
            <a:gdLst/>
            <a:ahLst/>
            <a:cxnLst/>
            <a:rect l="l" t="t" r="r" b="b"/>
            <a:pathLst>
              <a:path w="4863680" h="1846137">
                <a:moveTo>
                  <a:pt x="74972" y="0"/>
                </a:moveTo>
                <a:lnTo>
                  <a:pt x="4788709" y="0"/>
                </a:lnTo>
                <a:cubicBezTo>
                  <a:pt x="4830114" y="0"/>
                  <a:pt x="4863680" y="33566"/>
                  <a:pt x="4863680" y="74972"/>
                </a:cubicBezTo>
                <a:lnTo>
                  <a:pt x="4863680" y="1771165"/>
                </a:lnTo>
                <a:cubicBezTo>
                  <a:pt x="4863680" y="1812543"/>
                  <a:pt x="4830087" y="1846137"/>
                  <a:pt x="4788709" y="1846137"/>
                </a:cubicBezTo>
                <a:lnTo>
                  <a:pt x="74972" y="1846137"/>
                </a:lnTo>
                <a:cubicBezTo>
                  <a:pt x="33566" y="1846137"/>
                  <a:pt x="0" y="1812571"/>
                  <a:pt x="0" y="1771165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68443" y="2905088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74970" y="0"/>
                </a:moveTo>
                <a:lnTo>
                  <a:pt x="224910" y="0"/>
                </a:lnTo>
                <a:cubicBezTo>
                  <a:pt x="266315" y="0"/>
                  <a:pt x="299880" y="33565"/>
                  <a:pt x="299880" y="74970"/>
                </a:cubicBezTo>
                <a:lnTo>
                  <a:pt x="299880" y="224910"/>
                </a:lnTo>
                <a:cubicBezTo>
                  <a:pt x="299880" y="266315"/>
                  <a:pt x="266315" y="299880"/>
                  <a:pt x="224910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92539" y="2961316"/>
            <a:ext cx="121826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0778" y="2942573"/>
            <a:ext cx="163059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接收完整的Prompt输入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8443" y="3317424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74970" y="0"/>
                </a:moveTo>
                <a:lnTo>
                  <a:pt x="224910" y="0"/>
                </a:lnTo>
                <a:cubicBezTo>
                  <a:pt x="266315" y="0"/>
                  <a:pt x="299880" y="33565"/>
                  <a:pt x="299880" y="74970"/>
                </a:cubicBezTo>
                <a:lnTo>
                  <a:pt x="299880" y="224910"/>
                </a:lnTo>
                <a:cubicBezTo>
                  <a:pt x="299880" y="266315"/>
                  <a:pt x="266315" y="299880"/>
                  <a:pt x="224910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81483" y="3373651"/>
            <a:ext cx="14056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0778" y="3354909"/>
            <a:ext cx="189299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并行计算所有Token的K和V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443" y="3729759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74970" y="0"/>
                </a:moveTo>
                <a:lnTo>
                  <a:pt x="224910" y="0"/>
                </a:lnTo>
                <a:cubicBezTo>
                  <a:pt x="266315" y="0"/>
                  <a:pt x="299880" y="33565"/>
                  <a:pt x="299880" y="74970"/>
                </a:cubicBezTo>
                <a:lnTo>
                  <a:pt x="299880" y="224910"/>
                </a:lnTo>
                <a:cubicBezTo>
                  <a:pt x="299880" y="266315"/>
                  <a:pt x="266315" y="299880"/>
                  <a:pt x="224910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9800" y="3785986"/>
            <a:ext cx="14056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0778" y="3767244"/>
            <a:ext cx="145254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将K/V存入KV Cache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8443" y="4142094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74970" y="0"/>
                </a:moveTo>
                <a:lnTo>
                  <a:pt x="224910" y="0"/>
                </a:lnTo>
                <a:cubicBezTo>
                  <a:pt x="266315" y="0"/>
                  <a:pt x="299880" y="33565"/>
                  <a:pt x="299880" y="74970"/>
                </a:cubicBezTo>
                <a:lnTo>
                  <a:pt x="299880" y="224910"/>
                </a:lnTo>
                <a:cubicBezTo>
                  <a:pt x="299880" y="266315"/>
                  <a:pt x="266315" y="299880"/>
                  <a:pt x="224910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79873" y="4198321"/>
            <a:ext cx="14056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0778" y="4179579"/>
            <a:ext cx="154625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生成第一个输出Token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9536" y="5065162"/>
            <a:ext cx="5332243" cy="1789909"/>
          </a:xfrm>
          <a:custGeom>
            <a:avLst/>
            <a:gdLst/>
            <a:ahLst/>
            <a:cxnLst/>
            <a:rect l="l" t="t" r="r" b="b"/>
            <a:pathLst>
              <a:path w="5332243" h="1789909">
                <a:moveTo>
                  <a:pt x="112460" y="0"/>
                </a:moveTo>
                <a:lnTo>
                  <a:pt x="5219783" y="0"/>
                </a:lnTo>
                <a:cubicBezTo>
                  <a:pt x="5281893" y="0"/>
                  <a:pt x="5332243" y="50350"/>
                  <a:pt x="5332243" y="112460"/>
                </a:cubicBezTo>
                <a:lnTo>
                  <a:pt x="5332243" y="1677449"/>
                </a:lnTo>
                <a:cubicBezTo>
                  <a:pt x="5332243" y="1739559"/>
                  <a:pt x="5281893" y="1789909"/>
                  <a:pt x="5219783" y="1789909"/>
                </a:cubicBezTo>
                <a:lnTo>
                  <a:pt x="112460" y="1789909"/>
                </a:lnTo>
                <a:cubicBezTo>
                  <a:pt x="50350" y="1789909"/>
                  <a:pt x="0" y="1739559"/>
                  <a:pt x="0" y="1677449"/>
                </a:cubicBezTo>
                <a:lnTo>
                  <a:pt x="0" y="112460"/>
                </a:lnTo>
                <a:cubicBezTo>
                  <a:pt x="0" y="50392"/>
                  <a:pt x="50392" y="0"/>
                  <a:pt x="11246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32560" y="5332243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11714" y="11714"/>
                </a:moveTo>
                <a:cubicBezTo>
                  <a:pt x="18193" y="11714"/>
                  <a:pt x="23428" y="16949"/>
                  <a:pt x="23428" y="23428"/>
                </a:cubicBezTo>
                <a:lnTo>
                  <a:pt x="23428" y="146426"/>
                </a:lnTo>
                <a:cubicBezTo>
                  <a:pt x="23428" y="149647"/>
                  <a:pt x="26064" y="152283"/>
                  <a:pt x="29285" y="152283"/>
                </a:cubicBezTo>
                <a:lnTo>
                  <a:pt x="175711" y="152283"/>
                </a:lnTo>
                <a:cubicBezTo>
                  <a:pt x="182190" y="152283"/>
                  <a:pt x="187425" y="157518"/>
                  <a:pt x="187425" y="163997"/>
                </a:cubicBezTo>
                <a:cubicBezTo>
                  <a:pt x="187425" y="170476"/>
                  <a:pt x="182190" y="175711"/>
                  <a:pt x="175711" y="175711"/>
                </a:cubicBezTo>
                <a:lnTo>
                  <a:pt x="29285" y="175711"/>
                </a:lnTo>
                <a:cubicBezTo>
                  <a:pt x="13105" y="175711"/>
                  <a:pt x="0" y="162606"/>
                  <a:pt x="0" y="146426"/>
                </a:cubicBezTo>
                <a:lnTo>
                  <a:pt x="0" y="23428"/>
                </a:lnTo>
                <a:cubicBezTo>
                  <a:pt x="0" y="16949"/>
                  <a:pt x="5235" y="11714"/>
                  <a:pt x="11714" y="11714"/>
                </a:cubicBezTo>
                <a:close/>
                <a:moveTo>
                  <a:pt x="46856" y="35142"/>
                </a:moveTo>
                <a:cubicBezTo>
                  <a:pt x="46856" y="28663"/>
                  <a:pt x="52091" y="23428"/>
                  <a:pt x="58570" y="23428"/>
                </a:cubicBezTo>
                <a:lnTo>
                  <a:pt x="128855" y="23428"/>
                </a:lnTo>
                <a:cubicBezTo>
                  <a:pt x="135334" y="23428"/>
                  <a:pt x="140569" y="28663"/>
                  <a:pt x="140569" y="35142"/>
                </a:cubicBezTo>
                <a:cubicBezTo>
                  <a:pt x="140569" y="41622"/>
                  <a:pt x="135334" y="46856"/>
                  <a:pt x="128855" y="46856"/>
                </a:cubicBezTo>
                <a:lnTo>
                  <a:pt x="58570" y="46856"/>
                </a:lnTo>
                <a:cubicBezTo>
                  <a:pt x="52091" y="46856"/>
                  <a:pt x="46856" y="41622"/>
                  <a:pt x="46856" y="35142"/>
                </a:cubicBezTo>
                <a:close/>
                <a:moveTo>
                  <a:pt x="58570" y="64427"/>
                </a:moveTo>
                <a:lnTo>
                  <a:pt x="105427" y="64427"/>
                </a:lnTo>
                <a:cubicBezTo>
                  <a:pt x="111906" y="64427"/>
                  <a:pt x="117141" y="69662"/>
                  <a:pt x="117141" y="76141"/>
                </a:cubicBezTo>
                <a:cubicBezTo>
                  <a:pt x="117141" y="82621"/>
                  <a:pt x="111906" y="87855"/>
                  <a:pt x="105427" y="87855"/>
                </a:cubicBezTo>
                <a:lnTo>
                  <a:pt x="58570" y="87855"/>
                </a:lnTo>
                <a:cubicBezTo>
                  <a:pt x="52091" y="87855"/>
                  <a:pt x="46856" y="82621"/>
                  <a:pt x="46856" y="76141"/>
                </a:cubicBezTo>
                <a:cubicBezTo>
                  <a:pt x="46856" y="69662"/>
                  <a:pt x="52091" y="64427"/>
                  <a:pt x="58570" y="64427"/>
                </a:cubicBezTo>
                <a:close/>
                <a:moveTo>
                  <a:pt x="58570" y="105427"/>
                </a:moveTo>
                <a:lnTo>
                  <a:pt x="152283" y="105427"/>
                </a:lnTo>
                <a:cubicBezTo>
                  <a:pt x="158762" y="105427"/>
                  <a:pt x="163997" y="110661"/>
                  <a:pt x="163997" y="117141"/>
                </a:cubicBezTo>
                <a:cubicBezTo>
                  <a:pt x="163997" y="123620"/>
                  <a:pt x="158762" y="128855"/>
                  <a:pt x="152283" y="128855"/>
                </a:cubicBezTo>
                <a:lnTo>
                  <a:pt x="58570" y="128855"/>
                </a:lnTo>
                <a:cubicBezTo>
                  <a:pt x="52091" y="128855"/>
                  <a:pt x="46856" y="123620"/>
                  <a:pt x="46856" y="117141"/>
                </a:cubicBezTo>
                <a:cubicBezTo>
                  <a:pt x="46856" y="110661"/>
                  <a:pt x="52091" y="105427"/>
                  <a:pt x="58570" y="105427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3413" y="5294758"/>
            <a:ext cx="4732483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关键特征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7245" y="5707093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127332" y="20529"/>
                </a:moveTo>
                <a:cubicBezTo>
                  <a:pt x="131520" y="23575"/>
                  <a:pt x="132457" y="29432"/>
                  <a:pt x="129411" y="33619"/>
                </a:cubicBezTo>
                <a:lnTo>
                  <a:pt x="54441" y="136703"/>
                </a:lnTo>
                <a:cubicBezTo>
                  <a:pt x="52830" y="138929"/>
                  <a:pt x="50341" y="140305"/>
                  <a:pt x="47588" y="140540"/>
                </a:cubicBezTo>
                <a:cubicBezTo>
                  <a:pt x="44836" y="140774"/>
                  <a:pt x="42171" y="139749"/>
                  <a:pt x="40238" y="137816"/>
                </a:cubicBezTo>
                <a:lnTo>
                  <a:pt x="2753" y="100331"/>
                </a:lnTo>
                <a:cubicBezTo>
                  <a:pt x="-908" y="96670"/>
                  <a:pt x="-908" y="90725"/>
                  <a:pt x="2753" y="87065"/>
                </a:cubicBezTo>
                <a:cubicBezTo>
                  <a:pt x="6413" y="83404"/>
                  <a:pt x="12358" y="83404"/>
                  <a:pt x="16019" y="87065"/>
                </a:cubicBezTo>
                <a:lnTo>
                  <a:pt x="45743" y="116789"/>
                </a:lnTo>
                <a:lnTo>
                  <a:pt x="114271" y="22579"/>
                </a:lnTo>
                <a:cubicBezTo>
                  <a:pt x="117316" y="18391"/>
                  <a:pt x="123173" y="17454"/>
                  <a:pt x="127361" y="2050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09012" y="5669608"/>
            <a:ext cx="4170208" cy="243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并行计算:</a:t>
            </a:r>
            <a:r>
              <a:rPr lang="en-US" sz="118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所有Prompt Token同时处理,充分利用GPU并行能力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245" y="6063201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127332" y="20529"/>
                </a:moveTo>
                <a:cubicBezTo>
                  <a:pt x="131520" y="23575"/>
                  <a:pt x="132457" y="29432"/>
                  <a:pt x="129411" y="33619"/>
                </a:cubicBezTo>
                <a:lnTo>
                  <a:pt x="54441" y="136703"/>
                </a:lnTo>
                <a:cubicBezTo>
                  <a:pt x="52830" y="138929"/>
                  <a:pt x="50341" y="140305"/>
                  <a:pt x="47588" y="140540"/>
                </a:cubicBezTo>
                <a:cubicBezTo>
                  <a:pt x="44836" y="140774"/>
                  <a:pt x="42171" y="139749"/>
                  <a:pt x="40238" y="137816"/>
                </a:cubicBezTo>
                <a:lnTo>
                  <a:pt x="2753" y="100331"/>
                </a:lnTo>
                <a:cubicBezTo>
                  <a:pt x="-908" y="96670"/>
                  <a:pt x="-908" y="90725"/>
                  <a:pt x="2753" y="87065"/>
                </a:cubicBezTo>
                <a:cubicBezTo>
                  <a:pt x="6413" y="83404"/>
                  <a:pt x="12358" y="83404"/>
                  <a:pt x="16019" y="87065"/>
                </a:cubicBezTo>
                <a:lnTo>
                  <a:pt x="45743" y="116789"/>
                </a:lnTo>
                <a:lnTo>
                  <a:pt x="114271" y="22579"/>
                </a:lnTo>
                <a:cubicBezTo>
                  <a:pt x="117316" y="18391"/>
                  <a:pt x="123173" y="17454"/>
                  <a:pt x="127361" y="2050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09012" y="6025716"/>
            <a:ext cx="4095238" cy="243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缓存初始化:</a:t>
            </a:r>
            <a:r>
              <a:rPr lang="en-US" sz="118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建立完整的KV Cache,为后续Decode阶段做准备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245" y="6419308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127332" y="20529"/>
                </a:moveTo>
                <a:cubicBezTo>
                  <a:pt x="131520" y="23575"/>
                  <a:pt x="132457" y="29432"/>
                  <a:pt x="129411" y="33619"/>
                </a:cubicBezTo>
                <a:lnTo>
                  <a:pt x="54441" y="136703"/>
                </a:lnTo>
                <a:cubicBezTo>
                  <a:pt x="52830" y="138929"/>
                  <a:pt x="50341" y="140305"/>
                  <a:pt x="47588" y="140540"/>
                </a:cubicBezTo>
                <a:cubicBezTo>
                  <a:pt x="44836" y="140774"/>
                  <a:pt x="42171" y="139749"/>
                  <a:pt x="40238" y="137816"/>
                </a:cubicBezTo>
                <a:lnTo>
                  <a:pt x="2753" y="100331"/>
                </a:lnTo>
                <a:cubicBezTo>
                  <a:pt x="-908" y="96670"/>
                  <a:pt x="-908" y="90725"/>
                  <a:pt x="2753" y="87065"/>
                </a:cubicBezTo>
                <a:cubicBezTo>
                  <a:pt x="6413" y="83404"/>
                  <a:pt x="12358" y="83404"/>
                  <a:pt x="16019" y="87065"/>
                </a:cubicBezTo>
                <a:lnTo>
                  <a:pt x="45743" y="116789"/>
                </a:lnTo>
                <a:lnTo>
                  <a:pt x="114271" y="22579"/>
                </a:lnTo>
                <a:cubicBezTo>
                  <a:pt x="117316" y="18391"/>
                  <a:pt x="123173" y="17454"/>
                  <a:pt x="127361" y="2050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09012" y="6381823"/>
            <a:ext cx="2642693" cy="243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计算复杂度:</a:t>
            </a:r>
            <a:r>
              <a:rPr lang="en-US" sz="118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O(P²),其中P为Prompt长度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17882" y="1466601"/>
            <a:ext cx="5800806" cy="5388470"/>
          </a:xfrm>
          <a:custGeom>
            <a:avLst/>
            <a:gdLst/>
            <a:ahLst/>
            <a:cxnLst/>
            <a:rect l="l" t="t" r="r" b="b"/>
            <a:pathLst>
              <a:path w="5800806" h="5388470">
                <a:moveTo>
                  <a:pt x="112457" y="0"/>
                </a:moveTo>
                <a:lnTo>
                  <a:pt x="5688348" y="0"/>
                </a:lnTo>
                <a:cubicBezTo>
                  <a:pt x="5750457" y="0"/>
                  <a:pt x="5800806" y="50349"/>
                  <a:pt x="5800806" y="112457"/>
                </a:cubicBezTo>
                <a:lnTo>
                  <a:pt x="5800806" y="5276013"/>
                </a:lnTo>
                <a:cubicBezTo>
                  <a:pt x="5800806" y="5338122"/>
                  <a:pt x="5750457" y="5388470"/>
                  <a:pt x="5688348" y="5388470"/>
                </a:cubicBezTo>
                <a:lnTo>
                  <a:pt x="112457" y="5388470"/>
                </a:lnTo>
                <a:cubicBezTo>
                  <a:pt x="50349" y="5388470"/>
                  <a:pt x="0" y="5338122"/>
                  <a:pt x="0" y="5276013"/>
                </a:cubicBezTo>
                <a:lnTo>
                  <a:pt x="0" y="112457"/>
                </a:lnTo>
                <a:cubicBezTo>
                  <a:pt x="0" y="50349"/>
                  <a:pt x="50349" y="0"/>
                  <a:pt x="112457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205307" y="1696197"/>
            <a:ext cx="5425955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Prefill阶段流程图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252163" y="6199084"/>
            <a:ext cx="5332243" cy="421706"/>
          </a:xfrm>
          <a:custGeom>
            <a:avLst/>
            <a:gdLst/>
            <a:ahLst/>
            <a:cxnLst/>
            <a:rect l="l" t="t" r="r" b="b"/>
            <a:pathLst>
              <a:path w="5332243" h="421706">
                <a:moveTo>
                  <a:pt x="74971" y="0"/>
                </a:moveTo>
                <a:lnTo>
                  <a:pt x="5257272" y="0"/>
                </a:lnTo>
                <a:cubicBezTo>
                  <a:pt x="5298677" y="0"/>
                  <a:pt x="5332243" y="33566"/>
                  <a:pt x="5332243" y="74971"/>
                </a:cubicBezTo>
                <a:lnTo>
                  <a:pt x="5332243" y="346735"/>
                </a:lnTo>
                <a:cubicBezTo>
                  <a:pt x="5332243" y="388141"/>
                  <a:pt x="5298677" y="421706"/>
                  <a:pt x="5257272" y="421706"/>
                </a:cubicBezTo>
                <a:lnTo>
                  <a:pt x="74971" y="421706"/>
                </a:lnTo>
                <a:cubicBezTo>
                  <a:pt x="33566" y="421706"/>
                  <a:pt x="0" y="388141"/>
                  <a:pt x="0" y="346735"/>
                </a:cubicBezTo>
                <a:lnTo>
                  <a:pt x="0" y="74971"/>
                </a:lnTo>
                <a:cubicBezTo>
                  <a:pt x="0" y="33566"/>
                  <a:pt x="33566" y="0"/>
                  <a:pt x="7497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7170766" y="6344338"/>
            <a:ext cx="98398" cy="131198"/>
          </a:xfrm>
          <a:custGeom>
            <a:avLst/>
            <a:gdLst/>
            <a:ahLst/>
            <a:cxnLst/>
            <a:rect l="l" t="t" r="r" b="b"/>
            <a:pathLst>
              <a:path w="98398" h="131198">
                <a:moveTo>
                  <a:pt x="75054" y="98398"/>
                </a:moveTo>
                <a:cubicBezTo>
                  <a:pt x="76925" y="92684"/>
                  <a:pt x="80666" y="87508"/>
                  <a:pt x="84894" y="83049"/>
                </a:cubicBezTo>
                <a:cubicBezTo>
                  <a:pt x="93273" y="74234"/>
                  <a:pt x="98398" y="62319"/>
                  <a:pt x="98398" y="49199"/>
                </a:cubicBezTo>
                <a:cubicBezTo>
                  <a:pt x="98398" y="22037"/>
                  <a:pt x="76361" y="0"/>
                  <a:pt x="49199" y="0"/>
                </a:cubicBezTo>
                <a:cubicBezTo>
                  <a:pt x="22037" y="0"/>
                  <a:pt x="0" y="22037"/>
                  <a:pt x="0" y="49199"/>
                </a:cubicBezTo>
                <a:cubicBezTo>
                  <a:pt x="0" y="62319"/>
                  <a:pt x="5125" y="74234"/>
                  <a:pt x="13504" y="83049"/>
                </a:cubicBezTo>
                <a:cubicBezTo>
                  <a:pt x="17732" y="87508"/>
                  <a:pt x="21499" y="92684"/>
                  <a:pt x="23344" y="98398"/>
                </a:cubicBezTo>
                <a:lnTo>
                  <a:pt x="75029" y="98398"/>
                </a:lnTo>
                <a:close/>
                <a:moveTo>
                  <a:pt x="73799" y="110698"/>
                </a:moveTo>
                <a:lnTo>
                  <a:pt x="24600" y="110698"/>
                </a:lnTo>
                <a:lnTo>
                  <a:pt x="24600" y="114798"/>
                </a:lnTo>
                <a:cubicBezTo>
                  <a:pt x="24600" y="126124"/>
                  <a:pt x="33773" y="135297"/>
                  <a:pt x="45099" y="135297"/>
                </a:cubicBezTo>
                <a:lnTo>
                  <a:pt x="53299" y="135297"/>
                </a:lnTo>
                <a:cubicBezTo>
                  <a:pt x="64625" y="135297"/>
                  <a:pt x="73799" y="126124"/>
                  <a:pt x="73799" y="114798"/>
                </a:cubicBezTo>
                <a:lnTo>
                  <a:pt x="73799" y="110698"/>
                </a:lnTo>
                <a:close/>
                <a:moveTo>
                  <a:pt x="47149" y="28699"/>
                </a:moveTo>
                <a:cubicBezTo>
                  <a:pt x="36951" y="28699"/>
                  <a:pt x="28699" y="36951"/>
                  <a:pt x="28699" y="47149"/>
                </a:cubicBezTo>
                <a:cubicBezTo>
                  <a:pt x="28699" y="50557"/>
                  <a:pt x="25958" y="53299"/>
                  <a:pt x="22550" y="53299"/>
                </a:cubicBezTo>
                <a:cubicBezTo>
                  <a:pt x="19142" y="53299"/>
                  <a:pt x="16400" y="50557"/>
                  <a:pt x="16400" y="47149"/>
                </a:cubicBezTo>
                <a:cubicBezTo>
                  <a:pt x="16400" y="30160"/>
                  <a:pt x="30160" y="16400"/>
                  <a:pt x="47149" y="16400"/>
                </a:cubicBezTo>
                <a:cubicBezTo>
                  <a:pt x="50557" y="16400"/>
                  <a:pt x="53299" y="19142"/>
                  <a:pt x="53299" y="22550"/>
                </a:cubicBezTo>
                <a:cubicBezTo>
                  <a:pt x="53299" y="25958"/>
                  <a:pt x="50557" y="28699"/>
                  <a:pt x="47149" y="28699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6560507" y="6316224"/>
            <a:ext cx="4939558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模型接收完整Prompt,计算所有Token的K/V并存入Cache</a:t>
            </a:r>
            <a:endParaRPr lang="en-US" sz="16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3604973C-C6B0-A4D8-6C52-1EC7C0406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760" y="2299346"/>
            <a:ext cx="5543177" cy="30920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992" y="341992"/>
            <a:ext cx="341992" cy="341992"/>
          </a:xfrm>
          <a:custGeom>
            <a:avLst/>
            <a:gdLst/>
            <a:ahLst/>
            <a:cxnLst/>
            <a:rect l="l" t="t" r="r" b="b"/>
            <a:pathLst>
              <a:path w="341992" h="341992">
                <a:moveTo>
                  <a:pt x="68398" y="0"/>
                </a:moveTo>
                <a:lnTo>
                  <a:pt x="273593" y="0"/>
                </a:lnTo>
                <a:cubicBezTo>
                  <a:pt x="311343" y="0"/>
                  <a:pt x="341992" y="30648"/>
                  <a:pt x="341992" y="68398"/>
                </a:cubicBezTo>
                <a:lnTo>
                  <a:pt x="341992" y="273593"/>
                </a:lnTo>
                <a:cubicBezTo>
                  <a:pt x="341992" y="311343"/>
                  <a:pt x="311343" y="341992"/>
                  <a:pt x="273593" y="341992"/>
                </a:cubicBezTo>
                <a:lnTo>
                  <a:pt x="68398" y="341992"/>
                </a:lnTo>
                <a:cubicBezTo>
                  <a:pt x="30648" y="341992"/>
                  <a:pt x="0" y="311343"/>
                  <a:pt x="0" y="273593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38177" y="436039"/>
            <a:ext cx="153896" cy="153896"/>
          </a:xfrm>
          <a:custGeom>
            <a:avLst/>
            <a:gdLst/>
            <a:ahLst/>
            <a:cxnLst/>
            <a:rect l="l" t="t" r="r" b="b"/>
            <a:pathLst>
              <a:path w="153896" h="153896">
                <a:moveTo>
                  <a:pt x="144308" y="57711"/>
                </a:moveTo>
                <a:lnTo>
                  <a:pt x="146682" y="57711"/>
                </a:lnTo>
                <a:cubicBezTo>
                  <a:pt x="150680" y="57711"/>
                  <a:pt x="153896" y="54495"/>
                  <a:pt x="153896" y="50497"/>
                </a:cubicBezTo>
                <a:lnTo>
                  <a:pt x="153896" y="7214"/>
                </a:lnTo>
                <a:cubicBezTo>
                  <a:pt x="153896" y="4298"/>
                  <a:pt x="152153" y="1653"/>
                  <a:pt x="149448" y="541"/>
                </a:cubicBezTo>
                <a:cubicBezTo>
                  <a:pt x="146742" y="-571"/>
                  <a:pt x="143646" y="60"/>
                  <a:pt x="141572" y="2104"/>
                </a:cubicBezTo>
                <a:lnTo>
                  <a:pt x="126033" y="17674"/>
                </a:lnTo>
                <a:cubicBezTo>
                  <a:pt x="112717" y="6643"/>
                  <a:pt x="95584" y="0"/>
                  <a:pt x="76948" y="0"/>
                </a:cubicBezTo>
                <a:cubicBezTo>
                  <a:pt x="38173" y="0"/>
                  <a:pt x="6102" y="28675"/>
                  <a:pt x="782" y="65977"/>
                </a:cubicBezTo>
                <a:cubicBezTo>
                  <a:pt x="30" y="71237"/>
                  <a:pt x="3667" y="76106"/>
                  <a:pt x="8927" y="76858"/>
                </a:cubicBezTo>
                <a:cubicBezTo>
                  <a:pt x="14187" y="77609"/>
                  <a:pt x="19057" y="73942"/>
                  <a:pt x="19808" y="68712"/>
                </a:cubicBezTo>
                <a:cubicBezTo>
                  <a:pt x="23806" y="40728"/>
                  <a:pt x="47882" y="19237"/>
                  <a:pt x="76948" y="19237"/>
                </a:cubicBezTo>
                <a:cubicBezTo>
                  <a:pt x="90294" y="19237"/>
                  <a:pt x="102557" y="23746"/>
                  <a:pt x="112326" y="31350"/>
                </a:cubicBezTo>
                <a:lnTo>
                  <a:pt x="98289" y="45387"/>
                </a:lnTo>
                <a:cubicBezTo>
                  <a:pt x="96215" y="47461"/>
                  <a:pt x="95614" y="50557"/>
                  <a:pt x="96726" y="53263"/>
                </a:cubicBezTo>
                <a:cubicBezTo>
                  <a:pt x="97838" y="55968"/>
                  <a:pt x="100483" y="57711"/>
                  <a:pt x="103399" y="57711"/>
                </a:cubicBezTo>
                <a:lnTo>
                  <a:pt x="144308" y="57711"/>
                </a:lnTo>
                <a:close/>
                <a:moveTo>
                  <a:pt x="153145" y="87919"/>
                </a:moveTo>
                <a:cubicBezTo>
                  <a:pt x="153896" y="82659"/>
                  <a:pt x="150229" y="77790"/>
                  <a:pt x="144999" y="77038"/>
                </a:cubicBezTo>
                <a:cubicBezTo>
                  <a:pt x="139769" y="76287"/>
                  <a:pt x="134870" y="79954"/>
                  <a:pt x="134118" y="85184"/>
                </a:cubicBezTo>
                <a:cubicBezTo>
                  <a:pt x="130120" y="113138"/>
                  <a:pt x="106044" y="134629"/>
                  <a:pt x="76978" y="134629"/>
                </a:cubicBezTo>
                <a:cubicBezTo>
                  <a:pt x="63632" y="134629"/>
                  <a:pt x="51369" y="130120"/>
                  <a:pt x="41600" y="122516"/>
                </a:cubicBezTo>
                <a:lnTo>
                  <a:pt x="55607" y="108509"/>
                </a:lnTo>
                <a:cubicBezTo>
                  <a:pt x="57681" y="106435"/>
                  <a:pt x="58282" y="103339"/>
                  <a:pt x="57170" y="100634"/>
                </a:cubicBezTo>
                <a:cubicBezTo>
                  <a:pt x="56058" y="97928"/>
                  <a:pt x="53413" y="96185"/>
                  <a:pt x="50497" y="96185"/>
                </a:cubicBezTo>
                <a:lnTo>
                  <a:pt x="7214" y="96185"/>
                </a:lnTo>
                <a:cubicBezTo>
                  <a:pt x="3216" y="96185"/>
                  <a:pt x="0" y="99401"/>
                  <a:pt x="0" y="103399"/>
                </a:cubicBezTo>
                <a:lnTo>
                  <a:pt x="0" y="146682"/>
                </a:lnTo>
                <a:cubicBezTo>
                  <a:pt x="0" y="149598"/>
                  <a:pt x="1743" y="152243"/>
                  <a:pt x="4449" y="153355"/>
                </a:cubicBezTo>
                <a:cubicBezTo>
                  <a:pt x="7154" y="154467"/>
                  <a:pt x="10250" y="153836"/>
                  <a:pt x="12324" y="151792"/>
                </a:cubicBezTo>
                <a:lnTo>
                  <a:pt x="27894" y="136222"/>
                </a:lnTo>
                <a:cubicBezTo>
                  <a:pt x="41179" y="147253"/>
                  <a:pt x="58312" y="153896"/>
                  <a:pt x="76948" y="153896"/>
                </a:cubicBezTo>
                <a:cubicBezTo>
                  <a:pt x="115723" y="153896"/>
                  <a:pt x="147794" y="125221"/>
                  <a:pt x="153115" y="87919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86581" y="427489"/>
            <a:ext cx="1727058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kern="0" spc="47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02.3 工作流程 - Decode阶段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1992" y="786581"/>
            <a:ext cx="11661913" cy="34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Decode阶段:后续Token的高效生成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6266" y="1338042"/>
            <a:ext cx="5394917" cy="3667860"/>
          </a:xfrm>
          <a:custGeom>
            <a:avLst/>
            <a:gdLst/>
            <a:ahLst/>
            <a:cxnLst/>
            <a:rect l="l" t="t" r="r" b="b"/>
            <a:pathLst>
              <a:path w="5394917" h="3667860">
                <a:moveTo>
                  <a:pt x="102590" y="0"/>
                </a:moveTo>
                <a:lnTo>
                  <a:pt x="5292327" y="0"/>
                </a:lnTo>
                <a:cubicBezTo>
                  <a:pt x="5348986" y="0"/>
                  <a:pt x="5394917" y="45931"/>
                  <a:pt x="5394917" y="102590"/>
                </a:cubicBezTo>
                <a:lnTo>
                  <a:pt x="5394917" y="3565270"/>
                </a:lnTo>
                <a:cubicBezTo>
                  <a:pt x="5394917" y="3621929"/>
                  <a:pt x="5348986" y="3667860"/>
                  <a:pt x="5292327" y="3667860"/>
                </a:cubicBezTo>
                <a:lnTo>
                  <a:pt x="102590" y="3667860"/>
                </a:lnTo>
                <a:cubicBezTo>
                  <a:pt x="45931" y="3667860"/>
                  <a:pt x="0" y="3621929"/>
                  <a:pt x="0" y="3565270"/>
                </a:cubicBezTo>
                <a:lnTo>
                  <a:pt x="0" y="102590"/>
                </a:lnTo>
                <a:cubicBezTo>
                  <a:pt x="0" y="45969"/>
                  <a:pt x="45969" y="0"/>
                  <a:pt x="10259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77111" y="1581711"/>
            <a:ext cx="170996" cy="170996"/>
          </a:xfrm>
          <a:custGeom>
            <a:avLst/>
            <a:gdLst/>
            <a:ahLst/>
            <a:cxnLst/>
            <a:rect l="l" t="t" r="r" b="b"/>
            <a:pathLst>
              <a:path w="170996" h="170996">
                <a:moveTo>
                  <a:pt x="85498" y="170996"/>
                </a:moveTo>
                <a:cubicBezTo>
                  <a:pt x="132685" y="170996"/>
                  <a:pt x="170996" y="132685"/>
                  <a:pt x="170996" y="85498"/>
                </a:cubicBezTo>
                <a:cubicBezTo>
                  <a:pt x="170996" y="38310"/>
                  <a:pt x="132685" y="0"/>
                  <a:pt x="85498" y="0"/>
                </a:cubicBezTo>
                <a:cubicBezTo>
                  <a:pt x="38310" y="0"/>
                  <a:pt x="0" y="38310"/>
                  <a:pt x="0" y="85498"/>
                </a:cubicBezTo>
                <a:cubicBezTo>
                  <a:pt x="0" y="132685"/>
                  <a:pt x="38310" y="170996"/>
                  <a:pt x="85498" y="170996"/>
                </a:cubicBezTo>
                <a:close/>
                <a:moveTo>
                  <a:pt x="74811" y="53436"/>
                </a:moveTo>
                <a:cubicBezTo>
                  <a:pt x="74811" y="47538"/>
                  <a:pt x="79599" y="42749"/>
                  <a:pt x="85498" y="42749"/>
                </a:cubicBezTo>
                <a:cubicBezTo>
                  <a:pt x="91396" y="42749"/>
                  <a:pt x="96185" y="47538"/>
                  <a:pt x="96185" y="53436"/>
                </a:cubicBezTo>
                <a:cubicBezTo>
                  <a:pt x="96185" y="59335"/>
                  <a:pt x="91396" y="64123"/>
                  <a:pt x="85498" y="64123"/>
                </a:cubicBezTo>
                <a:cubicBezTo>
                  <a:pt x="79599" y="64123"/>
                  <a:pt x="74811" y="59335"/>
                  <a:pt x="74811" y="53436"/>
                </a:cubicBezTo>
                <a:close/>
                <a:moveTo>
                  <a:pt x="72139" y="74811"/>
                </a:moveTo>
                <a:lnTo>
                  <a:pt x="88170" y="74811"/>
                </a:lnTo>
                <a:cubicBezTo>
                  <a:pt x="92612" y="74811"/>
                  <a:pt x="96185" y="78384"/>
                  <a:pt x="96185" y="82826"/>
                </a:cubicBezTo>
                <a:lnTo>
                  <a:pt x="96185" y="112216"/>
                </a:lnTo>
                <a:lnTo>
                  <a:pt x="98857" y="112216"/>
                </a:lnTo>
                <a:cubicBezTo>
                  <a:pt x="103299" y="112216"/>
                  <a:pt x="106872" y="115790"/>
                  <a:pt x="106872" y="120231"/>
                </a:cubicBezTo>
                <a:cubicBezTo>
                  <a:pt x="106872" y="124673"/>
                  <a:pt x="103299" y="128247"/>
                  <a:pt x="98857" y="128247"/>
                </a:cubicBezTo>
                <a:lnTo>
                  <a:pt x="72139" y="128247"/>
                </a:lnTo>
                <a:cubicBezTo>
                  <a:pt x="67697" y="128247"/>
                  <a:pt x="64123" y="124673"/>
                  <a:pt x="64123" y="120231"/>
                </a:cubicBezTo>
                <a:cubicBezTo>
                  <a:pt x="64123" y="115790"/>
                  <a:pt x="67697" y="112216"/>
                  <a:pt x="72139" y="112216"/>
                </a:cubicBezTo>
                <a:lnTo>
                  <a:pt x="80154" y="112216"/>
                </a:lnTo>
                <a:lnTo>
                  <a:pt x="80154" y="90842"/>
                </a:lnTo>
                <a:lnTo>
                  <a:pt x="72139" y="90842"/>
                </a:lnTo>
                <a:cubicBezTo>
                  <a:pt x="67697" y="90842"/>
                  <a:pt x="64123" y="87268"/>
                  <a:pt x="64123" y="82826"/>
                </a:cubicBezTo>
                <a:cubicBezTo>
                  <a:pt x="64123" y="78384"/>
                  <a:pt x="67697" y="74811"/>
                  <a:pt x="72139" y="74811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69481" y="1547512"/>
            <a:ext cx="4847731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5736" y="1923703"/>
            <a:ext cx="5044376" cy="66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Decode阶段</a:t>
            </a:r>
            <a:r>
              <a:rPr lang="en-US" sz="107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是Token生成的核心循环,模型仅接收上一步生成的单个Token,计算其Q、K、V,将新的K、V追加到Cache中,然后利用完整Cache计算Attention并生成下一个Token。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0011" y="2731658"/>
            <a:ext cx="4967428" cy="2060499"/>
          </a:xfrm>
          <a:custGeom>
            <a:avLst/>
            <a:gdLst/>
            <a:ahLst/>
            <a:cxnLst/>
            <a:rect l="l" t="t" r="r" b="b"/>
            <a:pathLst>
              <a:path w="4967428" h="2060499">
                <a:moveTo>
                  <a:pt x="68409" y="0"/>
                </a:moveTo>
                <a:lnTo>
                  <a:pt x="4899019" y="0"/>
                </a:lnTo>
                <a:cubicBezTo>
                  <a:pt x="4936800" y="0"/>
                  <a:pt x="4967428" y="30628"/>
                  <a:pt x="4967428" y="68409"/>
                </a:cubicBezTo>
                <a:lnTo>
                  <a:pt x="4967428" y="1992091"/>
                </a:lnTo>
                <a:cubicBezTo>
                  <a:pt x="4967428" y="2029872"/>
                  <a:pt x="4936800" y="2060499"/>
                  <a:pt x="4899019" y="2060499"/>
                </a:cubicBezTo>
                <a:lnTo>
                  <a:pt x="68409" y="2060499"/>
                </a:lnTo>
                <a:cubicBezTo>
                  <a:pt x="30628" y="2060499"/>
                  <a:pt x="0" y="2029872"/>
                  <a:pt x="0" y="1992091"/>
                </a:cubicBezTo>
                <a:lnTo>
                  <a:pt x="0" y="68409"/>
                </a:lnTo>
                <a:cubicBezTo>
                  <a:pt x="0" y="30628"/>
                  <a:pt x="30628" y="0"/>
                  <a:pt x="6840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01083" y="2872729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68398" y="0"/>
                </a:moveTo>
                <a:lnTo>
                  <a:pt x="205195" y="0"/>
                </a:lnTo>
                <a:cubicBezTo>
                  <a:pt x="242945" y="0"/>
                  <a:pt x="273593" y="30648"/>
                  <a:pt x="273593" y="68398"/>
                </a:cubicBezTo>
                <a:lnTo>
                  <a:pt x="273593" y="205195"/>
                </a:lnTo>
                <a:cubicBezTo>
                  <a:pt x="273593" y="242945"/>
                  <a:pt x="242945" y="273593"/>
                  <a:pt x="205195" y="273593"/>
                </a:cubicBezTo>
                <a:lnTo>
                  <a:pt x="68398" y="273593"/>
                </a:lnTo>
                <a:cubicBezTo>
                  <a:pt x="30648" y="273593"/>
                  <a:pt x="0" y="242945"/>
                  <a:pt x="0" y="205195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14301" y="2924028"/>
            <a:ext cx="11114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7273" y="2906928"/>
            <a:ext cx="1547512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接收上一步生成的Token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1083" y="3248920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68398" y="0"/>
                </a:moveTo>
                <a:lnTo>
                  <a:pt x="205195" y="0"/>
                </a:lnTo>
                <a:cubicBezTo>
                  <a:pt x="242945" y="0"/>
                  <a:pt x="273593" y="30648"/>
                  <a:pt x="273593" y="68398"/>
                </a:cubicBezTo>
                <a:lnTo>
                  <a:pt x="273593" y="205195"/>
                </a:lnTo>
                <a:cubicBezTo>
                  <a:pt x="273593" y="242945"/>
                  <a:pt x="242945" y="273593"/>
                  <a:pt x="205195" y="273593"/>
                </a:cubicBezTo>
                <a:lnTo>
                  <a:pt x="68398" y="273593"/>
                </a:lnTo>
                <a:cubicBezTo>
                  <a:pt x="30648" y="273593"/>
                  <a:pt x="0" y="242945"/>
                  <a:pt x="0" y="205195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04215" y="3300219"/>
            <a:ext cx="12824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7273" y="3283119"/>
            <a:ext cx="1692858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计算当前Token的Q、K、V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1083" y="3625111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68398" y="0"/>
                </a:moveTo>
                <a:lnTo>
                  <a:pt x="205195" y="0"/>
                </a:lnTo>
                <a:cubicBezTo>
                  <a:pt x="242945" y="0"/>
                  <a:pt x="273593" y="30648"/>
                  <a:pt x="273593" y="68398"/>
                </a:cubicBezTo>
                <a:lnTo>
                  <a:pt x="273593" y="205195"/>
                </a:lnTo>
                <a:cubicBezTo>
                  <a:pt x="273593" y="242945"/>
                  <a:pt x="242945" y="273593"/>
                  <a:pt x="205195" y="273593"/>
                </a:cubicBezTo>
                <a:lnTo>
                  <a:pt x="68398" y="273593"/>
                </a:lnTo>
                <a:cubicBezTo>
                  <a:pt x="30648" y="273593"/>
                  <a:pt x="0" y="242945"/>
                  <a:pt x="0" y="205195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02678" y="3676410"/>
            <a:ext cx="12824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7273" y="3659310"/>
            <a:ext cx="189805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将K、V追加(Append)到Cache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1083" y="4001302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68398" y="0"/>
                </a:moveTo>
                <a:lnTo>
                  <a:pt x="205195" y="0"/>
                </a:lnTo>
                <a:cubicBezTo>
                  <a:pt x="242945" y="0"/>
                  <a:pt x="273593" y="30648"/>
                  <a:pt x="273593" y="68398"/>
                </a:cubicBezTo>
                <a:lnTo>
                  <a:pt x="273593" y="205195"/>
                </a:lnTo>
                <a:cubicBezTo>
                  <a:pt x="273593" y="242945"/>
                  <a:pt x="242945" y="273593"/>
                  <a:pt x="205195" y="273593"/>
                </a:cubicBezTo>
                <a:lnTo>
                  <a:pt x="68398" y="273593"/>
                </a:lnTo>
                <a:cubicBezTo>
                  <a:pt x="30648" y="273593"/>
                  <a:pt x="0" y="242945"/>
                  <a:pt x="0" y="205195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02745" y="4052600"/>
            <a:ext cx="12824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7273" y="4035501"/>
            <a:ext cx="1863854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利用完整Cache计算Attention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1083" y="4377492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68398" y="0"/>
                </a:moveTo>
                <a:lnTo>
                  <a:pt x="205195" y="0"/>
                </a:lnTo>
                <a:cubicBezTo>
                  <a:pt x="242945" y="0"/>
                  <a:pt x="273593" y="30648"/>
                  <a:pt x="273593" y="68398"/>
                </a:cubicBezTo>
                <a:lnTo>
                  <a:pt x="273593" y="205195"/>
                </a:lnTo>
                <a:cubicBezTo>
                  <a:pt x="273593" y="242945"/>
                  <a:pt x="242945" y="273593"/>
                  <a:pt x="205195" y="273593"/>
                </a:cubicBezTo>
                <a:lnTo>
                  <a:pt x="68398" y="273593"/>
                </a:lnTo>
                <a:cubicBezTo>
                  <a:pt x="30648" y="273593"/>
                  <a:pt x="0" y="242945"/>
                  <a:pt x="0" y="205195"/>
                </a:cubicBezTo>
                <a:lnTo>
                  <a:pt x="0" y="68398"/>
                </a:lnTo>
                <a:cubicBezTo>
                  <a:pt x="0" y="30648"/>
                  <a:pt x="30648" y="0"/>
                  <a:pt x="68398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02144" y="4428791"/>
            <a:ext cx="12824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2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7273" y="4411691"/>
            <a:ext cx="1444914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生成下一个Token,循环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6266" y="5219647"/>
            <a:ext cx="5394917" cy="1633010"/>
          </a:xfrm>
          <a:custGeom>
            <a:avLst/>
            <a:gdLst/>
            <a:ahLst/>
            <a:cxnLst/>
            <a:rect l="l" t="t" r="r" b="b"/>
            <a:pathLst>
              <a:path w="5394917" h="1633010">
                <a:moveTo>
                  <a:pt x="102602" y="0"/>
                </a:moveTo>
                <a:lnTo>
                  <a:pt x="5292315" y="0"/>
                </a:lnTo>
                <a:cubicBezTo>
                  <a:pt x="5348981" y="0"/>
                  <a:pt x="5394917" y="45936"/>
                  <a:pt x="5394917" y="102602"/>
                </a:cubicBezTo>
                <a:lnTo>
                  <a:pt x="5394917" y="1530408"/>
                </a:lnTo>
                <a:cubicBezTo>
                  <a:pt x="5394917" y="1587073"/>
                  <a:pt x="5348981" y="1633010"/>
                  <a:pt x="5292315" y="1633010"/>
                </a:cubicBezTo>
                <a:lnTo>
                  <a:pt x="102602" y="1633010"/>
                </a:lnTo>
                <a:cubicBezTo>
                  <a:pt x="45936" y="1633010"/>
                  <a:pt x="0" y="1587073"/>
                  <a:pt x="0" y="1530408"/>
                </a:cubicBezTo>
                <a:lnTo>
                  <a:pt x="0" y="102602"/>
                </a:lnTo>
                <a:cubicBezTo>
                  <a:pt x="0" y="45974"/>
                  <a:pt x="45974" y="0"/>
                  <a:pt x="102602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87798" y="5463316"/>
            <a:ext cx="149621" cy="170996"/>
          </a:xfrm>
          <a:custGeom>
            <a:avLst/>
            <a:gdLst/>
            <a:ahLst/>
            <a:cxnLst/>
            <a:rect l="l" t="t" r="r" b="b"/>
            <a:pathLst>
              <a:path w="149621" h="170996">
                <a:moveTo>
                  <a:pt x="113151" y="-3306"/>
                </a:moveTo>
                <a:cubicBezTo>
                  <a:pt x="117125" y="-434"/>
                  <a:pt x="118595" y="4776"/>
                  <a:pt x="116791" y="9318"/>
                </a:cubicBezTo>
                <a:lnTo>
                  <a:pt x="90608" y="74811"/>
                </a:lnTo>
                <a:lnTo>
                  <a:pt x="138934" y="74811"/>
                </a:lnTo>
                <a:cubicBezTo>
                  <a:pt x="143443" y="74811"/>
                  <a:pt x="147450" y="77616"/>
                  <a:pt x="148987" y="81858"/>
                </a:cubicBezTo>
                <a:cubicBezTo>
                  <a:pt x="150523" y="86099"/>
                  <a:pt x="149221" y="90842"/>
                  <a:pt x="145781" y="93714"/>
                </a:cubicBezTo>
                <a:lnTo>
                  <a:pt x="49595" y="173868"/>
                </a:lnTo>
                <a:cubicBezTo>
                  <a:pt x="45822" y="177007"/>
                  <a:pt x="40445" y="177174"/>
                  <a:pt x="36470" y="174302"/>
                </a:cubicBezTo>
                <a:cubicBezTo>
                  <a:pt x="32496" y="171430"/>
                  <a:pt x="31026" y="166220"/>
                  <a:pt x="32830" y="161678"/>
                </a:cubicBezTo>
                <a:lnTo>
                  <a:pt x="59014" y="96185"/>
                </a:lnTo>
                <a:lnTo>
                  <a:pt x="10687" y="96185"/>
                </a:lnTo>
                <a:cubicBezTo>
                  <a:pt x="6179" y="96185"/>
                  <a:pt x="2171" y="93380"/>
                  <a:pt x="635" y="89138"/>
                </a:cubicBezTo>
                <a:cubicBezTo>
                  <a:pt x="-902" y="84897"/>
                  <a:pt x="401" y="80154"/>
                  <a:pt x="3841" y="77282"/>
                </a:cubicBezTo>
                <a:lnTo>
                  <a:pt x="100026" y="-2872"/>
                </a:lnTo>
                <a:cubicBezTo>
                  <a:pt x="103800" y="-6012"/>
                  <a:pt x="109177" y="-6179"/>
                  <a:pt x="113151" y="-3306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69481" y="5429116"/>
            <a:ext cx="4847731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6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性能优势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1386" y="5805307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29330" y="5771108"/>
            <a:ext cx="2804331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单步计算:</a:t>
            </a:r>
            <a:r>
              <a:rPr lang="en-US" sz="107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只需处理1个新Token,而非整个序列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1386" y="6130199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29330" y="6096000"/>
            <a:ext cx="2479439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复杂度O(N):</a:t>
            </a:r>
            <a:r>
              <a:rPr lang="en-US" sz="107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计算量随序列长度线性增长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1386" y="6455091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29330" y="6420892"/>
            <a:ext cx="2393941" cy="22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避免重复:</a:t>
            </a:r>
            <a:r>
              <a:rPr lang="en-US" sz="107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历史Token的K/V从缓存读取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22325" y="1338042"/>
            <a:ext cx="5822407" cy="5514614"/>
          </a:xfrm>
          <a:custGeom>
            <a:avLst/>
            <a:gdLst/>
            <a:ahLst/>
            <a:cxnLst/>
            <a:rect l="l" t="t" r="r" b="b"/>
            <a:pathLst>
              <a:path w="5822407" h="5514614">
                <a:moveTo>
                  <a:pt x="102572" y="0"/>
                </a:moveTo>
                <a:lnTo>
                  <a:pt x="5719835" y="0"/>
                </a:lnTo>
                <a:cubicBezTo>
                  <a:pt x="5776484" y="0"/>
                  <a:pt x="5822407" y="45923"/>
                  <a:pt x="5822407" y="102572"/>
                </a:cubicBezTo>
                <a:lnTo>
                  <a:pt x="5822407" y="5412042"/>
                </a:lnTo>
                <a:cubicBezTo>
                  <a:pt x="5822407" y="5468691"/>
                  <a:pt x="5776484" y="5514614"/>
                  <a:pt x="5719835" y="5514614"/>
                </a:cubicBezTo>
                <a:lnTo>
                  <a:pt x="102572" y="5514614"/>
                </a:lnTo>
                <a:cubicBezTo>
                  <a:pt x="45923" y="5514614"/>
                  <a:pt x="0" y="5468691"/>
                  <a:pt x="0" y="5412042"/>
                </a:cubicBezTo>
                <a:lnTo>
                  <a:pt x="0" y="102572"/>
                </a:lnTo>
                <a:cubicBezTo>
                  <a:pt x="0" y="45961"/>
                  <a:pt x="45961" y="0"/>
                  <a:pt x="102572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9A44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193321" y="1547512"/>
            <a:ext cx="5480415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Decode阶段流程图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236070" y="6254171"/>
            <a:ext cx="5394917" cy="384741"/>
          </a:xfrm>
          <a:custGeom>
            <a:avLst/>
            <a:gdLst/>
            <a:ahLst/>
            <a:cxnLst/>
            <a:rect l="l" t="t" r="r" b="b"/>
            <a:pathLst>
              <a:path w="5394917" h="384741">
                <a:moveTo>
                  <a:pt x="68399" y="0"/>
                </a:moveTo>
                <a:lnTo>
                  <a:pt x="5326518" y="0"/>
                </a:lnTo>
                <a:cubicBezTo>
                  <a:pt x="5364294" y="0"/>
                  <a:pt x="5394917" y="30623"/>
                  <a:pt x="5394917" y="68399"/>
                </a:cubicBezTo>
                <a:lnTo>
                  <a:pt x="5394917" y="316341"/>
                </a:lnTo>
                <a:cubicBezTo>
                  <a:pt x="5394917" y="354117"/>
                  <a:pt x="5364294" y="384741"/>
                  <a:pt x="5326518" y="384741"/>
                </a:cubicBezTo>
                <a:lnTo>
                  <a:pt x="68399" y="384741"/>
                </a:lnTo>
                <a:cubicBezTo>
                  <a:pt x="30623" y="384741"/>
                  <a:pt x="0" y="354117"/>
                  <a:pt x="0" y="316341"/>
                </a:cubicBezTo>
                <a:lnTo>
                  <a:pt x="0" y="68399"/>
                </a:lnTo>
                <a:cubicBezTo>
                  <a:pt x="0" y="30623"/>
                  <a:pt x="30623" y="0"/>
                  <a:pt x="6839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9A44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6"/>
          <p:cNvSpPr/>
          <p:nvPr/>
        </p:nvSpPr>
        <p:spPr>
          <a:xfrm>
            <a:off x="7509521" y="6386693"/>
            <a:ext cx="89773" cy="119697"/>
          </a:xfrm>
          <a:custGeom>
            <a:avLst/>
            <a:gdLst/>
            <a:ahLst/>
            <a:cxnLst/>
            <a:rect l="l" t="t" r="r" b="b"/>
            <a:pathLst>
              <a:path w="89773" h="119697">
                <a:moveTo>
                  <a:pt x="68475" y="89773"/>
                </a:moveTo>
                <a:cubicBezTo>
                  <a:pt x="70182" y="84559"/>
                  <a:pt x="73595" y="79837"/>
                  <a:pt x="77452" y="75769"/>
                </a:cubicBezTo>
                <a:cubicBezTo>
                  <a:pt x="85097" y="67727"/>
                  <a:pt x="89773" y="56856"/>
                  <a:pt x="89773" y="44886"/>
                </a:cubicBezTo>
                <a:cubicBezTo>
                  <a:pt x="89773" y="20105"/>
                  <a:pt x="69667" y="0"/>
                  <a:pt x="44886" y="0"/>
                </a:cubicBezTo>
                <a:cubicBezTo>
                  <a:pt x="20105" y="0"/>
                  <a:pt x="0" y="20105"/>
                  <a:pt x="0" y="44886"/>
                </a:cubicBezTo>
                <a:cubicBezTo>
                  <a:pt x="0" y="56856"/>
                  <a:pt x="4676" y="67727"/>
                  <a:pt x="12320" y="75769"/>
                </a:cubicBezTo>
                <a:cubicBezTo>
                  <a:pt x="16178" y="79837"/>
                  <a:pt x="19614" y="84559"/>
                  <a:pt x="21298" y="89773"/>
                </a:cubicBezTo>
                <a:lnTo>
                  <a:pt x="68452" y="89773"/>
                </a:lnTo>
                <a:close/>
                <a:moveTo>
                  <a:pt x="67330" y="100994"/>
                </a:moveTo>
                <a:lnTo>
                  <a:pt x="22443" y="100994"/>
                </a:lnTo>
                <a:lnTo>
                  <a:pt x="22443" y="104735"/>
                </a:lnTo>
                <a:cubicBezTo>
                  <a:pt x="22443" y="115068"/>
                  <a:pt x="30813" y="123438"/>
                  <a:pt x="41146" y="123438"/>
                </a:cubicBezTo>
                <a:lnTo>
                  <a:pt x="48627" y="123438"/>
                </a:lnTo>
                <a:cubicBezTo>
                  <a:pt x="58960" y="123438"/>
                  <a:pt x="67330" y="115068"/>
                  <a:pt x="67330" y="104735"/>
                </a:cubicBezTo>
                <a:lnTo>
                  <a:pt x="67330" y="100994"/>
                </a:lnTo>
                <a:close/>
                <a:moveTo>
                  <a:pt x="43016" y="26184"/>
                </a:moveTo>
                <a:cubicBezTo>
                  <a:pt x="33712" y="26184"/>
                  <a:pt x="26184" y="33712"/>
                  <a:pt x="26184" y="43016"/>
                </a:cubicBezTo>
                <a:cubicBezTo>
                  <a:pt x="26184" y="46125"/>
                  <a:pt x="23682" y="48627"/>
                  <a:pt x="20573" y="48627"/>
                </a:cubicBezTo>
                <a:cubicBezTo>
                  <a:pt x="17464" y="48627"/>
                  <a:pt x="14962" y="46125"/>
                  <a:pt x="14962" y="43016"/>
                </a:cubicBezTo>
                <a:cubicBezTo>
                  <a:pt x="14962" y="27516"/>
                  <a:pt x="27516" y="14962"/>
                  <a:pt x="43016" y="14962"/>
                </a:cubicBezTo>
                <a:cubicBezTo>
                  <a:pt x="46125" y="14962"/>
                  <a:pt x="48627" y="17464"/>
                  <a:pt x="48627" y="20573"/>
                </a:cubicBezTo>
                <a:cubicBezTo>
                  <a:pt x="48627" y="23682"/>
                  <a:pt x="46125" y="26184"/>
                  <a:pt x="43016" y="26184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6512960" y="6361043"/>
            <a:ext cx="5041078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仅输入新Token,计算后追加到Cache,避免重复计算</a:t>
            </a:r>
            <a:endParaRPr lang="en-US" sz="1600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2CA93A5D-67DC-6B28-17AD-256875FF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630" y="2323943"/>
            <a:ext cx="5427796" cy="302769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86723" y="-180489"/>
            <a:ext cx="7219541" cy="7219541"/>
          </a:xfrm>
          <a:custGeom>
            <a:avLst/>
            <a:gdLst/>
            <a:ahLst/>
            <a:cxnLst/>
            <a:rect l="l" t="t" r="r" b="b"/>
            <a:pathLst>
              <a:path w="7219541" h="7219541">
                <a:moveTo>
                  <a:pt x="3609771" y="0"/>
                </a:moveTo>
                <a:lnTo>
                  <a:pt x="3609771" y="0"/>
                </a:lnTo>
                <a:cubicBezTo>
                  <a:pt x="5603392" y="0"/>
                  <a:pt x="7219541" y="1616149"/>
                  <a:pt x="7219541" y="3609771"/>
                </a:cubicBezTo>
                <a:lnTo>
                  <a:pt x="7219541" y="3609771"/>
                </a:lnTo>
                <a:cubicBezTo>
                  <a:pt x="7219541" y="5603392"/>
                  <a:pt x="5603392" y="7219541"/>
                  <a:pt x="3609771" y="7219541"/>
                </a:cubicBezTo>
                <a:lnTo>
                  <a:pt x="3609771" y="7219541"/>
                </a:lnTo>
                <a:cubicBezTo>
                  <a:pt x="1616149" y="7219541"/>
                  <a:pt x="0" y="5603392"/>
                  <a:pt x="0" y="3609771"/>
                </a:cubicBezTo>
                <a:lnTo>
                  <a:pt x="0" y="3609771"/>
                </a:lnTo>
                <a:cubicBezTo>
                  <a:pt x="0" y="1616149"/>
                  <a:pt x="1616149" y="0"/>
                  <a:pt x="3609770" y="0"/>
                </a:cubicBezTo>
                <a:close/>
              </a:path>
            </a:pathLst>
          </a:custGeom>
          <a:solidFill>
            <a:srgbClr val="D9A443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489" y="1813910"/>
            <a:ext cx="1353664" cy="406099"/>
          </a:xfrm>
          <a:custGeom>
            <a:avLst/>
            <a:gdLst/>
            <a:ahLst/>
            <a:cxnLst/>
            <a:rect l="l" t="t" r="r" b="b"/>
            <a:pathLst>
              <a:path w="1353664" h="406099">
                <a:moveTo>
                  <a:pt x="203050" y="0"/>
                </a:moveTo>
                <a:lnTo>
                  <a:pt x="1150614" y="0"/>
                </a:lnTo>
                <a:cubicBezTo>
                  <a:pt x="1262756" y="0"/>
                  <a:pt x="1353664" y="90908"/>
                  <a:pt x="1353664" y="203050"/>
                </a:cubicBezTo>
                <a:lnTo>
                  <a:pt x="1353664" y="203050"/>
                </a:lnTo>
                <a:cubicBezTo>
                  <a:pt x="1353664" y="315191"/>
                  <a:pt x="1262756" y="406099"/>
                  <a:pt x="1150614" y="406099"/>
                </a:cubicBezTo>
                <a:lnTo>
                  <a:pt x="203050" y="406099"/>
                </a:lnTo>
                <a:cubicBezTo>
                  <a:pt x="90983" y="406099"/>
                  <a:pt x="0" y="315116"/>
                  <a:pt x="0" y="203050"/>
                </a:cubicBezTo>
                <a:lnTo>
                  <a:pt x="0" y="203050"/>
                </a:lnTo>
                <a:cubicBezTo>
                  <a:pt x="0" y="90983"/>
                  <a:pt x="90983" y="0"/>
                  <a:pt x="20305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 w="12700">
            <a:solidFill>
              <a:srgbClr val="D9A44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0977" y="1809397"/>
            <a:ext cx="1425859" cy="397075"/>
          </a:xfrm>
          <a:prstGeom prst="rect">
            <a:avLst/>
          </a:prstGeom>
          <a:noFill/>
          <a:ln/>
        </p:spPr>
        <p:txBody>
          <a:bodyPr wrap="square" lIns="144391" tIns="72195" rIns="144391" bIns="72195" rtlCol="0" anchor="ctr"/>
          <a:lstStyle/>
          <a:p>
            <a:pPr>
              <a:lnSpc>
                <a:spcPct val="130000"/>
              </a:lnSpc>
            </a:pPr>
            <a:r>
              <a:rPr lang="en-US" sz="1279" b="1" kern="0" spc="64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0977" y="2441107"/>
            <a:ext cx="11740779" cy="135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显存占用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0977" y="4011358"/>
            <a:ext cx="6172708" cy="35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5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速度的代价:理解显存消耗的结构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0977" y="4904776"/>
            <a:ext cx="577563" cy="36098"/>
          </a:xfrm>
          <a:custGeom>
            <a:avLst/>
            <a:gdLst/>
            <a:ahLst/>
            <a:cxnLst/>
            <a:rect l="l" t="t" r="r" b="b"/>
            <a:pathLst>
              <a:path w="577563" h="36098">
                <a:moveTo>
                  <a:pt x="0" y="0"/>
                </a:moveTo>
                <a:lnTo>
                  <a:pt x="577563" y="0"/>
                </a:lnTo>
                <a:lnTo>
                  <a:pt x="577563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2931" y="4796483"/>
            <a:ext cx="238244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 Consumption Analysis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977" y="360977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62502" y="460246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20305" y="20305"/>
                </a:moveTo>
                <a:cubicBezTo>
                  <a:pt x="9106" y="20305"/>
                  <a:pt x="0" y="29410"/>
                  <a:pt x="0" y="40610"/>
                </a:cubicBezTo>
                <a:lnTo>
                  <a:pt x="0" y="42958"/>
                </a:lnTo>
                <a:cubicBezTo>
                  <a:pt x="0" y="45115"/>
                  <a:pt x="1396" y="46955"/>
                  <a:pt x="3204" y="48129"/>
                </a:cubicBezTo>
                <a:cubicBezTo>
                  <a:pt x="7392" y="50858"/>
                  <a:pt x="10152" y="55553"/>
                  <a:pt x="10152" y="60915"/>
                </a:cubicBezTo>
                <a:cubicBezTo>
                  <a:pt x="10152" y="66277"/>
                  <a:pt x="7392" y="70972"/>
                  <a:pt x="3204" y="73701"/>
                </a:cubicBezTo>
                <a:cubicBezTo>
                  <a:pt x="1396" y="74875"/>
                  <a:pt x="0" y="76715"/>
                  <a:pt x="0" y="78872"/>
                </a:cubicBezTo>
                <a:lnTo>
                  <a:pt x="0" y="96449"/>
                </a:lnTo>
                <a:lnTo>
                  <a:pt x="162440" y="96449"/>
                </a:lnTo>
                <a:lnTo>
                  <a:pt x="162440" y="78872"/>
                </a:lnTo>
                <a:cubicBezTo>
                  <a:pt x="162440" y="76715"/>
                  <a:pt x="161044" y="74875"/>
                  <a:pt x="159235" y="73701"/>
                </a:cubicBezTo>
                <a:cubicBezTo>
                  <a:pt x="155047" y="70972"/>
                  <a:pt x="152287" y="66277"/>
                  <a:pt x="152287" y="60915"/>
                </a:cubicBezTo>
                <a:cubicBezTo>
                  <a:pt x="152287" y="55553"/>
                  <a:pt x="155047" y="50858"/>
                  <a:pt x="159235" y="48129"/>
                </a:cubicBezTo>
                <a:cubicBezTo>
                  <a:pt x="161044" y="46955"/>
                  <a:pt x="162440" y="45115"/>
                  <a:pt x="162440" y="42958"/>
                </a:cubicBezTo>
                <a:lnTo>
                  <a:pt x="162440" y="40610"/>
                </a:lnTo>
                <a:cubicBezTo>
                  <a:pt x="162440" y="29410"/>
                  <a:pt x="153334" y="20305"/>
                  <a:pt x="142135" y="20305"/>
                </a:cubicBezTo>
                <a:lnTo>
                  <a:pt x="20305" y="20305"/>
                </a:lnTo>
                <a:close/>
                <a:moveTo>
                  <a:pt x="162440" y="131982"/>
                </a:moveTo>
                <a:lnTo>
                  <a:pt x="162440" y="111677"/>
                </a:lnTo>
                <a:lnTo>
                  <a:pt x="0" y="111677"/>
                </a:lnTo>
                <a:lnTo>
                  <a:pt x="0" y="131982"/>
                </a:lnTo>
                <a:cubicBezTo>
                  <a:pt x="0" y="137598"/>
                  <a:pt x="4537" y="142135"/>
                  <a:pt x="10152" y="142135"/>
                </a:cubicBezTo>
                <a:lnTo>
                  <a:pt x="30457" y="142135"/>
                </a:lnTo>
                <a:lnTo>
                  <a:pt x="30457" y="134520"/>
                </a:lnTo>
                <a:cubicBezTo>
                  <a:pt x="30457" y="130301"/>
                  <a:pt x="33852" y="126906"/>
                  <a:pt x="38072" y="126906"/>
                </a:cubicBezTo>
                <a:cubicBezTo>
                  <a:pt x="42291" y="126906"/>
                  <a:pt x="45686" y="130301"/>
                  <a:pt x="45686" y="134520"/>
                </a:cubicBezTo>
                <a:lnTo>
                  <a:pt x="45686" y="142135"/>
                </a:lnTo>
                <a:lnTo>
                  <a:pt x="73605" y="142135"/>
                </a:lnTo>
                <a:lnTo>
                  <a:pt x="73605" y="134520"/>
                </a:lnTo>
                <a:cubicBezTo>
                  <a:pt x="73605" y="130301"/>
                  <a:pt x="77000" y="126906"/>
                  <a:pt x="81220" y="126906"/>
                </a:cubicBezTo>
                <a:cubicBezTo>
                  <a:pt x="85439" y="126906"/>
                  <a:pt x="88834" y="130301"/>
                  <a:pt x="88834" y="134520"/>
                </a:cubicBezTo>
                <a:lnTo>
                  <a:pt x="88834" y="142135"/>
                </a:lnTo>
                <a:lnTo>
                  <a:pt x="116754" y="142135"/>
                </a:lnTo>
                <a:lnTo>
                  <a:pt x="116754" y="134520"/>
                </a:lnTo>
                <a:cubicBezTo>
                  <a:pt x="116754" y="130301"/>
                  <a:pt x="120148" y="126906"/>
                  <a:pt x="124368" y="126906"/>
                </a:cubicBezTo>
                <a:cubicBezTo>
                  <a:pt x="128588" y="126906"/>
                  <a:pt x="131982" y="130301"/>
                  <a:pt x="131982" y="134520"/>
                </a:cubicBezTo>
                <a:lnTo>
                  <a:pt x="131982" y="142135"/>
                </a:lnTo>
                <a:lnTo>
                  <a:pt x="152287" y="142135"/>
                </a:lnTo>
                <a:cubicBezTo>
                  <a:pt x="157903" y="142135"/>
                  <a:pt x="162440" y="137598"/>
                  <a:pt x="162440" y="131982"/>
                </a:cubicBezTo>
                <a:close/>
                <a:moveTo>
                  <a:pt x="50762" y="50762"/>
                </a:moveTo>
                <a:lnTo>
                  <a:pt x="50762" y="71067"/>
                </a:lnTo>
                <a:cubicBezTo>
                  <a:pt x="50762" y="76683"/>
                  <a:pt x="46226" y="81220"/>
                  <a:pt x="40610" y="81220"/>
                </a:cubicBezTo>
                <a:cubicBezTo>
                  <a:pt x="34994" y="81220"/>
                  <a:pt x="30457" y="76683"/>
                  <a:pt x="30457" y="71067"/>
                </a:cubicBezTo>
                <a:lnTo>
                  <a:pt x="30457" y="50762"/>
                </a:lnTo>
                <a:cubicBezTo>
                  <a:pt x="30457" y="45147"/>
                  <a:pt x="34994" y="40610"/>
                  <a:pt x="40610" y="40610"/>
                </a:cubicBezTo>
                <a:cubicBezTo>
                  <a:pt x="46226" y="40610"/>
                  <a:pt x="50762" y="45147"/>
                  <a:pt x="50762" y="50762"/>
                </a:cubicBezTo>
                <a:close/>
                <a:moveTo>
                  <a:pt x="91372" y="50762"/>
                </a:moveTo>
                <a:lnTo>
                  <a:pt x="91372" y="71067"/>
                </a:lnTo>
                <a:cubicBezTo>
                  <a:pt x="91372" y="76683"/>
                  <a:pt x="86835" y="81220"/>
                  <a:pt x="81220" y="81220"/>
                </a:cubicBezTo>
                <a:cubicBezTo>
                  <a:pt x="75604" y="81220"/>
                  <a:pt x="71067" y="76683"/>
                  <a:pt x="71067" y="71067"/>
                </a:cubicBezTo>
                <a:lnTo>
                  <a:pt x="71067" y="50762"/>
                </a:lnTo>
                <a:cubicBezTo>
                  <a:pt x="71067" y="45147"/>
                  <a:pt x="75604" y="40610"/>
                  <a:pt x="81220" y="40610"/>
                </a:cubicBezTo>
                <a:cubicBezTo>
                  <a:pt x="86835" y="40610"/>
                  <a:pt x="91372" y="45147"/>
                  <a:pt x="91372" y="50762"/>
                </a:cubicBezTo>
                <a:close/>
                <a:moveTo>
                  <a:pt x="131982" y="50762"/>
                </a:moveTo>
                <a:lnTo>
                  <a:pt x="131982" y="71067"/>
                </a:lnTo>
                <a:cubicBezTo>
                  <a:pt x="131982" y="76683"/>
                  <a:pt x="127445" y="81220"/>
                  <a:pt x="121830" y="81220"/>
                </a:cubicBezTo>
                <a:cubicBezTo>
                  <a:pt x="116214" y="81220"/>
                  <a:pt x="111677" y="76683"/>
                  <a:pt x="111677" y="71067"/>
                </a:cubicBezTo>
                <a:lnTo>
                  <a:pt x="111677" y="50762"/>
                </a:lnTo>
                <a:cubicBezTo>
                  <a:pt x="111677" y="45147"/>
                  <a:pt x="116214" y="40610"/>
                  <a:pt x="121830" y="40610"/>
                </a:cubicBezTo>
                <a:cubicBezTo>
                  <a:pt x="127445" y="40610"/>
                  <a:pt x="131982" y="45147"/>
                  <a:pt x="131982" y="50762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30247" y="451221"/>
            <a:ext cx="89341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kern="0" spc="50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03.1 显存构成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0977" y="830247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显存占用的三重构成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489" y="1412323"/>
            <a:ext cx="5360509" cy="3943674"/>
          </a:xfrm>
          <a:custGeom>
            <a:avLst/>
            <a:gdLst/>
            <a:ahLst/>
            <a:cxnLst/>
            <a:rect l="l" t="t" r="r" b="b"/>
            <a:pathLst>
              <a:path w="5360509" h="3943674">
                <a:moveTo>
                  <a:pt x="108293" y="0"/>
                </a:moveTo>
                <a:lnTo>
                  <a:pt x="5252216" y="0"/>
                </a:lnTo>
                <a:cubicBezTo>
                  <a:pt x="5312025" y="0"/>
                  <a:pt x="5360509" y="48485"/>
                  <a:pt x="5360509" y="108293"/>
                </a:cubicBezTo>
                <a:lnTo>
                  <a:pt x="5360509" y="3835381"/>
                </a:lnTo>
                <a:cubicBezTo>
                  <a:pt x="5360509" y="3895190"/>
                  <a:pt x="5312025" y="3943674"/>
                  <a:pt x="5252216" y="3943674"/>
                </a:cubicBezTo>
                <a:lnTo>
                  <a:pt x="108293" y="3943674"/>
                </a:lnTo>
                <a:cubicBezTo>
                  <a:pt x="48485" y="3943674"/>
                  <a:pt x="0" y="3895190"/>
                  <a:pt x="0" y="3835381"/>
                </a:cubicBezTo>
                <a:lnTo>
                  <a:pt x="0" y="108293"/>
                </a:lnTo>
                <a:cubicBezTo>
                  <a:pt x="0" y="48485"/>
                  <a:pt x="48485" y="0"/>
                  <a:pt x="10829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09149" y="1669519"/>
            <a:ext cx="180489" cy="180489"/>
          </a:xfrm>
          <a:custGeom>
            <a:avLst/>
            <a:gdLst/>
            <a:ahLst/>
            <a:cxnLst/>
            <a:rect l="l" t="t" r="r" b="b"/>
            <a:pathLst>
              <a:path w="180489" h="180489">
                <a:moveTo>
                  <a:pt x="81960" y="1833"/>
                </a:moveTo>
                <a:cubicBezTo>
                  <a:pt x="87213" y="-599"/>
                  <a:pt x="93276" y="-599"/>
                  <a:pt x="98528" y="1833"/>
                </a:cubicBezTo>
                <a:lnTo>
                  <a:pt x="175589" y="37437"/>
                </a:lnTo>
                <a:cubicBezTo>
                  <a:pt x="178585" y="38812"/>
                  <a:pt x="180489" y="41808"/>
                  <a:pt x="180489" y="45122"/>
                </a:cubicBezTo>
                <a:cubicBezTo>
                  <a:pt x="180489" y="48436"/>
                  <a:pt x="178585" y="51432"/>
                  <a:pt x="175589" y="52807"/>
                </a:cubicBezTo>
                <a:lnTo>
                  <a:pt x="98528" y="88411"/>
                </a:lnTo>
                <a:cubicBezTo>
                  <a:pt x="93276" y="90844"/>
                  <a:pt x="87213" y="90844"/>
                  <a:pt x="81960" y="88411"/>
                </a:cubicBezTo>
                <a:lnTo>
                  <a:pt x="4900" y="52807"/>
                </a:lnTo>
                <a:cubicBezTo>
                  <a:pt x="1904" y="51397"/>
                  <a:pt x="0" y="48401"/>
                  <a:pt x="0" y="45122"/>
                </a:cubicBezTo>
                <a:cubicBezTo>
                  <a:pt x="0" y="41844"/>
                  <a:pt x="1904" y="38812"/>
                  <a:pt x="4900" y="37437"/>
                </a:cubicBezTo>
                <a:lnTo>
                  <a:pt x="81960" y="1833"/>
                </a:lnTo>
                <a:close/>
                <a:moveTo>
                  <a:pt x="16956" y="76990"/>
                </a:moveTo>
                <a:lnTo>
                  <a:pt x="74875" y="103746"/>
                </a:lnTo>
                <a:cubicBezTo>
                  <a:pt x="84639" y="108258"/>
                  <a:pt x="95885" y="108258"/>
                  <a:pt x="105649" y="103746"/>
                </a:cubicBezTo>
                <a:lnTo>
                  <a:pt x="163568" y="76990"/>
                </a:lnTo>
                <a:lnTo>
                  <a:pt x="175589" y="82559"/>
                </a:lnTo>
                <a:cubicBezTo>
                  <a:pt x="178585" y="83934"/>
                  <a:pt x="180489" y="86931"/>
                  <a:pt x="180489" y="90244"/>
                </a:cubicBezTo>
                <a:cubicBezTo>
                  <a:pt x="180489" y="93558"/>
                  <a:pt x="178585" y="96554"/>
                  <a:pt x="175589" y="97929"/>
                </a:cubicBezTo>
                <a:lnTo>
                  <a:pt x="98528" y="133533"/>
                </a:lnTo>
                <a:cubicBezTo>
                  <a:pt x="93276" y="135966"/>
                  <a:pt x="87213" y="135966"/>
                  <a:pt x="81960" y="133533"/>
                </a:cubicBezTo>
                <a:lnTo>
                  <a:pt x="4900" y="97929"/>
                </a:lnTo>
                <a:cubicBezTo>
                  <a:pt x="1904" y="96519"/>
                  <a:pt x="0" y="93523"/>
                  <a:pt x="0" y="90244"/>
                </a:cubicBezTo>
                <a:cubicBezTo>
                  <a:pt x="0" y="86966"/>
                  <a:pt x="1904" y="83934"/>
                  <a:pt x="4900" y="82559"/>
                </a:cubicBezTo>
                <a:lnTo>
                  <a:pt x="16921" y="76990"/>
                </a:lnTo>
                <a:close/>
                <a:moveTo>
                  <a:pt x="4900" y="127682"/>
                </a:moveTo>
                <a:lnTo>
                  <a:pt x="16921" y="122112"/>
                </a:lnTo>
                <a:lnTo>
                  <a:pt x="74839" y="148868"/>
                </a:lnTo>
                <a:cubicBezTo>
                  <a:pt x="84604" y="153380"/>
                  <a:pt x="95849" y="153380"/>
                  <a:pt x="105614" y="148868"/>
                </a:cubicBezTo>
                <a:lnTo>
                  <a:pt x="163532" y="122112"/>
                </a:lnTo>
                <a:lnTo>
                  <a:pt x="175553" y="127682"/>
                </a:lnTo>
                <a:cubicBezTo>
                  <a:pt x="178550" y="129056"/>
                  <a:pt x="180453" y="132053"/>
                  <a:pt x="180453" y="135366"/>
                </a:cubicBezTo>
                <a:cubicBezTo>
                  <a:pt x="180453" y="138680"/>
                  <a:pt x="178550" y="141676"/>
                  <a:pt x="175553" y="143051"/>
                </a:cubicBezTo>
                <a:lnTo>
                  <a:pt x="98493" y="178655"/>
                </a:lnTo>
                <a:cubicBezTo>
                  <a:pt x="93241" y="181088"/>
                  <a:pt x="87177" y="181088"/>
                  <a:pt x="81925" y="178655"/>
                </a:cubicBezTo>
                <a:lnTo>
                  <a:pt x="4900" y="143051"/>
                </a:lnTo>
                <a:cubicBezTo>
                  <a:pt x="1904" y="141641"/>
                  <a:pt x="0" y="138645"/>
                  <a:pt x="0" y="135366"/>
                </a:cubicBezTo>
                <a:cubicBezTo>
                  <a:pt x="0" y="132088"/>
                  <a:pt x="1904" y="129056"/>
                  <a:pt x="4900" y="127682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12198" y="1633421"/>
            <a:ext cx="478294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显存占用结构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6588" y="2030496"/>
            <a:ext cx="4990508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在LLM推理中,显存主要被以下</a:t>
            </a:r>
            <a:r>
              <a:rPr lang="en-US" sz="1137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三部分</a:t>
            </a:r>
            <a:r>
              <a:rPr lang="en-US" sz="113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占用。KV Cache虽然极大地提升了推理速度,但这种"空间换时间"的做法也带来了显著的显存开销。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4637" y="2644157"/>
            <a:ext cx="4900264" cy="758052"/>
          </a:xfrm>
          <a:custGeom>
            <a:avLst/>
            <a:gdLst/>
            <a:ahLst/>
            <a:cxnLst/>
            <a:rect l="l" t="t" r="r" b="b"/>
            <a:pathLst>
              <a:path w="4900264" h="758052">
                <a:moveTo>
                  <a:pt x="0" y="0"/>
                </a:moveTo>
                <a:lnTo>
                  <a:pt x="4828067" y="0"/>
                </a:lnTo>
                <a:cubicBezTo>
                  <a:pt x="4867940" y="0"/>
                  <a:pt x="4900264" y="32324"/>
                  <a:pt x="4900264" y="72197"/>
                </a:cubicBezTo>
                <a:lnTo>
                  <a:pt x="4900264" y="685855"/>
                </a:lnTo>
                <a:cubicBezTo>
                  <a:pt x="4900264" y="725728"/>
                  <a:pt x="4867940" y="758052"/>
                  <a:pt x="4828067" y="758052"/>
                </a:cubicBezTo>
                <a:lnTo>
                  <a:pt x="0" y="75805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04637" y="2644157"/>
            <a:ext cx="36098" cy="758052"/>
          </a:xfrm>
          <a:custGeom>
            <a:avLst/>
            <a:gdLst/>
            <a:ahLst/>
            <a:cxnLst/>
            <a:rect l="l" t="t" r="r" b="b"/>
            <a:pathLst>
              <a:path w="36098" h="758052">
                <a:moveTo>
                  <a:pt x="0" y="0"/>
                </a:moveTo>
                <a:lnTo>
                  <a:pt x="36098" y="0"/>
                </a:lnTo>
                <a:lnTo>
                  <a:pt x="36098" y="758052"/>
                </a:lnTo>
                <a:lnTo>
                  <a:pt x="0" y="758052"/>
                </a:lnTo>
                <a:lnTo>
                  <a:pt x="0" y="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67076" y="2788548"/>
            <a:ext cx="176878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模型权重 (Model Weights)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95514" y="2788548"/>
            <a:ext cx="360977" cy="216586"/>
          </a:xfrm>
          <a:custGeom>
            <a:avLst/>
            <a:gdLst/>
            <a:ahLst/>
            <a:cxnLst/>
            <a:rect l="l" t="t" r="r" b="b"/>
            <a:pathLst>
              <a:path w="360977" h="216586">
                <a:moveTo>
                  <a:pt x="36098" y="0"/>
                </a:moveTo>
                <a:lnTo>
                  <a:pt x="324879" y="0"/>
                </a:lnTo>
                <a:cubicBezTo>
                  <a:pt x="344815" y="0"/>
                  <a:pt x="360977" y="16162"/>
                  <a:pt x="360977" y="36098"/>
                </a:cubicBezTo>
                <a:lnTo>
                  <a:pt x="360977" y="180488"/>
                </a:lnTo>
                <a:cubicBezTo>
                  <a:pt x="360977" y="200424"/>
                  <a:pt x="344815" y="216586"/>
                  <a:pt x="324879" y="216586"/>
                </a:cubicBezTo>
                <a:lnTo>
                  <a:pt x="36098" y="216586"/>
                </a:lnTo>
                <a:cubicBezTo>
                  <a:pt x="16162" y="216586"/>
                  <a:pt x="0" y="200424"/>
                  <a:pt x="0" y="180488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95514" y="2788548"/>
            <a:ext cx="415124" cy="216586"/>
          </a:xfrm>
          <a:prstGeom prst="rect">
            <a:avLst/>
          </a:prstGeom>
          <a:noFill/>
          <a:ln/>
        </p:spPr>
        <p:txBody>
          <a:bodyPr wrap="square" lIns="72195" tIns="36098" rIns="72195" bIns="36098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静态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7076" y="3077329"/>
            <a:ext cx="465660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取决于模型参数量和精度,推理期间保持不变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4637" y="3510502"/>
            <a:ext cx="4900264" cy="758052"/>
          </a:xfrm>
          <a:custGeom>
            <a:avLst/>
            <a:gdLst/>
            <a:ahLst/>
            <a:cxnLst/>
            <a:rect l="l" t="t" r="r" b="b"/>
            <a:pathLst>
              <a:path w="4900264" h="758052">
                <a:moveTo>
                  <a:pt x="0" y="0"/>
                </a:moveTo>
                <a:lnTo>
                  <a:pt x="4828067" y="0"/>
                </a:lnTo>
                <a:cubicBezTo>
                  <a:pt x="4867940" y="0"/>
                  <a:pt x="4900264" y="32324"/>
                  <a:pt x="4900264" y="72197"/>
                </a:cubicBezTo>
                <a:lnTo>
                  <a:pt x="4900264" y="685855"/>
                </a:lnTo>
                <a:cubicBezTo>
                  <a:pt x="4900264" y="725728"/>
                  <a:pt x="4867940" y="758052"/>
                  <a:pt x="4828067" y="758052"/>
                </a:cubicBezTo>
                <a:lnTo>
                  <a:pt x="0" y="75805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04637" y="3510502"/>
            <a:ext cx="36098" cy="758052"/>
          </a:xfrm>
          <a:custGeom>
            <a:avLst/>
            <a:gdLst/>
            <a:ahLst/>
            <a:cxnLst/>
            <a:rect l="l" t="t" r="r" b="b"/>
            <a:pathLst>
              <a:path w="36098" h="758052">
                <a:moveTo>
                  <a:pt x="0" y="0"/>
                </a:moveTo>
                <a:lnTo>
                  <a:pt x="36098" y="0"/>
                </a:lnTo>
                <a:lnTo>
                  <a:pt x="36098" y="758052"/>
                </a:lnTo>
                <a:lnTo>
                  <a:pt x="0" y="758052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67076" y="3654893"/>
            <a:ext cx="721954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95514" y="3654893"/>
            <a:ext cx="360977" cy="216586"/>
          </a:xfrm>
          <a:custGeom>
            <a:avLst/>
            <a:gdLst/>
            <a:ahLst/>
            <a:cxnLst/>
            <a:rect l="l" t="t" r="r" b="b"/>
            <a:pathLst>
              <a:path w="360977" h="216586">
                <a:moveTo>
                  <a:pt x="36098" y="0"/>
                </a:moveTo>
                <a:lnTo>
                  <a:pt x="324879" y="0"/>
                </a:lnTo>
                <a:cubicBezTo>
                  <a:pt x="344815" y="0"/>
                  <a:pt x="360977" y="16162"/>
                  <a:pt x="360977" y="36098"/>
                </a:cubicBezTo>
                <a:lnTo>
                  <a:pt x="360977" y="180488"/>
                </a:lnTo>
                <a:cubicBezTo>
                  <a:pt x="360977" y="200424"/>
                  <a:pt x="344815" y="216586"/>
                  <a:pt x="324879" y="216586"/>
                </a:cubicBezTo>
                <a:lnTo>
                  <a:pt x="36098" y="216586"/>
                </a:lnTo>
                <a:cubicBezTo>
                  <a:pt x="16162" y="216586"/>
                  <a:pt x="0" y="200424"/>
                  <a:pt x="0" y="180488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95514" y="3654893"/>
            <a:ext cx="415124" cy="216586"/>
          </a:xfrm>
          <a:prstGeom prst="rect">
            <a:avLst/>
          </a:prstGeom>
          <a:noFill/>
          <a:ln/>
        </p:spPr>
        <p:txBody>
          <a:bodyPr wrap="square" lIns="72195" tIns="36098" rIns="72195" bIns="36098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7076" y="3943674"/>
            <a:ext cx="465660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随序列长度和Batch Size线性增长,成为显存主力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4637" y="4376847"/>
            <a:ext cx="4900264" cy="758052"/>
          </a:xfrm>
          <a:custGeom>
            <a:avLst/>
            <a:gdLst/>
            <a:ahLst/>
            <a:cxnLst/>
            <a:rect l="l" t="t" r="r" b="b"/>
            <a:pathLst>
              <a:path w="4900264" h="758052">
                <a:moveTo>
                  <a:pt x="0" y="0"/>
                </a:moveTo>
                <a:lnTo>
                  <a:pt x="4828067" y="0"/>
                </a:lnTo>
                <a:cubicBezTo>
                  <a:pt x="4867940" y="0"/>
                  <a:pt x="4900264" y="32324"/>
                  <a:pt x="4900264" y="72197"/>
                </a:cubicBezTo>
                <a:lnTo>
                  <a:pt x="4900264" y="685855"/>
                </a:lnTo>
                <a:cubicBezTo>
                  <a:pt x="4900264" y="725728"/>
                  <a:pt x="4867940" y="758052"/>
                  <a:pt x="4828067" y="758052"/>
                </a:cubicBezTo>
                <a:lnTo>
                  <a:pt x="0" y="75805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04637" y="4376847"/>
            <a:ext cx="36098" cy="758052"/>
          </a:xfrm>
          <a:custGeom>
            <a:avLst/>
            <a:gdLst/>
            <a:ahLst/>
            <a:cxnLst/>
            <a:rect l="l" t="t" r="r" b="b"/>
            <a:pathLst>
              <a:path w="36098" h="758052">
                <a:moveTo>
                  <a:pt x="0" y="0"/>
                </a:moveTo>
                <a:lnTo>
                  <a:pt x="36098" y="0"/>
                </a:lnTo>
                <a:lnTo>
                  <a:pt x="36098" y="758052"/>
                </a:lnTo>
                <a:lnTo>
                  <a:pt x="0" y="758052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67076" y="4521238"/>
            <a:ext cx="150707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中间激活 (Activations)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95514" y="4521238"/>
            <a:ext cx="360977" cy="216586"/>
          </a:xfrm>
          <a:custGeom>
            <a:avLst/>
            <a:gdLst/>
            <a:ahLst/>
            <a:cxnLst/>
            <a:rect l="l" t="t" r="r" b="b"/>
            <a:pathLst>
              <a:path w="360977" h="216586">
                <a:moveTo>
                  <a:pt x="36098" y="0"/>
                </a:moveTo>
                <a:lnTo>
                  <a:pt x="324879" y="0"/>
                </a:lnTo>
                <a:cubicBezTo>
                  <a:pt x="344815" y="0"/>
                  <a:pt x="360977" y="16162"/>
                  <a:pt x="360977" y="36098"/>
                </a:cubicBezTo>
                <a:lnTo>
                  <a:pt x="360977" y="180488"/>
                </a:lnTo>
                <a:cubicBezTo>
                  <a:pt x="360977" y="200424"/>
                  <a:pt x="344815" y="216586"/>
                  <a:pt x="324879" y="216586"/>
                </a:cubicBezTo>
                <a:lnTo>
                  <a:pt x="36098" y="216586"/>
                </a:lnTo>
                <a:cubicBezTo>
                  <a:pt x="16162" y="216586"/>
                  <a:pt x="0" y="200424"/>
                  <a:pt x="0" y="180488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995514" y="4521238"/>
            <a:ext cx="415124" cy="216586"/>
          </a:xfrm>
          <a:prstGeom prst="rect">
            <a:avLst/>
          </a:prstGeom>
          <a:noFill/>
          <a:ln/>
        </p:spPr>
        <p:txBody>
          <a:bodyPr wrap="square" lIns="72195" tIns="36098" rIns="72195" bIns="36098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临时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7076" y="4810019"/>
            <a:ext cx="465660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推理时的临时计算缓冲区,生命周期短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489" y="5581608"/>
            <a:ext cx="5360509" cy="1272444"/>
          </a:xfrm>
          <a:custGeom>
            <a:avLst/>
            <a:gdLst/>
            <a:ahLst/>
            <a:cxnLst/>
            <a:rect l="l" t="t" r="r" b="b"/>
            <a:pathLst>
              <a:path w="5360509" h="1272444">
                <a:moveTo>
                  <a:pt x="108298" y="0"/>
                </a:moveTo>
                <a:lnTo>
                  <a:pt x="5252212" y="0"/>
                </a:lnTo>
                <a:cubicBezTo>
                  <a:pt x="5312023" y="0"/>
                  <a:pt x="5360509" y="48487"/>
                  <a:pt x="5360509" y="108298"/>
                </a:cubicBezTo>
                <a:lnTo>
                  <a:pt x="5360509" y="1164146"/>
                </a:lnTo>
                <a:cubicBezTo>
                  <a:pt x="5360509" y="1223958"/>
                  <a:pt x="5312023" y="1272444"/>
                  <a:pt x="5252212" y="1272444"/>
                </a:cubicBezTo>
                <a:lnTo>
                  <a:pt x="108298" y="1272444"/>
                </a:lnTo>
                <a:cubicBezTo>
                  <a:pt x="48487" y="1272444"/>
                  <a:pt x="0" y="1223958"/>
                  <a:pt x="0" y="1164146"/>
                </a:cubicBezTo>
                <a:lnTo>
                  <a:pt x="0" y="108298"/>
                </a:lnTo>
                <a:cubicBezTo>
                  <a:pt x="0" y="48527"/>
                  <a:pt x="48527" y="0"/>
                  <a:pt x="10829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09149" y="5838804"/>
            <a:ext cx="180489" cy="180489"/>
          </a:xfrm>
          <a:custGeom>
            <a:avLst/>
            <a:gdLst/>
            <a:ahLst/>
            <a:cxnLst/>
            <a:rect l="l" t="t" r="r" b="b"/>
            <a:pathLst>
              <a:path w="180489" h="180489">
                <a:moveTo>
                  <a:pt x="90244" y="0"/>
                </a:moveTo>
                <a:cubicBezTo>
                  <a:pt x="95426" y="0"/>
                  <a:pt x="100185" y="2855"/>
                  <a:pt x="102653" y="7403"/>
                </a:cubicBezTo>
                <a:lnTo>
                  <a:pt x="178796" y="148410"/>
                </a:lnTo>
                <a:cubicBezTo>
                  <a:pt x="181158" y="152781"/>
                  <a:pt x="181053" y="158068"/>
                  <a:pt x="178514" y="162334"/>
                </a:cubicBezTo>
                <a:cubicBezTo>
                  <a:pt x="175976" y="166599"/>
                  <a:pt x="171358" y="169208"/>
                  <a:pt x="166388" y="169208"/>
                </a:cubicBezTo>
                <a:lnTo>
                  <a:pt x="14101" y="169208"/>
                </a:lnTo>
                <a:cubicBezTo>
                  <a:pt x="9130" y="169208"/>
                  <a:pt x="4547" y="166599"/>
                  <a:pt x="1974" y="162334"/>
                </a:cubicBezTo>
                <a:cubicBezTo>
                  <a:pt x="-599" y="158068"/>
                  <a:pt x="-670" y="152781"/>
                  <a:pt x="1692" y="148410"/>
                </a:cubicBezTo>
                <a:lnTo>
                  <a:pt x="77836" y="7403"/>
                </a:lnTo>
                <a:cubicBezTo>
                  <a:pt x="80303" y="2855"/>
                  <a:pt x="85062" y="0"/>
                  <a:pt x="90244" y="0"/>
                </a:cubicBezTo>
                <a:close/>
                <a:moveTo>
                  <a:pt x="90244" y="59223"/>
                </a:moveTo>
                <a:cubicBezTo>
                  <a:pt x="85556" y="59223"/>
                  <a:pt x="81784" y="62995"/>
                  <a:pt x="81784" y="67683"/>
                </a:cubicBezTo>
                <a:lnTo>
                  <a:pt x="81784" y="107165"/>
                </a:lnTo>
                <a:cubicBezTo>
                  <a:pt x="81784" y="111854"/>
                  <a:pt x="85556" y="115625"/>
                  <a:pt x="90244" y="115625"/>
                </a:cubicBezTo>
                <a:cubicBezTo>
                  <a:pt x="94933" y="115625"/>
                  <a:pt x="98705" y="111854"/>
                  <a:pt x="98705" y="107165"/>
                </a:cubicBezTo>
                <a:lnTo>
                  <a:pt x="98705" y="67683"/>
                </a:lnTo>
                <a:cubicBezTo>
                  <a:pt x="98705" y="62995"/>
                  <a:pt x="94933" y="59223"/>
                  <a:pt x="90244" y="59223"/>
                </a:cubicBezTo>
                <a:close/>
                <a:moveTo>
                  <a:pt x="99656" y="135366"/>
                </a:moveTo>
                <a:cubicBezTo>
                  <a:pt x="99871" y="131873"/>
                  <a:pt x="98128" y="128549"/>
                  <a:pt x="95133" y="126737"/>
                </a:cubicBezTo>
                <a:cubicBezTo>
                  <a:pt x="92138" y="124926"/>
                  <a:pt x="88385" y="124926"/>
                  <a:pt x="85390" y="126737"/>
                </a:cubicBezTo>
                <a:cubicBezTo>
                  <a:pt x="82396" y="128549"/>
                  <a:pt x="80653" y="131873"/>
                  <a:pt x="80867" y="135366"/>
                </a:cubicBezTo>
                <a:cubicBezTo>
                  <a:pt x="80653" y="138860"/>
                  <a:pt x="82396" y="142184"/>
                  <a:pt x="85390" y="143996"/>
                </a:cubicBezTo>
                <a:cubicBezTo>
                  <a:pt x="88385" y="145807"/>
                  <a:pt x="92138" y="145807"/>
                  <a:pt x="95133" y="143996"/>
                </a:cubicBezTo>
                <a:cubicBezTo>
                  <a:pt x="98128" y="142184"/>
                  <a:pt x="99871" y="138860"/>
                  <a:pt x="99656" y="135366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12198" y="5802706"/>
            <a:ext cx="478294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6588" y="6163683"/>
            <a:ext cx="4990508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随着并发请求数(Batch Size)和上下文序列长度的增加,</a:t>
            </a:r>
            <a:r>
              <a:rPr lang="en-US" sz="1137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动态增长的KV Cache</a:t>
            </a:r>
            <a:r>
              <a:rPr lang="en-US" sz="113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会占用大量GPU显存,成为制约系统吞吐量的</a:t>
            </a:r>
            <a:r>
              <a:rPr lang="en-US" sz="1137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核心瓶颈</a:t>
            </a:r>
            <a:r>
              <a:rPr lang="en-US" sz="1137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19786" y="1412323"/>
            <a:ext cx="5811731" cy="5441729"/>
          </a:xfrm>
          <a:custGeom>
            <a:avLst/>
            <a:gdLst/>
            <a:ahLst/>
            <a:cxnLst/>
            <a:rect l="l" t="t" r="r" b="b"/>
            <a:pathLst>
              <a:path w="5811731" h="5441729">
                <a:moveTo>
                  <a:pt x="108290" y="0"/>
                </a:moveTo>
                <a:lnTo>
                  <a:pt x="5703440" y="0"/>
                </a:lnTo>
                <a:cubicBezTo>
                  <a:pt x="5763247" y="0"/>
                  <a:pt x="5811731" y="48483"/>
                  <a:pt x="5811731" y="108290"/>
                </a:cubicBezTo>
                <a:lnTo>
                  <a:pt x="5811731" y="5333439"/>
                </a:lnTo>
                <a:cubicBezTo>
                  <a:pt x="5811731" y="5393246"/>
                  <a:pt x="5763247" y="5441729"/>
                  <a:pt x="5703440" y="5441729"/>
                </a:cubicBezTo>
                <a:lnTo>
                  <a:pt x="108290" y="5441729"/>
                </a:lnTo>
                <a:cubicBezTo>
                  <a:pt x="48483" y="5441729"/>
                  <a:pt x="0" y="5393246"/>
                  <a:pt x="0" y="5333439"/>
                </a:cubicBezTo>
                <a:lnTo>
                  <a:pt x="0" y="108290"/>
                </a:lnTo>
                <a:cubicBezTo>
                  <a:pt x="0" y="48523"/>
                  <a:pt x="48523" y="0"/>
                  <a:pt x="108290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9A44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200274" y="1633421"/>
            <a:ext cx="5450754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9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显存占用构成示意图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258933" y="5297338"/>
            <a:ext cx="5351485" cy="397075"/>
          </a:xfrm>
          <a:custGeom>
            <a:avLst/>
            <a:gdLst/>
            <a:ahLst/>
            <a:cxnLst/>
            <a:rect l="l" t="t" r="r" b="b"/>
            <a:pathLst>
              <a:path w="5351485" h="397075">
                <a:moveTo>
                  <a:pt x="36098" y="0"/>
                </a:moveTo>
                <a:lnTo>
                  <a:pt x="5279289" y="0"/>
                </a:lnTo>
                <a:cubicBezTo>
                  <a:pt x="5319162" y="0"/>
                  <a:pt x="5351485" y="32323"/>
                  <a:pt x="5351485" y="72196"/>
                </a:cubicBezTo>
                <a:lnTo>
                  <a:pt x="5351485" y="324879"/>
                </a:lnTo>
                <a:cubicBezTo>
                  <a:pt x="5351485" y="364751"/>
                  <a:pt x="5319162" y="397075"/>
                  <a:pt x="5279289" y="397075"/>
                </a:cubicBezTo>
                <a:lnTo>
                  <a:pt x="36098" y="397075"/>
                </a:lnTo>
                <a:cubicBezTo>
                  <a:pt x="16161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6258933" y="5297338"/>
            <a:ext cx="36098" cy="397075"/>
          </a:xfrm>
          <a:custGeom>
            <a:avLst/>
            <a:gdLst/>
            <a:ahLst/>
            <a:cxnLst/>
            <a:rect l="l" t="t" r="r" b="b"/>
            <a:pathLst>
              <a:path w="36098" h="397075">
                <a:moveTo>
                  <a:pt x="36098" y="0"/>
                </a:moveTo>
                <a:lnTo>
                  <a:pt x="36098" y="0"/>
                </a:lnTo>
                <a:lnTo>
                  <a:pt x="36098" y="397075"/>
                </a:lnTo>
                <a:lnTo>
                  <a:pt x="36098" y="397075"/>
                </a:lnTo>
                <a:cubicBezTo>
                  <a:pt x="16161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6385275" y="5405631"/>
            <a:ext cx="518002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模型权重:</a:t>
            </a:r>
            <a:r>
              <a:rPr lang="en-US" sz="99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静态占用,取决于模型参数量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258933" y="5766608"/>
            <a:ext cx="5351485" cy="397075"/>
          </a:xfrm>
          <a:custGeom>
            <a:avLst/>
            <a:gdLst/>
            <a:ahLst/>
            <a:cxnLst/>
            <a:rect l="l" t="t" r="r" b="b"/>
            <a:pathLst>
              <a:path w="5351485" h="397075">
                <a:moveTo>
                  <a:pt x="36098" y="0"/>
                </a:moveTo>
                <a:lnTo>
                  <a:pt x="5279289" y="0"/>
                </a:lnTo>
                <a:cubicBezTo>
                  <a:pt x="5319162" y="0"/>
                  <a:pt x="5351485" y="32323"/>
                  <a:pt x="5351485" y="72196"/>
                </a:cubicBezTo>
                <a:lnTo>
                  <a:pt x="5351485" y="324879"/>
                </a:lnTo>
                <a:cubicBezTo>
                  <a:pt x="5351485" y="364751"/>
                  <a:pt x="5319162" y="397075"/>
                  <a:pt x="5279289" y="397075"/>
                </a:cubicBezTo>
                <a:lnTo>
                  <a:pt x="36098" y="397075"/>
                </a:lnTo>
                <a:cubicBezTo>
                  <a:pt x="16161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6"/>
          <p:cNvSpPr/>
          <p:nvPr/>
        </p:nvSpPr>
        <p:spPr>
          <a:xfrm>
            <a:off x="6258933" y="5766608"/>
            <a:ext cx="36098" cy="397075"/>
          </a:xfrm>
          <a:custGeom>
            <a:avLst/>
            <a:gdLst/>
            <a:ahLst/>
            <a:cxnLst/>
            <a:rect l="l" t="t" r="r" b="b"/>
            <a:pathLst>
              <a:path w="36098" h="397075">
                <a:moveTo>
                  <a:pt x="36098" y="0"/>
                </a:moveTo>
                <a:lnTo>
                  <a:pt x="36098" y="0"/>
                </a:lnTo>
                <a:lnTo>
                  <a:pt x="36098" y="397075"/>
                </a:lnTo>
                <a:lnTo>
                  <a:pt x="36098" y="397075"/>
                </a:lnTo>
                <a:cubicBezTo>
                  <a:pt x="16161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6385275" y="5874902"/>
            <a:ext cx="518002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Cache:</a:t>
            </a:r>
            <a:r>
              <a:rPr lang="en-US" sz="99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动态占用,随序列长度增长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258933" y="6235879"/>
            <a:ext cx="5351485" cy="397075"/>
          </a:xfrm>
          <a:custGeom>
            <a:avLst/>
            <a:gdLst/>
            <a:ahLst/>
            <a:cxnLst/>
            <a:rect l="l" t="t" r="r" b="b"/>
            <a:pathLst>
              <a:path w="5351485" h="397075">
                <a:moveTo>
                  <a:pt x="36098" y="0"/>
                </a:moveTo>
                <a:lnTo>
                  <a:pt x="5279289" y="0"/>
                </a:lnTo>
                <a:cubicBezTo>
                  <a:pt x="5319162" y="0"/>
                  <a:pt x="5351485" y="32323"/>
                  <a:pt x="5351485" y="72196"/>
                </a:cubicBezTo>
                <a:lnTo>
                  <a:pt x="5351485" y="324879"/>
                </a:lnTo>
                <a:cubicBezTo>
                  <a:pt x="5351485" y="364751"/>
                  <a:pt x="5319162" y="397075"/>
                  <a:pt x="5279289" y="397075"/>
                </a:cubicBezTo>
                <a:lnTo>
                  <a:pt x="36098" y="397075"/>
                </a:lnTo>
                <a:cubicBezTo>
                  <a:pt x="16161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6258933" y="6235879"/>
            <a:ext cx="36098" cy="397075"/>
          </a:xfrm>
          <a:custGeom>
            <a:avLst/>
            <a:gdLst/>
            <a:ahLst/>
            <a:cxnLst/>
            <a:rect l="l" t="t" r="r" b="b"/>
            <a:pathLst>
              <a:path w="36098" h="397075">
                <a:moveTo>
                  <a:pt x="36098" y="0"/>
                </a:moveTo>
                <a:lnTo>
                  <a:pt x="36098" y="0"/>
                </a:lnTo>
                <a:lnTo>
                  <a:pt x="36098" y="397075"/>
                </a:lnTo>
                <a:lnTo>
                  <a:pt x="36098" y="397075"/>
                </a:lnTo>
                <a:cubicBezTo>
                  <a:pt x="16161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5F6B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6385275" y="6344172"/>
            <a:ext cx="518002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中间激活:</a:t>
            </a:r>
            <a:r>
              <a:rPr lang="en-US" sz="99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临时占用,推理缓冲区</a:t>
            </a:r>
            <a:endParaRPr lang="en-US" sz="1600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E60B9DFC-CD02-C742-64C2-B796D2656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360" y="2054470"/>
            <a:ext cx="5543608" cy="309229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625" y="328625"/>
            <a:ext cx="328625" cy="328625"/>
          </a:xfrm>
          <a:custGeom>
            <a:avLst/>
            <a:gdLst/>
            <a:ahLst/>
            <a:cxnLst/>
            <a:rect l="l" t="t" r="r" b="b"/>
            <a:pathLst>
              <a:path w="328625" h="328625">
                <a:moveTo>
                  <a:pt x="65725" y="0"/>
                </a:moveTo>
                <a:lnTo>
                  <a:pt x="262900" y="0"/>
                </a:lnTo>
                <a:cubicBezTo>
                  <a:pt x="299199" y="0"/>
                  <a:pt x="328625" y="29426"/>
                  <a:pt x="328625" y="65725"/>
                </a:cubicBezTo>
                <a:lnTo>
                  <a:pt x="328625" y="262900"/>
                </a:lnTo>
                <a:cubicBezTo>
                  <a:pt x="328625" y="299199"/>
                  <a:pt x="299199" y="328625"/>
                  <a:pt x="262900" y="328625"/>
                </a:cubicBezTo>
                <a:lnTo>
                  <a:pt x="65725" y="328625"/>
                </a:lnTo>
                <a:cubicBezTo>
                  <a:pt x="29426" y="328625"/>
                  <a:pt x="0" y="299199"/>
                  <a:pt x="0" y="262900"/>
                </a:cubicBezTo>
                <a:lnTo>
                  <a:pt x="0" y="65725"/>
                </a:lnTo>
                <a:cubicBezTo>
                  <a:pt x="0" y="29450"/>
                  <a:pt x="29450" y="0"/>
                  <a:pt x="65725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39536" y="418997"/>
            <a:ext cx="110911" cy="147881"/>
          </a:xfrm>
          <a:custGeom>
            <a:avLst/>
            <a:gdLst/>
            <a:ahLst/>
            <a:cxnLst/>
            <a:rect l="l" t="t" r="r" b="b"/>
            <a:pathLst>
              <a:path w="110911" h="147881">
                <a:moveTo>
                  <a:pt x="18485" y="0"/>
                </a:moveTo>
                <a:cubicBezTo>
                  <a:pt x="8289" y="0"/>
                  <a:pt x="0" y="8289"/>
                  <a:pt x="0" y="18485"/>
                </a:cubicBezTo>
                <a:lnTo>
                  <a:pt x="0" y="129396"/>
                </a:lnTo>
                <a:cubicBezTo>
                  <a:pt x="0" y="139592"/>
                  <a:pt x="8289" y="147881"/>
                  <a:pt x="18485" y="147881"/>
                </a:cubicBezTo>
                <a:lnTo>
                  <a:pt x="92426" y="147881"/>
                </a:lnTo>
                <a:cubicBezTo>
                  <a:pt x="102622" y="147881"/>
                  <a:pt x="110911" y="139592"/>
                  <a:pt x="110911" y="129396"/>
                </a:cubicBezTo>
                <a:lnTo>
                  <a:pt x="110911" y="18485"/>
                </a:lnTo>
                <a:cubicBezTo>
                  <a:pt x="110911" y="8289"/>
                  <a:pt x="102622" y="0"/>
                  <a:pt x="92426" y="0"/>
                </a:cubicBezTo>
                <a:lnTo>
                  <a:pt x="18485" y="0"/>
                </a:lnTo>
                <a:close/>
                <a:moveTo>
                  <a:pt x="27728" y="18485"/>
                </a:moveTo>
                <a:lnTo>
                  <a:pt x="83183" y="18485"/>
                </a:lnTo>
                <a:cubicBezTo>
                  <a:pt x="88296" y="18485"/>
                  <a:pt x="92426" y="22615"/>
                  <a:pt x="92426" y="27728"/>
                </a:cubicBezTo>
                <a:lnTo>
                  <a:pt x="92426" y="36970"/>
                </a:lnTo>
                <a:cubicBezTo>
                  <a:pt x="92426" y="42083"/>
                  <a:pt x="88296" y="46213"/>
                  <a:pt x="83183" y="46213"/>
                </a:cubicBezTo>
                <a:lnTo>
                  <a:pt x="27728" y="46213"/>
                </a:lnTo>
                <a:cubicBezTo>
                  <a:pt x="22615" y="46213"/>
                  <a:pt x="18485" y="42083"/>
                  <a:pt x="18485" y="36970"/>
                </a:cubicBezTo>
                <a:lnTo>
                  <a:pt x="18485" y="27728"/>
                </a:lnTo>
                <a:cubicBezTo>
                  <a:pt x="18485" y="22615"/>
                  <a:pt x="22615" y="18485"/>
                  <a:pt x="27728" y="18485"/>
                </a:cubicBezTo>
                <a:close/>
                <a:moveTo>
                  <a:pt x="32349" y="67009"/>
                </a:moveTo>
                <a:cubicBezTo>
                  <a:pt x="32349" y="70835"/>
                  <a:pt x="29243" y="73941"/>
                  <a:pt x="25417" y="73941"/>
                </a:cubicBezTo>
                <a:cubicBezTo>
                  <a:pt x="21591" y="73941"/>
                  <a:pt x="18485" y="70835"/>
                  <a:pt x="18485" y="67009"/>
                </a:cubicBezTo>
                <a:cubicBezTo>
                  <a:pt x="18485" y="63183"/>
                  <a:pt x="21591" y="60077"/>
                  <a:pt x="25417" y="60077"/>
                </a:cubicBezTo>
                <a:cubicBezTo>
                  <a:pt x="29243" y="60077"/>
                  <a:pt x="32349" y="63183"/>
                  <a:pt x="32349" y="67009"/>
                </a:cubicBezTo>
                <a:close/>
                <a:moveTo>
                  <a:pt x="55456" y="73941"/>
                </a:moveTo>
                <a:cubicBezTo>
                  <a:pt x="51630" y="73941"/>
                  <a:pt x="48524" y="70835"/>
                  <a:pt x="48524" y="67009"/>
                </a:cubicBezTo>
                <a:cubicBezTo>
                  <a:pt x="48524" y="63183"/>
                  <a:pt x="51630" y="60077"/>
                  <a:pt x="55456" y="60077"/>
                </a:cubicBezTo>
                <a:cubicBezTo>
                  <a:pt x="59281" y="60077"/>
                  <a:pt x="62387" y="63183"/>
                  <a:pt x="62387" y="67009"/>
                </a:cubicBezTo>
                <a:cubicBezTo>
                  <a:pt x="62387" y="70835"/>
                  <a:pt x="59281" y="73941"/>
                  <a:pt x="55456" y="73941"/>
                </a:cubicBezTo>
                <a:close/>
                <a:moveTo>
                  <a:pt x="92426" y="67009"/>
                </a:moveTo>
                <a:cubicBezTo>
                  <a:pt x="92426" y="70835"/>
                  <a:pt x="89320" y="73941"/>
                  <a:pt x="85494" y="73941"/>
                </a:cubicBezTo>
                <a:cubicBezTo>
                  <a:pt x="81668" y="73941"/>
                  <a:pt x="78562" y="70835"/>
                  <a:pt x="78562" y="67009"/>
                </a:cubicBezTo>
                <a:cubicBezTo>
                  <a:pt x="78562" y="63183"/>
                  <a:pt x="81668" y="60077"/>
                  <a:pt x="85494" y="60077"/>
                </a:cubicBezTo>
                <a:cubicBezTo>
                  <a:pt x="89320" y="60077"/>
                  <a:pt x="92426" y="63183"/>
                  <a:pt x="92426" y="67009"/>
                </a:cubicBezTo>
                <a:close/>
                <a:moveTo>
                  <a:pt x="25417" y="101668"/>
                </a:moveTo>
                <a:cubicBezTo>
                  <a:pt x="21591" y="101668"/>
                  <a:pt x="18485" y="98562"/>
                  <a:pt x="18485" y="94737"/>
                </a:cubicBezTo>
                <a:cubicBezTo>
                  <a:pt x="18485" y="90911"/>
                  <a:pt x="21591" y="87805"/>
                  <a:pt x="25417" y="87805"/>
                </a:cubicBezTo>
                <a:cubicBezTo>
                  <a:pt x="29243" y="87805"/>
                  <a:pt x="32349" y="90911"/>
                  <a:pt x="32349" y="94737"/>
                </a:cubicBezTo>
                <a:cubicBezTo>
                  <a:pt x="32349" y="98562"/>
                  <a:pt x="29243" y="101668"/>
                  <a:pt x="25417" y="101668"/>
                </a:cubicBezTo>
                <a:close/>
                <a:moveTo>
                  <a:pt x="62387" y="94737"/>
                </a:moveTo>
                <a:cubicBezTo>
                  <a:pt x="62387" y="98562"/>
                  <a:pt x="59281" y="101668"/>
                  <a:pt x="55456" y="101668"/>
                </a:cubicBezTo>
                <a:cubicBezTo>
                  <a:pt x="51630" y="101668"/>
                  <a:pt x="48524" y="98562"/>
                  <a:pt x="48524" y="94737"/>
                </a:cubicBezTo>
                <a:cubicBezTo>
                  <a:pt x="48524" y="90911"/>
                  <a:pt x="51630" y="87805"/>
                  <a:pt x="55456" y="87805"/>
                </a:cubicBezTo>
                <a:cubicBezTo>
                  <a:pt x="59281" y="87805"/>
                  <a:pt x="62387" y="90911"/>
                  <a:pt x="62387" y="94737"/>
                </a:cubicBezTo>
                <a:close/>
                <a:moveTo>
                  <a:pt x="85494" y="101668"/>
                </a:moveTo>
                <a:cubicBezTo>
                  <a:pt x="81668" y="101668"/>
                  <a:pt x="78562" y="98562"/>
                  <a:pt x="78562" y="94737"/>
                </a:cubicBezTo>
                <a:cubicBezTo>
                  <a:pt x="78562" y="90911"/>
                  <a:pt x="81668" y="87805"/>
                  <a:pt x="85494" y="87805"/>
                </a:cubicBezTo>
                <a:cubicBezTo>
                  <a:pt x="89320" y="87805"/>
                  <a:pt x="92426" y="90911"/>
                  <a:pt x="92426" y="94737"/>
                </a:cubicBezTo>
                <a:cubicBezTo>
                  <a:pt x="92426" y="98562"/>
                  <a:pt x="89320" y="101668"/>
                  <a:pt x="85494" y="101668"/>
                </a:cubicBezTo>
                <a:close/>
                <a:moveTo>
                  <a:pt x="18485" y="122464"/>
                </a:moveTo>
                <a:cubicBezTo>
                  <a:pt x="18485" y="118623"/>
                  <a:pt x="21576" y="115532"/>
                  <a:pt x="25417" y="115532"/>
                </a:cubicBezTo>
                <a:lnTo>
                  <a:pt x="57766" y="115532"/>
                </a:lnTo>
                <a:cubicBezTo>
                  <a:pt x="61608" y="115532"/>
                  <a:pt x="64698" y="118623"/>
                  <a:pt x="64698" y="122464"/>
                </a:cubicBezTo>
                <a:cubicBezTo>
                  <a:pt x="64698" y="126306"/>
                  <a:pt x="61608" y="129396"/>
                  <a:pt x="57766" y="129396"/>
                </a:cubicBezTo>
                <a:lnTo>
                  <a:pt x="25417" y="129396"/>
                </a:lnTo>
                <a:cubicBezTo>
                  <a:pt x="21576" y="129396"/>
                  <a:pt x="18485" y="126306"/>
                  <a:pt x="18485" y="122464"/>
                </a:cubicBezTo>
                <a:close/>
                <a:moveTo>
                  <a:pt x="85494" y="115532"/>
                </a:moveTo>
                <a:cubicBezTo>
                  <a:pt x="89335" y="115532"/>
                  <a:pt x="92426" y="118623"/>
                  <a:pt x="92426" y="122464"/>
                </a:cubicBezTo>
                <a:cubicBezTo>
                  <a:pt x="92426" y="126306"/>
                  <a:pt x="89335" y="129396"/>
                  <a:pt x="85494" y="129396"/>
                </a:cubicBezTo>
                <a:cubicBezTo>
                  <a:pt x="81652" y="129396"/>
                  <a:pt x="78562" y="126306"/>
                  <a:pt x="78562" y="122464"/>
                </a:cubicBezTo>
                <a:cubicBezTo>
                  <a:pt x="78562" y="118623"/>
                  <a:pt x="81652" y="115532"/>
                  <a:pt x="85494" y="115532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55838" y="410782"/>
            <a:ext cx="837995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b="1" kern="0" spc="45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03.2 计算公式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8625" y="755838"/>
            <a:ext cx="11682631" cy="3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9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Cache显存计算公式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2733" y="1285747"/>
            <a:ext cx="5422318" cy="1741714"/>
          </a:xfrm>
          <a:custGeom>
            <a:avLst/>
            <a:gdLst/>
            <a:ahLst/>
            <a:cxnLst/>
            <a:rect l="l" t="t" r="r" b="b"/>
            <a:pathLst>
              <a:path w="5422318" h="1741714">
                <a:moveTo>
                  <a:pt x="98581" y="0"/>
                </a:moveTo>
                <a:lnTo>
                  <a:pt x="5323737" y="0"/>
                </a:lnTo>
                <a:cubicBezTo>
                  <a:pt x="5378182" y="0"/>
                  <a:pt x="5422318" y="44136"/>
                  <a:pt x="5422318" y="98581"/>
                </a:cubicBezTo>
                <a:lnTo>
                  <a:pt x="5422318" y="1643133"/>
                </a:lnTo>
                <a:cubicBezTo>
                  <a:pt x="5422318" y="1697578"/>
                  <a:pt x="5378182" y="1741714"/>
                  <a:pt x="5323737" y="1741714"/>
                </a:cubicBezTo>
                <a:lnTo>
                  <a:pt x="98581" y="1741714"/>
                </a:lnTo>
                <a:cubicBezTo>
                  <a:pt x="44136" y="1741714"/>
                  <a:pt x="0" y="1697578"/>
                  <a:pt x="0" y="1643133"/>
                </a:cubicBezTo>
                <a:lnTo>
                  <a:pt x="0" y="98581"/>
                </a:lnTo>
                <a:cubicBezTo>
                  <a:pt x="0" y="44173"/>
                  <a:pt x="44173" y="0"/>
                  <a:pt x="9858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54555" y="1519892"/>
            <a:ext cx="164313" cy="164313"/>
          </a:xfrm>
          <a:custGeom>
            <a:avLst/>
            <a:gdLst/>
            <a:ahLst/>
            <a:cxnLst/>
            <a:rect l="l" t="t" r="r" b="b"/>
            <a:pathLst>
              <a:path w="164313" h="164313">
                <a:moveTo>
                  <a:pt x="21149" y="73331"/>
                </a:moveTo>
                <a:cubicBezTo>
                  <a:pt x="25417" y="43485"/>
                  <a:pt x="51123" y="20539"/>
                  <a:pt x="82156" y="20539"/>
                </a:cubicBezTo>
                <a:cubicBezTo>
                  <a:pt x="99165" y="20539"/>
                  <a:pt x="114570" y="27439"/>
                  <a:pt x="125738" y="38575"/>
                </a:cubicBezTo>
                <a:cubicBezTo>
                  <a:pt x="125802" y="38639"/>
                  <a:pt x="125866" y="38703"/>
                  <a:pt x="125930" y="38768"/>
                </a:cubicBezTo>
                <a:lnTo>
                  <a:pt x="128369" y="41078"/>
                </a:lnTo>
                <a:lnTo>
                  <a:pt x="112997" y="41078"/>
                </a:lnTo>
                <a:cubicBezTo>
                  <a:pt x="107317" y="41078"/>
                  <a:pt x="102728" y="45667"/>
                  <a:pt x="102728" y="51348"/>
                </a:cubicBezTo>
                <a:cubicBezTo>
                  <a:pt x="102728" y="57028"/>
                  <a:pt x="107317" y="61617"/>
                  <a:pt x="112997" y="61617"/>
                </a:cubicBezTo>
                <a:lnTo>
                  <a:pt x="154075" y="61617"/>
                </a:lnTo>
                <a:cubicBezTo>
                  <a:pt x="159756" y="61617"/>
                  <a:pt x="164345" y="57028"/>
                  <a:pt x="164345" y="51348"/>
                </a:cubicBezTo>
                <a:lnTo>
                  <a:pt x="164345" y="10270"/>
                </a:lnTo>
                <a:cubicBezTo>
                  <a:pt x="164345" y="4589"/>
                  <a:pt x="159756" y="0"/>
                  <a:pt x="154075" y="0"/>
                </a:cubicBezTo>
                <a:cubicBezTo>
                  <a:pt x="148395" y="0"/>
                  <a:pt x="143806" y="4589"/>
                  <a:pt x="143806" y="10270"/>
                </a:cubicBezTo>
                <a:lnTo>
                  <a:pt x="143806" y="27407"/>
                </a:lnTo>
                <a:lnTo>
                  <a:pt x="140179" y="23973"/>
                </a:lnTo>
                <a:cubicBezTo>
                  <a:pt x="125321" y="9178"/>
                  <a:pt x="104781" y="0"/>
                  <a:pt x="82156" y="0"/>
                </a:cubicBezTo>
                <a:cubicBezTo>
                  <a:pt x="40757" y="0"/>
                  <a:pt x="6515" y="30616"/>
                  <a:pt x="834" y="70443"/>
                </a:cubicBezTo>
                <a:cubicBezTo>
                  <a:pt x="32" y="76059"/>
                  <a:pt x="3915" y="81258"/>
                  <a:pt x="9531" y="82060"/>
                </a:cubicBezTo>
                <a:cubicBezTo>
                  <a:pt x="15148" y="82862"/>
                  <a:pt x="20347" y="78947"/>
                  <a:pt x="21149" y="73363"/>
                </a:cubicBezTo>
                <a:close/>
                <a:moveTo>
                  <a:pt x="163478" y="93870"/>
                </a:moveTo>
                <a:cubicBezTo>
                  <a:pt x="164281" y="88254"/>
                  <a:pt x="160365" y="83055"/>
                  <a:pt x="154781" y="82253"/>
                </a:cubicBezTo>
                <a:cubicBezTo>
                  <a:pt x="149197" y="81450"/>
                  <a:pt x="143966" y="85366"/>
                  <a:pt x="143164" y="90950"/>
                </a:cubicBezTo>
                <a:cubicBezTo>
                  <a:pt x="138896" y="120795"/>
                  <a:pt x="113190" y="143741"/>
                  <a:pt x="82156" y="143741"/>
                </a:cubicBezTo>
                <a:cubicBezTo>
                  <a:pt x="65147" y="143741"/>
                  <a:pt x="49743" y="136842"/>
                  <a:pt x="38575" y="125706"/>
                </a:cubicBezTo>
                <a:cubicBezTo>
                  <a:pt x="38511" y="125641"/>
                  <a:pt x="38447" y="125577"/>
                  <a:pt x="38382" y="125513"/>
                </a:cubicBezTo>
                <a:lnTo>
                  <a:pt x="35943" y="123202"/>
                </a:lnTo>
                <a:lnTo>
                  <a:pt x="51316" y="123202"/>
                </a:lnTo>
                <a:cubicBezTo>
                  <a:pt x="56996" y="123202"/>
                  <a:pt x="61585" y="118613"/>
                  <a:pt x="61585" y="112933"/>
                </a:cubicBezTo>
                <a:cubicBezTo>
                  <a:pt x="61585" y="107253"/>
                  <a:pt x="56996" y="102663"/>
                  <a:pt x="51316" y="102663"/>
                </a:cubicBezTo>
                <a:lnTo>
                  <a:pt x="10270" y="102695"/>
                </a:lnTo>
                <a:cubicBezTo>
                  <a:pt x="7542" y="102695"/>
                  <a:pt x="4910" y="103787"/>
                  <a:pt x="2985" y="105744"/>
                </a:cubicBezTo>
                <a:cubicBezTo>
                  <a:pt x="1059" y="107702"/>
                  <a:pt x="-32" y="110301"/>
                  <a:pt x="0" y="113061"/>
                </a:cubicBezTo>
                <a:lnTo>
                  <a:pt x="321" y="153818"/>
                </a:lnTo>
                <a:cubicBezTo>
                  <a:pt x="353" y="159499"/>
                  <a:pt x="5006" y="164056"/>
                  <a:pt x="10687" y="163992"/>
                </a:cubicBezTo>
                <a:cubicBezTo>
                  <a:pt x="16367" y="163928"/>
                  <a:pt x="20924" y="159306"/>
                  <a:pt x="20860" y="153626"/>
                </a:cubicBezTo>
                <a:lnTo>
                  <a:pt x="20732" y="137098"/>
                </a:lnTo>
                <a:lnTo>
                  <a:pt x="24166" y="140340"/>
                </a:lnTo>
                <a:cubicBezTo>
                  <a:pt x="39024" y="155134"/>
                  <a:pt x="59531" y="164313"/>
                  <a:pt x="82156" y="164313"/>
                </a:cubicBezTo>
                <a:cubicBezTo>
                  <a:pt x="123555" y="164313"/>
                  <a:pt x="157798" y="133697"/>
                  <a:pt x="163478" y="9387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9407" y="1487030"/>
            <a:ext cx="4896518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核心公式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8124" y="1852625"/>
            <a:ext cx="5011536" cy="673682"/>
          </a:xfrm>
          <a:custGeom>
            <a:avLst/>
            <a:gdLst/>
            <a:ahLst/>
            <a:cxnLst/>
            <a:rect l="l" t="t" r="r" b="b"/>
            <a:pathLst>
              <a:path w="5011536" h="673682">
                <a:moveTo>
                  <a:pt x="65724" y="0"/>
                </a:moveTo>
                <a:lnTo>
                  <a:pt x="4945812" y="0"/>
                </a:lnTo>
                <a:cubicBezTo>
                  <a:pt x="4982111" y="0"/>
                  <a:pt x="5011536" y="29426"/>
                  <a:pt x="5011536" y="65724"/>
                </a:cubicBezTo>
                <a:lnTo>
                  <a:pt x="5011536" y="607958"/>
                </a:lnTo>
                <a:cubicBezTo>
                  <a:pt x="5011536" y="644256"/>
                  <a:pt x="4982111" y="673682"/>
                  <a:pt x="4945812" y="673682"/>
                </a:cubicBezTo>
                <a:lnTo>
                  <a:pt x="65724" y="673682"/>
                </a:lnTo>
                <a:cubicBezTo>
                  <a:pt x="29450" y="673682"/>
                  <a:pt x="0" y="644232"/>
                  <a:pt x="0" y="607958"/>
                </a:cubicBezTo>
                <a:lnTo>
                  <a:pt x="0" y="65724"/>
                </a:lnTo>
                <a:cubicBezTo>
                  <a:pt x="0" y="29450"/>
                  <a:pt x="29450" y="0"/>
                  <a:pt x="6572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8329" y="2053908"/>
            <a:ext cx="4691127" cy="27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94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</a:t>
            </a:r>
            <a:r>
              <a:rPr lang="en-US" sz="97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</a:t>
            </a:r>
            <a:r>
              <a:rPr lang="en-US" sz="1294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≈ 2 × b</a:t>
            </a:r>
            <a:r>
              <a:rPr lang="en-US" sz="97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</a:t>
            </a:r>
            <a:r>
              <a:rPr lang="en-US" sz="1294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× L × B × S × H × (N</a:t>
            </a:r>
            <a:r>
              <a:rPr lang="en-US" sz="97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</a:t>
            </a:r>
            <a:r>
              <a:rPr lang="en-US" sz="1294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/N</a:t>
            </a:r>
            <a:r>
              <a:rPr lang="en-US" sz="97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attn</a:t>
            </a:r>
            <a:r>
              <a:rPr lang="en-US" sz="1294" dirty="0">
                <a:solidFill>
                  <a:srgbClr val="E8E8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32472" y="2682404"/>
            <a:ext cx="115019" cy="115019"/>
          </a:xfrm>
          <a:custGeom>
            <a:avLst/>
            <a:gdLst/>
            <a:ahLst/>
            <a:cxnLst/>
            <a:rect l="l" t="t" r="r" b="b"/>
            <a:pathLst>
              <a:path w="115019" h="115019">
                <a:moveTo>
                  <a:pt x="57509" y="115019"/>
                </a:moveTo>
                <a:cubicBezTo>
                  <a:pt x="89250" y="115019"/>
                  <a:pt x="115019" y="89250"/>
                  <a:pt x="115019" y="57509"/>
                </a:cubicBezTo>
                <a:cubicBezTo>
                  <a:pt x="115019" y="25769"/>
                  <a:pt x="89250" y="0"/>
                  <a:pt x="57509" y="0"/>
                </a:cubicBezTo>
                <a:cubicBezTo>
                  <a:pt x="25769" y="0"/>
                  <a:pt x="0" y="25769"/>
                  <a:pt x="0" y="57509"/>
                </a:cubicBezTo>
                <a:cubicBezTo>
                  <a:pt x="0" y="89250"/>
                  <a:pt x="25769" y="115019"/>
                  <a:pt x="57509" y="115019"/>
                </a:cubicBezTo>
                <a:close/>
                <a:moveTo>
                  <a:pt x="50321" y="35943"/>
                </a:moveTo>
                <a:cubicBezTo>
                  <a:pt x="50321" y="31976"/>
                  <a:pt x="53542" y="28755"/>
                  <a:pt x="57509" y="28755"/>
                </a:cubicBezTo>
                <a:cubicBezTo>
                  <a:pt x="61477" y="28755"/>
                  <a:pt x="64698" y="31976"/>
                  <a:pt x="64698" y="35943"/>
                </a:cubicBezTo>
                <a:cubicBezTo>
                  <a:pt x="64698" y="39911"/>
                  <a:pt x="61477" y="43132"/>
                  <a:pt x="57509" y="43132"/>
                </a:cubicBezTo>
                <a:cubicBezTo>
                  <a:pt x="53542" y="43132"/>
                  <a:pt x="50321" y="39911"/>
                  <a:pt x="50321" y="35943"/>
                </a:cubicBezTo>
                <a:close/>
                <a:moveTo>
                  <a:pt x="48524" y="50321"/>
                </a:moveTo>
                <a:lnTo>
                  <a:pt x="59307" y="50321"/>
                </a:lnTo>
                <a:cubicBezTo>
                  <a:pt x="62294" y="50321"/>
                  <a:pt x="64698" y="52724"/>
                  <a:pt x="64698" y="55712"/>
                </a:cubicBezTo>
                <a:lnTo>
                  <a:pt x="64698" y="75481"/>
                </a:lnTo>
                <a:lnTo>
                  <a:pt x="66495" y="75481"/>
                </a:lnTo>
                <a:cubicBezTo>
                  <a:pt x="69483" y="75481"/>
                  <a:pt x="71887" y="77885"/>
                  <a:pt x="71887" y="80873"/>
                </a:cubicBezTo>
                <a:cubicBezTo>
                  <a:pt x="71887" y="83860"/>
                  <a:pt x="69483" y="86264"/>
                  <a:pt x="66495" y="86264"/>
                </a:cubicBezTo>
                <a:lnTo>
                  <a:pt x="48524" y="86264"/>
                </a:lnTo>
                <a:cubicBezTo>
                  <a:pt x="45536" y="86264"/>
                  <a:pt x="43132" y="83860"/>
                  <a:pt x="43132" y="80873"/>
                </a:cubicBezTo>
                <a:cubicBezTo>
                  <a:pt x="43132" y="77885"/>
                  <a:pt x="45536" y="75481"/>
                  <a:pt x="48524" y="75481"/>
                </a:cubicBezTo>
                <a:lnTo>
                  <a:pt x="53915" y="75481"/>
                </a:lnTo>
                <a:lnTo>
                  <a:pt x="53915" y="61104"/>
                </a:lnTo>
                <a:lnTo>
                  <a:pt x="48524" y="61104"/>
                </a:lnTo>
                <a:cubicBezTo>
                  <a:pt x="45536" y="61104"/>
                  <a:pt x="43132" y="58700"/>
                  <a:pt x="43132" y="55712"/>
                </a:cubicBezTo>
                <a:cubicBezTo>
                  <a:pt x="43132" y="52724"/>
                  <a:pt x="45536" y="50321"/>
                  <a:pt x="48524" y="50321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95660" y="2657757"/>
            <a:ext cx="4886862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显存占用与并发数(B)和序列长度(S)呈严格的线性正相关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2733" y="3228744"/>
            <a:ext cx="5422318" cy="3360194"/>
          </a:xfrm>
          <a:custGeom>
            <a:avLst/>
            <a:gdLst/>
            <a:ahLst/>
            <a:cxnLst/>
            <a:rect l="l" t="t" r="r" b="b"/>
            <a:pathLst>
              <a:path w="5422318" h="3360194">
                <a:moveTo>
                  <a:pt x="98588" y="0"/>
                </a:moveTo>
                <a:lnTo>
                  <a:pt x="5323730" y="0"/>
                </a:lnTo>
                <a:cubicBezTo>
                  <a:pt x="5378179" y="0"/>
                  <a:pt x="5422318" y="44139"/>
                  <a:pt x="5422318" y="98588"/>
                </a:cubicBezTo>
                <a:lnTo>
                  <a:pt x="5422318" y="3261606"/>
                </a:lnTo>
                <a:cubicBezTo>
                  <a:pt x="5422318" y="3316055"/>
                  <a:pt x="5378179" y="3360194"/>
                  <a:pt x="5323730" y="3360194"/>
                </a:cubicBezTo>
                <a:lnTo>
                  <a:pt x="98588" y="3360194"/>
                </a:lnTo>
                <a:cubicBezTo>
                  <a:pt x="44139" y="3360194"/>
                  <a:pt x="0" y="3316055"/>
                  <a:pt x="0" y="3261606"/>
                </a:cubicBezTo>
                <a:lnTo>
                  <a:pt x="0" y="98588"/>
                </a:lnTo>
                <a:cubicBezTo>
                  <a:pt x="0" y="44139"/>
                  <a:pt x="44139" y="0"/>
                  <a:pt x="9858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54555" y="3462889"/>
            <a:ext cx="164313" cy="164313"/>
          </a:xfrm>
          <a:custGeom>
            <a:avLst/>
            <a:gdLst/>
            <a:ahLst/>
            <a:cxnLst/>
            <a:rect l="l" t="t" r="r" b="b"/>
            <a:pathLst>
              <a:path w="164313" h="164313">
                <a:moveTo>
                  <a:pt x="15404" y="46213"/>
                </a:moveTo>
                <a:cubicBezTo>
                  <a:pt x="23906" y="46213"/>
                  <a:pt x="30809" y="39310"/>
                  <a:pt x="30809" y="30809"/>
                </a:cubicBezTo>
                <a:cubicBezTo>
                  <a:pt x="30809" y="22307"/>
                  <a:pt x="23906" y="15404"/>
                  <a:pt x="15404" y="15404"/>
                </a:cubicBezTo>
                <a:cubicBezTo>
                  <a:pt x="6902" y="15404"/>
                  <a:pt x="0" y="22307"/>
                  <a:pt x="0" y="30809"/>
                </a:cubicBezTo>
                <a:cubicBezTo>
                  <a:pt x="0" y="39310"/>
                  <a:pt x="6902" y="46213"/>
                  <a:pt x="15404" y="46213"/>
                </a:cubicBezTo>
                <a:close/>
                <a:moveTo>
                  <a:pt x="61617" y="20539"/>
                </a:moveTo>
                <a:cubicBezTo>
                  <a:pt x="55937" y="20539"/>
                  <a:pt x="51348" y="25128"/>
                  <a:pt x="51348" y="30809"/>
                </a:cubicBezTo>
                <a:cubicBezTo>
                  <a:pt x="51348" y="36489"/>
                  <a:pt x="55937" y="41078"/>
                  <a:pt x="61617" y="41078"/>
                </a:cubicBezTo>
                <a:lnTo>
                  <a:pt x="154043" y="41078"/>
                </a:lnTo>
                <a:cubicBezTo>
                  <a:pt x="159723" y="41078"/>
                  <a:pt x="164313" y="36489"/>
                  <a:pt x="164313" y="30809"/>
                </a:cubicBezTo>
                <a:cubicBezTo>
                  <a:pt x="164313" y="25128"/>
                  <a:pt x="159723" y="20539"/>
                  <a:pt x="154043" y="20539"/>
                </a:cubicBezTo>
                <a:lnTo>
                  <a:pt x="61617" y="20539"/>
                </a:lnTo>
                <a:close/>
                <a:moveTo>
                  <a:pt x="61617" y="71887"/>
                </a:moveTo>
                <a:cubicBezTo>
                  <a:pt x="55937" y="71887"/>
                  <a:pt x="51348" y="76476"/>
                  <a:pt x="51348" y="82156"/>
                </a:cubicBezTo>
                <a:cubicBezTo>
                  <a:pt x="51348" y="87837"/>
                  <a:pt x="55937" y="92426"/>
                  <a:pt x="61617" y="92426"/>
                </a:cubicBezTo>
                <a:lnTo>
                  <a:pt x="154043" y="92426"/>
                </a:lnTo>
                <a:cubicBezTo>
                  <a:pt x="159723" y="92426"/>
                  <a:pt x="164313" y="87837"/>
                  <a:pt x="164313" y="82156"/>
                </a:cubicBezTo>
                <a:cubicBezTo>
                  <a:pt x="164313" y="76476"/>
                  <a:pt x="159723" y="71887"/>
                  <a:pt x="154043" y="71887"/>
                </a:cubicBezTo>
                <a:lnTo>
                  <a:pt x="61617" y="71887"/>
                </a:lnTo>
                <a:close/>
                <a:moveTo>
                  <a:pt x="61617" y="123235"/>
                </a:moveTo>
                <a:cubicBezTo>
                  <a:pt x="55937" y="123235"/>
                  <a:pt x="51348" y="127824"/>
                  <a:pt x="51348" y="133504"/>
                </a:cubicBezTo>
                <a:cubicBezTo>
                  <a:pt x="51348" y="139184"/>
                  <a:pt x="55937" y="143774"/>
                  <a:pt x="61617" y="143774"/>
                </a:cubicBezTo>
                <a:lnTo>
                  <a:pt x="154043" y="143774"/>
                </a:lnTo>
                <a:cubicBezTo>
                  <a:pt x="159723" y="143774"/>
                  <a:pt x="164313" y="139184"/>
                  <a:pt x="164313" y="133504"/>
                </a:cubicBezTo>
                <a:cubicBezTo>
                  <a:pt x="164313" y="127824"/>
                  <a:pt x="159723" y="123235"/>
                  <a:pt x="154043" y="123235"/>
                </a:cubicBezTo>
                <a:lnTo>
                  <a:pt x="61617" y="123235"/>
                </a:lnTo>
                <a:close/>
                <a:moveTo>
                  <a:pt x="15404" y="148908"/>
                </a:moveTo>
                <a:cubicBezTo>
                  <a:pt x="23906" y="148908"/>
                  <a:pt x="30809" y="142006"/>
                  <a:pt x="30809" y="133504"/>
                </a:cubicBezTo>
                <a:cubicBezTo>
                  <a:pt x="30809" y="125002"/>
                  <a:pt x="23906" y="118100"/>
                  <a:pt x="15404" y="118100"/>
                </a:cubicBezTo>
                <a:cubicBezTo>
                  <a:pt x="6902" y="118100"/>
                  <a:pt x="0" y="125002"/>
                  <a:pt x="0" y="133504"/>
                </a:cubicBezTo>
                <a:cubicBezTo>
                  <a:pt x="0" y="142006"/>
                  <a:pt x="6902" y="148908"/>
                  <a:pt x="15404" y="148908"/>
                </a:cubicBezTo>
                <a:close/>
                <a:moveTo>
                  <a:pt x="30809" y="82156"/>
                </a:moveTo>
                <a:cubicBezTo>
                  <a:pt x="30809" y="73654"/>
                  <a:pt x="23906" y="66752"/>
                  <a:pt x="15404" y="66752"/>
                </a:cubicBezTo>
                <a:cubicBezTo>
                  <a:pt x="6902" y="66752"/>
                  <a:pt x="0" y="73654"/>
                  <a:pt x="0" y="82156"/>
                </a:cubicBezTo>
                <a:cubicBezTo>
                  <a:pt x="0" y="90658"/>
                  <a:pt x="6902" y="97561"/>
                  <a:pt x="15404" y="97561"/>
                </a:cubicBezTo>
                <a:cubicBezTo>
                  <a:pt x="23906" y="97561"/>
                  <a:pt x="30809" y="90658"/>
                  <a:pt x="30809" y="82156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9407" y="3430027"/>
            <a:ext cx="4896518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参数详解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8124" y="3795623"/>
            <a:ext cx="2456474" cy="566879"/>
          </a:xfrm>
          <a:custGeom>
            <a:avLst/>
            <a:gdLst/>
            <a:ahLst/>
            <a:cxnLst/>
            <a:rect l="l" t="t" r="r" b="b"/>
            <a:pathLst>
              <a:path w="2456474" h="566879">
                <a:moveTo>
                  <a:pt x="65724" y="0"/>
                </a:moveTo>
                <a:lnTo>
                  <a:pt x="2390750" y="0"/>
                </a:lnTo>
                <a:cubicBezTo>
                  <a:pt x="2427024" y="0"/>
                  <a:pt x="2456474" y="29450"/>
                  <a:pt x="2456474" y="65724"/>
                </a:cubicBezTo>
                <a:lnTo>
                  <a:pt x="2456474" y="501155"/>
                </a:lnTo>
                <a:cubicBezTo>
                  <a:pt x="2456474" y="537453"/>
                  <a:pt x="2427049" y="566879"/>
                  <a:pt x="2390750" y="566879"/>
                </a:cubicBezTo>
                <a:lnTo>
                  <a:pt x="65724" y="566879"/>
                </a:lnTo>
                <a:cubicBezTo>
                  <a:pt x="29450" y="566879"/>
                  <a:pt x="0" y="537429"/>
                  <a:pt x="0" y="501155"/>
                </a:cubicBezTo>
                <a:lnTo>
                  <a:pt x="0" y="65724"/>
                </a:lnTo>
                <a:cubicBezTo>
                  <a:pt x="0" y="29426"/>
                  <a:pt x="29426" y="0"/>
                  <a:pt x="6572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0819" y="3898318"/>
            <a:ext cx="147881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5684" y="3914749"/>
            <a:ext cx="780485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同时缓存K和V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98192" y="3795623"/>
            <a:ext cx="2456474" cy="566879"/>
          </a:xfrm>
          <a:custGeom>
            <a:avLst/>
            <a:gdLst/>
            <a:ahLst/>
            <a:cxnLst/>
            <a:rect l="l" t="t" r="r" b="b"/>
            <a:pathLst>
              <a:path w="2456474" h="566879">
                <a:moveTo>
                  <a:pt x="65724" y="0"/>
                </a:moveTo>
                <a:lnTo>
                  <a:pt x="2390750" y="0"/>
                </a:lnTo>
                <a:cubicBezTo>
                  <a:pt x="2427024" y="0"/>
                  <a:pt x="2456474" y="29450"/>
                  <a:pt x="2456474" y="65724"/>
                </a:cubicBezTo>
                <a:lnTo>
                  <a:pt x="2456474" y="501155"/>
                </a:lnTo>
                <a:cubicBezTo>
                  <a:pt x="2456474" y="537453"/>
                  <a:pt x="2427049" y="566879"/>
                  <a:pt x="2390750" y="566879"/>
                </a:cubicBezTo>
                <a:lnTo>
                  <a:pt x="65724" y="566879"/>
                </a:lnTo>
                <a:cubicBezTo>
                  <a:pt x="29450" y="566879"/>
                  <a:pt x="0" y="537429"/>
                  <a:pt x="0" y="501155"/>
                </a:cubicBezTo>
                <a:lnTo>
                  <a:pt x="0" y="65724"/>
                </a:lnTo>
                <a:cubicBezTo>
                  <a:pt x="0" y="29426"/>
                  <a:pt x="29426" y="0"/>
                  <a:pt x="6572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200888" y="3898318"/>
            <a:ext cx="262900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r>
              <a:rPr lang="en-US" sz="776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64494" y="3914749"/>
            <a:ext cx="879073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数据精度(Bytes)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888" y="4128356"/>
            <a:ext cx="2300377" cy="13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FP16=2, FP32=4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8124" y="4469305"/>
            <a:ext cx="2456474" cy="566879"/>
          </a:xfrm>
          <a:custGeom>
            <a:avLst/>
            <a:gdLst/>
            <a:ahLst/>
            <a:cxnLst/>
            <a:rect l="l" t="t" r="r" b="b"/>
            <a:pathLst>
              <a:path w="2456474" h="566879">
                <a:moveTo>
                  <a:pt x="65724" y="0"/>
                </a:moveTo>
                <a:lnTo>
                  <a:pt x="2390750" y="0"/>
                </a:lnTo>
                <a:cubicBezTo>
                  <a:pt x="2427024" y="0"/>
                  <a:pt x="2456474" y="29450"/>
                  <a:pt x="2456474" y="65724"/>
                </a:cubicBezTo>
                <a:lnTo>
                  <a:pt x="2456474" y="501155"/>
                </a:lnTo>
                <a:cubicBezTo>
                  <a:pt x="2456474" y="537453"/>
                  <a:pt x="2427049" y="566879"/>
                  <a:pt x="2390750" y="566879"/>
                </a:cubicBezTo>
                <a:lnTo>
                  <a:pt x="65724" y="566879"/>
                </a:lnTo>
                <a:cubicBezTo>
                  <a:pt x="29450" y="566879"/>
                  <a:pt x="0" y="537429"/>
                  <a:pt x="0" y="501155"/>
                </a:cubicBezTo>
                <a:lnTo>
                  <a:pt x="0" y="65724"/>
                </a:lnTo>
                <a:cubicBezTo>
                  <a:pt x="0" y="29426"/>
                  <a:pt x="29426" y="0"/>
                  <a:pt x="6572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0819" y="4572000"/>
            <a:ext cx="147881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5684" y="4588431"/>
            <a:ext cx="517585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模型层数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819" y="4802038"/>
            <a:ext cx="2300377" cy="13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 Layers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98192" y="4469305"/>
            <a:ext cx="2456474" cy="566879"/>
          </a:xfrm>
          <a:custGeom>
            <a:avLst/>
            <a:gdLst/>
            <a:ahLst/>
            <a:cxnLst/>
            <a:rect l="l" t="t" r="r" b="b"/>
            <a:pathLst>
              <a:path w="2456474" h="566879">
                <a:moveTo>
                  <a:pt x="65724" y="0"/>
                </a:moveTo>
                <a:lnTo>
                  <a:pt x="2390750" y="0"/>
                </a:lnTo>
                <a:cubicBezTo>
                  <a:pt x="2427024" y="0"/>
                  <a:pt x="2456474" y="29450"/>
                  <a:pt x="2456474" y="65724"/>
                </a:cubicBezTo>
                <a:lnTo>
                  <a:pt x="2456474" y="501155"/>
                </a:lnTo>
                <a:cubicBezTo>
                  <a:pt x="2456474" y="537453"/>
                  <a:pt x="2427049" y="566879"/>
                  <a:pt x="2390750" y="566879"/>
                </a:cubicBezTo>
                <a:lnTo>
                  <a:pt x="65724" y="566879"/>
                </a:lnTo>
                <a:cubicBezTo>
                  <a:pt x="29450" y="566879"/>
                  <a:pt x="0" y="537429"/>
                  <a:pt x="0" y="501155"/>
                </a:cubicBezTo>
                <a:lnTo>
                  <a:pt x="0" y="65724"/>
                </a:lnTo>
                <a:cubicBezTo>
                  <a:pt x="0" y="29426"/>
                  <a:pt x="29426" y="0"/>
                  <a:pt x="6572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200888" y="4572000"/>
            <a:ext cx="147881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45753" y="4588431"/>
            <a:ext cx="616173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Batch Size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00888" y="4802038"/>
            <a:ext cx="2300377" cy="13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并发请求数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8124" y="5142987"/>
            <a:ext cx="2456474" cy="566879"/>
          </a:xfrm>
          <a:custGeom>
            <a:avLst/>
            <a:gdLst/>
            <a:ahLst/>
            <a:cxnLst/>
            <a:rect l="l" t="t" r="r" b="b"/>
            <a:pathLst>
              <a:path w="2456474" h="566879">
                <a:moveTo>
                  <a:pt x="65724" y="0"/>
                </a:moveTo>
                <a:lnTo>
                  <a:pt x="2390750" y="0"/>
                </a:lnTo>
                <a:cubicBezTo>
                  <a:pt x="2427024" y="0"/>
                  <a:pt x="2456474" y="29450"/>
                  <a:pt x="2456474" y="65724"/>
                </a:cubicBezTo>
                <a:lnTo>
                  <a:pt x="2456474" y="501155"/>
                </a:lnTo>
                <a:cubicBezTo>
                  <a:pt x="2456474" y="537453"/>
                  <a:pt x="2427049" y="566879"/>
                  <a:pt x="2390750" y="566879"/>
                </a:cubicBezTo>
                <a:lnTo>
                  <a:pt x="65724" y="566879"/>
                </a:lnTo>
                <a:cubicBezTo>
                  <a:pt x="29450" y="566879"/>
                  <a:pt x="0" y="537429"/>
                  <a:pt x="0" y="501155"/>
                </a:cubicBezTo>
                <a:lnTo>
                  <a:pt x="0" y="65724"/>
                </a:lnTo>
                <a:cubicBezTo>
                  <a:pt x="0" y="29426"/>
                  <a:pt x="29426" y="0"/>
                  <a:pt x="6572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40819" y="5245682"/>
            <a:ext cx="147881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5684" y="5262113"/>
            <a:ext cx="517585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序列长度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819" y="5475720"/>
            <a:ext cx="2300377" cy="13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Prompt+生成Token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098192" y="5142987"/>
            <a:ext cx="2456474" cy="566879"/>
          </a:xfrm>
          <a:custGeom>
            <a:avLst/>
            <a:gdLst/>
            <a:ahLst/>
            <a:cxnLst/>
            <a:rect l="l" t="t" r="r" b="b"/>
            <a:pathLst>
              <a:path w="2456474" h="566879">
                <a:moveTo>
                  <a:pt x="65724" y="0"/>
                </a:moveTo>
                <a:lnTo>
                  <a:pt x="2390750" y="0"/>
                </a:lnTo>
                <a:cubicBezTo>
                  <a:pt x="2427024" y="0"/>
                  <a:pt x="2456474" y="29450"/>
                  <a:pt x="2456474" y="65724"/>
                </a:cubicBezTo>
                <a:lnTo>
                  <a:pt x="2456474" y="501155"/>
                </a:lnTo>
                <a:cubicBezTo>
                  <a:pt x="2456474" y="537453"/>
                  <a:pt x="2427049" y="566879"/>
                  <a:pt x="2390750" y="566879"/>
                </a:cubicBezTo>
                <a:lnTo>
                  <a:pt x="65724" y="566879"/>
                </a:lnTo>
                <a:cubicBezTo>
                  <a:pt x="29450" y="566879"/>
                  <a:pt x="0" y="537429"/>
                  <a:pt x="0" y="501155"/>
                </a:cubicBezTo>
                <a:lnTo>
                  <a:pt x="0" y="65724"/>
                </a:lnTo>
                <a:cubicBezTo>
                  <a:pt x="0" y="29426"/>
                  <a:pt x="29426" y="0"/>
                  <a:pt x="6572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3200888" y="5245682"/>
            <a:ext cx="147881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45753" y="5262113"/>
            <a:ext cx="632604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隐藏层维度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200888" y="5475720"/>
            <a:ext cx="2300377" cy="13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Hidden Size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8124" y="5816668"/>
            <a:ext cx="5011536" cy="566879"/>
          </a:xfrm>
          <a:custGeom>
            <a:avLst/>
            <a:gdLst/>
            <a:ahLst/>
            <a:cxnLst/>
            <a:rect l="l" t="t" r="r" b="b"/>
            <a:pathLst>
              <a:path w="5011536" h="566879">
                <a:moveTo>
                  <a:pt x="65724" y="0"/>
                </a:moveTo>
                <a:lnTo>
                  <a:pt x="4945812" y="0"/>
                </a:lnTo>
                <a:cubicBezTo>
                  <a:pt x="4982111" y="0"/>
                  <a:pt x="5011536" y="29426"/>
                  <a:pt x="5011536" y="65724"/>
                </a:cubicBezTo>
                <a:lnTo>
                  <a:pt x="5011536" y="501155"/>
                </a:lnTo>
                <a:cubicBezTo>
                  <a:pt x="5011536" y="537453"/>
                  <a:pt x="4982111" y="566879"/>
                  <a:pt x="4945812" y="566879"/>
                </a:cubicBezTo>
                <a:lnTo>
                  <a:pt x="65724" y="566879"/>
                </a:lnTo>
                <a:cubicBezTo>
                  <a:pt x="29450" y="566879"/>
                  <a:pt x="0" y="537429"/>
                  <a:pt x="0" y="501155"/>
                </a:cubicBezTo>
                <a:lnTo>
                  <a:pt x="0" y="65724"/>
                </a:lnTo>
                <a:cubicBezTo>
                  <a:pt x="0" y="29426"/>
                  <a:pt x="29426" y="0"/>
                  <a:pt x="6572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9A44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0819" y="5919364"/>
            <a:ext cx="657251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776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</a:t>
            </a:r>
            <a:r>
              <a:rPr lang="en-US" sz="1035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/N</a:t>
            </a:r>
            <a:r>
              <a:rPr lang="en-US" sz="776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00124" y="5935795"/>
            <a:ext cx="1076248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GQA/MQA优化系数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819" y="6149402"/>
            <a:ext cx="4855439" cy="13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6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MHA时=1, GQA/MQA时&lt;1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027964" y="1285747"/>
            <a:ext cx="5833100" cy="5307299"/>
          </a:xfrm>
          <a:custGeom>
            <a:avLst/>
            <a:gdLst/>
            <a:ahLst/>
            <a:cxnLst/>
            <a:rect l="l" t="t" r="r" b="b"/>
            <a:pathLst>
              <a:path w="5833100" h="5307299">
                <a:moveTo>
                  <a:pt x="98610" y="0"/>
                </a:moveTo>
                <a:lnTo>
                  <a:pt x="5734490" y="0"/>
                </a:lnTo>
                <a:cubicBezTo>
                  <a:pt x="5788951" y="0"/>
                  <a:pt x="5833100" y="44149"/>
                  <a:pt x="5833100" y="98610"/>
                </a:cubicBezTo>
                <a:lnTo>
                  <a:pt x="5833100" y="5208690"/>
                </a:lnTo>
                <a:cubicBezTo>
                  <a:pt x="5833100" y="5263150"/>
                  <a:pt x="5788951" y="5307299"/>
                  <a:pt x="5734490" y="5307299"/>
                </a:cubicBezTo>
                <a:lnTo>
                  <a:pt x="98610" y="5307299"/>
                </a:lnTo>
                <a:cubicBezTo>
                  <a:pt x="44149" y="5307299"/>
                  <a:pt x="0" y="5263150"/>
                  <a:pt x="0" y="5208690"/>
                </a:cubicBezTo>
                <a:lnTo>
                  <a:pt x="0" y="98610"/>
                </a:lnTo>
                <a:cubicBezTo>
                  <a:pt x="0" y="44149"/>
                  <a:pt x="44149" y="0"/>
                  <a:pt x="98610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9A44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192277" y="1487030"/>
            <a:ext cx="5504474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公式解构示意图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233355" y="5738620"/>
            <a:ext cx="5422318" cy="649035"/>
          </a:xfrm>
          <a:custGeom>
            <a:avLst/>
            <a:gdLst/>
            <a:ahLst/>
            <a:cxnLst/>
            <a:rect l="l" t="t" r="r" b="b"/>
            <a:pathLst>
              <a:path w="5422318" h="649035">
                <a:moveTo>
                  <a:pt x="65728" y="0"/>
                </a:moveTo>
                <a:lnTo>
                  <a:pt x="5356590" y="0"/>
                </a:lnTo>
                <a:cubicBezTo>
                  <a:pt x="5392891" y="0"/>
                  <a:pt x="5422318" y="29427"/>
                  <a:pt x="5422318" y="65728"/>
                </a:cubicBezTo>
                <a:lnTo>
                  <a:pt x="5422318" y="583307"/>
                </a:lnTo>
                <a:cubicBezTo>
                  <a:pt x="5422318" y="619608"/>
                  <a:pt x="5392891" y="649035"/>
                  <a:pt x="5356590" y="649035"/>
                </a:cubicBezTo>
                <a:lnTo>
                  <a:pt x="65728" y="649035"/>
                </a:lnTo>
                <a:cubicBezTo>
                  <a:pt x="29427" y="649035"/>
                  <a:pt x="0" y="619608"/>
                  <a:pt x="0" y="583307"/>
                </a:cubicBezTo>
                <a:lnTo>
                  <a:pt x="0" y="65728"/>
                </a:lnTo>
                <a:cubicBezTo>
                  <a:pt x="0" y="29427"/>
                  <a:pt x="29427" y="0"/>
                  <a:pt x="65728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4"/>
          <p:cNvSpPr/>
          <p:nvPr/>
        </p:nvSpPr>
        <p:spPr>
          <a:xfrm>
            <a:off x="6399722" y="5911148"/>
            <a:ext cx="86264" cy="115019"/>
          </a:xfrm>
          <a:custGeom>
            <a:avLst/>
            <a:gdLst/>
            <a:ahLst/>
            <a:cxnLst/>
            <a:rect l="l" t="t" r="r" b="b"/>
            <a:pathLst>
              <a:path w="86264" h="115019">
                <a:moveTo>
                  <a:pt x="65799" y="86264"/>
                </a:moveTo>
                <a:cubicBezTo>
                  <a:pt x="67439" y="81255"/>
                  <a:pt x="70719" y="76717"/>
                  <a:pt x="74425" y="72808"/>
                </a:cubicBezTo>
                <a:cubicBezTo>
                  <a:pt x="81771" y="65080"/>
                  <a:pt x="86264" y="54634"/>
                  <a:pt x="86264" y="43132"/>
                </a:cubicBezTo>
                <a:cubicBezTo>
                  <a:pt x="86264" y="19320"/>
                  <a:pt x="66945" y="0"/>
                  <a:pt x="43132" y="0"/>
                </a:cubicBezTo>
                <a:cubicBezTo>
                  <a:pt x="19320" y="0"/>
                  <a:pt x="0" y="19320"/>
                  <a:pt x="0" y="43132"/>
                </a:cubicBezTo>
                <a:cubicBezTo>
                  <a:pt x="0" y="54634"/>
                  <a:pt x="4493" y="65080"/>
                  <a:pt x="11839" y="72808"/>
                </a:cubicBezTo>
                <a:cubicBezTo>
                  <a:pt x="15546" y="76717"/>
                  <a:pt x="18848" y="81255"/>
                  <a:pt x="20465" y="86264"/>
                </a:cubicBezTo>
                <a:lnTo>
                  <a:pt x="65776" y="86264"/>
                </a:lnTo>
                <a:close/>
                <a:moveTo>
                  <a:pt x="64698" y="97047"/>
                </a:moveTo>
                <a:lnTo>
                  <a:pt x="21566" y="97047"/>
                </a:lnTo>
                <a:lnTo>
                  <a:pt x="21566" y="100642"/>
                </a:lnTo>
                <a:cubicBezTo>
                  <a:pt x="21566" y="110571"/>
                  <a:pt x="29608" y="118613"/>
                  <a:pt x="39538" y="118613"/>
                </a:cubicBezTo>
                <a:lnTo>
                  <a:pt x="46726" y="118613"/>
                </a:lnTo>
                <a:cubicBezTo>
                  <a:pt x="56656" y="118613"/>
                  <a:pt x="64698" y="110571"/>
                  <a:pt x="64698" y="100642"/>
                </a:cubicBezTo>
                <a:lnTo>
                  <a:pt x="64698" y="97047"/>
                </a:lnTo>
                <a:close/>
                <a:moveTo>
                  <a:pt x="41335" y="25160"/>
                </a:moveTo>
                <a:cubicBezTo>
                  <a:pt x="32394" y="25160"/>
                  <a:pt x="25160" y="32394"/>
                  <a:pt x="25160" y="41335"/>
                </a:cubicBezTo>
                <a:cubicBezTo>
                  <a:pt x="25160" y="44323"/>
                  <a:pt x="22757" y="46726"/>
                  <a:pt x="19769" y="46726"/>
                </a:cubicBezTo>
                <a:cubicBezTo>
                  <a:pt x="16781" y="46726"/>
                  <a:pt x="14377" y="44323"/>
                  <a:pt x="14377" y="41335"/>
                </a:cubicBezTo>
                <a:cubicBezTo>
                  <a:pt x="14377" y="26441"/>
                  <a:pt x="26441" y="14377"/>
                  <a:pt x="41335" y="14377"/>
                </a:cubicBezTo>
                <a:cubicBezTo>
                  <a:pt x="44323" y="14377"/>
                  <a:pt x="46726" y="16781"/>
                  <a:pt x="46726" y="19769"/>
                </a:cubicBezTo>
                <a:cubicBezTo>
                  <a:pt x="46726" y="22757"/>
                  <a:pt x="44323" y="25160"/>
                  <a:pt x="41335" y="2516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6559312" y="5874178"/>
            <a:ext cx="5018313" cy="37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关键洞察:</a:t>
            </a:r>
            <a:r>
              <a:rPr lang="en-US" sz="90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显存占用与Batch Size(B)和序列长度(S)呈</a:t>
            </a:r>
            <a:r>
              <a:rPr lang="en-US" sz="906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线性正相关</a:t>
            </a:r>
            <a:r>
              <a:rPr lang="en-US" sz="90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,这是优化KV Cache的核心切入点。</a:t>
            </a:r>
            <a:endParaRPr lang="en-US" sz="16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15F23A84-6D01-9723-E2C1-CA6A3E298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557" y="2088779"/>
            <a:ext cx="5515914" cy="30768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80367" y="32147"/>
                </a:moveTo>
                <a:cubicBezTo>
                  <a:pt x="82611" y="32147"/>
                  <a:pt x="84754" y="33084"/>
                  <a:pt x="86294" y="34759"/>
                </a:cubicBezTo>
                <a:lnTo>
                  <a:pt x="110103" y="60711"/>
                </a:lnTo>
                <a:lnTo>
                  <a:pt x="125574" y="45207"/>
                </a:lnTo>
                <a:cubicBezTo>
                  <a:pt x="128721" y="42059"/>
                  <a:pt x="133811" y="42059"/>
                  <a:pt x="136926" y="45207"/>
                </a:cubicBezTo>
                <a:lnTo>
                  <a:pt x="158357" y="66638"/>
                </a:lnTo>
                <a:cubicBezTo>
                  <a:pt x="159864" y="68145"/>
                  <a:pt x="160701" y="70187"/>
                  <a:pt x="160701" y="72330"/>
                </a:cubicBezTo>
                <a:lnTo>
                  <a:pt x="160701" y="109835"/>
                </a:lnTo>
                <a:cubicBezTo>
                  <a:pt x="160701" y="114289"/>
                  <a:pt x="157118" y="117872"/>
                  <a:pt x="152664" y="117872"/>
                </a:cubicBezTo>
                <a:lnTo>
                  <a:pt x="50866" y="117872"/>
                </a:lnTo>
                <a:cubicBezTo>
                  <a:pt x="46412" y="117872"/>
                  <a:pt x="42829" y="114289"/>
                  <a:pt x="42829" y="109835"/>
                </a:cubicBezTo>
                <a:lnTo>
                  <a:pt x="42829" y="72330"/>
                </a:lnTo>
                <a:cubicBezTo>
                  <a:pt x="42829" y="70321"/>
                  <a:pt x="43599" y="68379"/>
                  <a:pt x="44939" y="66906"/>
                </a:cubicBezTo>
                <a:lnTo>
                  <a:pt x="74407" y="34759"/>
                </a:lnTo>
                <a:cubicBezTo>
                  <a:pt x="75914" y="33084"/>
                  <a:pt x="78090" y="32147"/>
                  <a:pt x="80334" y="32147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03.3 实例分析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生产环境的规模挑战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90663"/>
            <a:ext cx="5314950" cy="3248025"/>
          </a:xfrm>
          <a:custGeom>
            <a:avLst/>
            <a:gdLst/>
            <a:ahLst/>
            <a:cxnLst/>
            <a:rect l="l" t="t" r="r" b="b"/>
            <a:pathLst>
              <a:path w="5314950" h="3248025">
                <a:moveTo>
                  <a:pt x="114298" y="0"/>
                </a:moveTo>
                <a:lnTo>
                  <a:pt x="5200652" y="0"/>
                </a:lnTo>
                <a:cubicBezTo>
                  <a:pt x="5263735" y="0"/>
                  <a:pt x="5314950" y="51215"/>
                  <a:pt x="5314950" y="114298"/>
                </a:cubicBezTo>
                <a:lnTo>
                  <a:pt x="5314950" y="3133727"/>
                </a:lnTo>
                <a:cubicBezTo>
                  <a:pt x="5314950" y="3196810"/>
                  <a:pt x="5263735" y="3248025"/>
                  <a:pt x="5200652" y="3248025"/>
                </a:cubicBezTo>
                <a:lnTo>
                  <a:pt x="114298" y="3248025"/>
                </a:lnTo>
                <a:cubicBezTo>
                  <a:pt x="51215" y="3248025"/>
                  <a:pt x="0" y="3196810"/>
                  <a:pt x="0" y="3133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2938" y="176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57250" y="172402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模型对比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8175" y="2143125"/>
            <a:ext cx="4829175" cy="1104900"/>
          </a:xfrm>
          <a:custGeom>
            <a:avLst/>
            <a:gdLst/>
            <a:ahLst/>
            <a:cxnLst/>
            <a:rect l="l" t="t" r="r" b="b"/>
            <a:pathLst>
              <a:path w="4829175" h="1104900">
                <a:moveTo>
                  <a:pt x="0" y="0"/>
                </a:moveTo>
                <a:lnTo>
                  <a:pt x="4752970" y="0"/>
                </a:lnTo>
                <a:cubicBezTo>
                  <a:pt x="4795057" y="0"/>
                  <a:pt x="4829175" y="34118"/>
                  <a:pt x="4829175" y="76205"/>
                </a:cubicBezTo>
                <a:lnTo>
                  <a:pt x="4829175" y="1028695"/>
                </a:lnTo>
                <a:cubicBezTo>
                  <a:pt x="4829175" y="1070782"/>
                  <a:pt x="4795057" y="1104900"/>
                  <a:pt x="4752970" y="1104900"/>
                </a:cubicBez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38175" y="2143125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9625" y="2295525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Qwen3-0.6B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86300" y="2295525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686300" y="2295525"/>
            <a:ext cx="695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小模型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9625" y="2638425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单Token的KV Cache占用极小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8675" y="2924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76325" y="2905125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显存压力小,可支持高并发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8175" y="3400425"/>
            <a:ext cx="4829175" cy="1104900"/>
          </a:xfrm>
          <a:custGeom>
            <a:avLst/>
            <a:gdLst/>
            <a:ahLst/>
            <a:cxnLst/>
            <a:rect l="l" t="t" r="r" b="b"/>
            <a:pathLst>
              <a:path w="4829175" h="1104900">
                <a:moveTo>
                  <a:pt x="0" y="0"/>
                </a:moveTo>
                <a:lnTo>
                  <a:pt x="4752970" y="0"/>
                </a:lnTo>
                <a:cubicBezTo>
                  <a:pt x="4795057" y="0"/>
                  <a:pt x="4829175" y="34118"/>
                  <a:pt x="4829175" y="76205"/>
                </a:cubicBezTo>
                <a:lnTo>
                  <a:pt x="4829175" y="1028695"/>
                </a:lnTo>
                <a:cubicBezTo>
                  <a:pt x="4829175" y="1070782"/>
                  <a:pt x="4795057" y="1104900"/>
                  <a:pt x="4752970" y="1104900"/>
                </a:cubicBez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38175" y="3400425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9625" y="355282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Llama-2-70B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86300" y="3552825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686300" y="3552825"/>
            <a:ext cx="695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9625" y="3895725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Cache可达数十GB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8675" y="4181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76325" y="4162425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成为制约并发数的主要瓶颈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4976813"/>
            <a:ext cx="5314950" cy="1819275"/>
          </a:xfrm>
          <a:custGeom>
            <a:avLst/>
            <a:gdLst/>
            <a:ahLst/>
            <a:cxnLst/>
            <a:rect l="l" t="t" r="r" b="b"/>
            <a:pathLst>
              <a:path w="5314950" h="1819275">
                <a:moveTo>
                  <a:pt x="114305" y="0"/>
                </a:moveTo>
                <a:lnTo>
                  <a:pt x="5200645" y="0"/>
                </a:lnTo>
                <a:cubicBezTo>
                  <a:pt x="5263774" y="0"/>
                  <a:pt x="5314950" y="51176"/>
                  <a:pt x="5314950" y="114305"/>
                </a:cubicBezTo>
                <a:lnTo>
                  <a:pt x="5314950" y="1704970"/>
                </a:lnTo>
                <a:cubicBezTo>
                  <a:pt x="5314950" y="1768099"/>
                  <a:pt x="5263774" y="1819275"/>
                  <a:pt x="5200645" y="1819275"/>
                </a:cubicBezTo>
                <a:lnTo>
                  <a:pt x="114305" y="1819275"/>
                </a:lnTo>
                <a:cubicBezTo>
                  <a:pt x="51176" y="1819275"/>
                  <a:pt x="0" y="1768099"/>
                  <a:pt x="0" y="170497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42938" y="5248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7250" y="52101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长文本场景挑战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6275" y="5629275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23925" y="5591175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上下文长度达到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32k-128k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时,70B模型的KV Cache急剧增长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6275" y="5991225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23925" y="5953125"/>
            <a:ext cx="3009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显存占用与序列长度呈</a:t>
            </a:r>
            <a:r>
              <a:rPr lang="en-US" sz="120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线性关系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,增长不可控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6275" y="6353175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23925" y="6315075"/>
            <a:ext cx="2981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限制Batch Size,影响系统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吞吐量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并发能力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15038" y="1490663"/>
            <a:ext cx="5791200" cy="5305425"/>
          </a:xfrm>
          <a:custGeom>
            <a:avLst/>
            <a:gdLst/>
            <a:ahLst/>
            <a:cxnLst/>
            <a:rect l="l" t="t" r="r" b="b"/>
            <a:pathLst>
              <a:path w="5791200" h="5305425">
                <a:moveTo>
                  <a:pt x="114279" y="0"/>
                </a:moveTo>
                <a:lnTo>
                  <a:pt x="5676921" y="0"/>
                </a:lnTo>
                <a:cubicBezTo>
                  <a:pt x="5740036" y="0"/>
                  <a:pt x="5791200" y="51164"/>
                  <a:pt x="5791200" y="114279"/>
                </a:cubicBezTo>
                <a:lnTo>
                  <a:pt x="5791200" y="5191146"/>
                </a:lnTo>
                <a:cubicBezTo>
                  <a:pt x="5791200" y="5254261"/>
                  <a:pt x="5740036" y="5305425"/>
                  <a:pt x="5676921" y="5305425"/>
                </a:cubicBezTo>
                <a:lnTo>
                  <a:pt x="114279" y="5305425"/>
                </a:lnTo>
                <a:cubicBezTo>
                  <a:pt x="51164" y="5305425"/>
                  <a:pt x="0" y="5254261"/>
                  <a:pt x="0" y="5191146"/>
                </a:cubicBezTo>
                <a:lnTo>
                  <a:pt x="0" y="114279"/>
                </a:lnTo>
                <a:cubicBezTo>
                  <a:pt x="0" y="51207"/>
                  <a:pt x="51207" y="0"/>
                  <a:pt x="114279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9A44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205538" y="172402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显存占用趋势对比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267450" y="5648325"/>
            <a:ext cx="5305425" cy="419100"/>
          </a:xfrm>
          <a:custGeom>
            <a:avLst/>
            <a:gdLst/>
            <a:ahLst/>
            <a:cxnLst/>
            <a:rect l="l" t="t" r="r" b="b"/>
            <a:pathLst>
              <a:path w="5305425" h="419100">
                <a:moveTo>
                  <a:pt x="38100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342899"/>
                </a:lnTo>
                <a:cubicBezTo>
                  <a:pt x="5305425" y="384984"/>
                  <a:pt x="5271309" y="419100"/>
                  <a:pt x="5229224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6267450" y="564832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6400800" y="5762625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Qwen3-0.6B: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显存占用几乎不随上下文增长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67450" y="6143625"/>
            <a:ext cx="5305425" cy="419100"/>
          </a:xfrm>
          <a:custGeom>
            <a:avLst/>
            <a:gdLst/>
            <a:ahLst/>
            <a:cxnLst/>
            <a:rect l="l" t="t" r="r" b="b"/>
            <a:pathLst>
              <a:path w="5305425" h="419100">
                <a:moveTo>
                  <a:pt x="38100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342899"/>
                </a:lnTo>
                <a:cubicBezTo>
                  <a:pt x="5305425" y="384984"/>
                  <a:pt x="5271309" y="419100"/>
                  <a:pt x="5229224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8"/>
          <p:cNvSpPr/>
          <p:nvPr/>
        </p:nvSpPr>
        <p:spPr>
          <a:xfrm>
            <a:off x="6267450" y="614362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6400800" y="6257925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Llama-2-70B: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显存占用随上下文线性增长,快速触及GPU上限</a:t>
            </a:r>
            <a:endParaRPr lang="en-US" sz="16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8538592A-A410-CEC1-B595-9F49A63F8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93206"/>
            <a:ext cx="5476875" cy="305506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86723" y="-180489"/>
            <a:ext cx="7219541" cy="7219541"/>
          </a:xfrm>
          <a:custGeom>
            <a:avLst/>
            <a:gdLst/>
            <a:ahLst/>
            <a:cxnLst/>
            <a:rect l="l" t="t" r="r" b="b"/>
            <a:pathLst>
              <a:path w="7219541" h="7219541">
                <a:moveTo>
                  <a:pt x="3609771" y="0"/>
                </a:moveTo>
                <a:lnTo>
                  <a:pt x="3609771" y="0"/>
                </a:lnTo>
                <a:cubicBezTo>
                  <a:pt x="5603392" y="0"/>
                  <a:pt x="7219541" y="1616149"/>
                  <a:pt x="7219541" y="3609771"/>
                </a:cubicBezTo>
                <a:lnTo>
                  <a:pt x="7219541" y="3609771"/>
                </a:lnTo>
                <a:cubicBezTo>
                  <a:pt x="7219541" y="5603392"/>
                  <a:pt x="5603392" y="7219541"/>
                  <a:pt x="3609771" y="7219541"/>
                </a:cubicBezTo>
                <a:lnTo>
                  <a:pt x="3609771" y="7219541"/>
                </a:lnTo>
                <a:cubicBezTo>
                  <a:pt x="1616149" y="7219541"/>
                  <a:pt x="0" y="5603392"/>
                  <a:pt x="0" y="3609771"/>
                </a:cubicBezTo>
                <a:lnTo>
                  <a:pt x="0" y="3609771"/>
                </a:lnTo>
                <a:cubicBezTo>
                  <a:pt x="0" y="1616149"/>
                  <a:pt x="1616149" y="0"/>
                  <a:pt x="3609770" y="0"/>
                </a:cubicBezTo>
                <a:close/>
              </a:path>
            </a:pathLst>
          </a:custGeom>
          <a:solidFill>
            <a:srgbClr val="4A9B9B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489" y="1813910"/>
            <a:ext cx="1353664" cy="406099"/>
          </a:xfrm>
          <a:custGeom>
            <a:avLst/>
            <a:gdLst/>
            <a:ahLst/>
            <a:cxnLst/>
            <a:rect l="l" t="t" r="r" b="b"/>
            <a:pathLst>
              <a:path w="1353664" h="406099">
                <a:moveTo>
                  <a:pt x="203050" y="0"/>
                </a:moveTo>
                <a:lnTo>
                  <a:pt x="1150614" y="0"/>
                </a:lnTo>
                <a:cubicBezTo>
                  <a:pt x="1262756" y="0"/>
                  <a:pt x="1353664" y="90908"/>
                  <a:pt x="1353664" y="203050"/>
                </a:cubicBezTo>
                <a:lnTo>
                  <a:pt x="1353664" y="203050"/>
                </a:lnTo>
                <a:cubicBezTo>
                  <a:pt x="1353664" y="315191"/>
                  <a:pt x="1262756" y="406099"/>
                  <a:pt x="1150614" y="406099"/>
                </a:cubicBezTo>
                <a:lnTo>
                  <a:pt x="203050" y="406099"/>
                </a:lnTo>
                <a:cubicBezTo>
                  <a:pt x="90983" y="406099"/>
                  <a:pt x="0" y="315116"/>
                  <a:pt x="0" y="203050"/>
                </a:cubicBezTo>
                <a:lnTo>
                  <a:pt x="0" y="203050"/>
                </a:lnTo>
                <a:cubicBezTo>
                  <a:pt x="0" y="90983"/>
                  <a:pt x="90983" y="0"/>
                  <a:pt x="20305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 w="12700">
            <a:solidFill>
              <a:srgbClr val="4A9B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0977" y="1809397"/>
            <a:ext cx="1425859" cy="397075"/>
          </a:xfrm>
          <a:prstGeom prst="rect">
            <a:avLst/>
          </a:prstGeom>
          <a:noFill/>
          <a:ln/>
        </p:spPr>
        <p:txBody>
          <a:bodyPr wrap="square" lIns="144391" tIns="72195" rIns="144391" bIns="72195" rtlCol="0" anchor="ctr"/>
          <a:lstStyle/>
          <a:p>
            <a:pPr>
              <a:lnSpc>
                <a:spcPct val="130000"/>
              </a:lnSpc>
            </a:pPr>
            <a:r>
              <a:rPr lang="en-US" sz="1279" b="1" kern="0" spc="64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0977" y="2441107"/>
            <a:ext cx="11740779" cy="135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优缺点对比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与权衡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0977" y="4011358"/>
            <a:ext cx="6172708" cy="35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5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速度与显存的Trade-off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0977" y="4904776"/>
            <a:ext cx="577563" cy="36098"/>
          </a:xfrm>
          <a:custGeom>
            <a:avLst/>
            <a:gdLst/>
            <a:ahLst/>
            <a:cxnLst/>
            <a:rect l="l" t="t" r="r" b="b"/>
            <a:pathLst>
              <a:path w="577563" h="36098">
                <a:moveTo>
                  <a:pt x="0" y="0"/>
                </a:moveTo>
                <a:lnTo>
                  <a:pt x="577563" y="0"/>
                </a:lnTo>
                <a:lnTo>
                  <a:pt x="577563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2931" y="4796483"/>
            <a:ext cx="217488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Speed vs Memory Trade-off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472" y="342472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68494" y="0"/>
                </a:moveTo>
                <a:lnTo>
                  <a:pt x="273978" y="0"/>
                </a:lnTo>
                <a:cubicBezTo>
                  <a:pt x="311781" y="0"/>
                  <a:pt x="342472" y="30691"/>
                  <a:pt x="342472" y="68494"/>
                </a:cubicBezTo>
                <a:lnTo>
                  <a:pt x="342472" y="273978"/>
                </a:lnTo>
                <a:cubicBezTo>
                  <a:pt x="342472" y="311806"/>
                  <a:pt x="311806" y="342472"/>
                  <a:pt x="273978" y="342472"/>
                </a:cubicBezTo>
                <a:lnTo>
                  <a:pt x="68494" y="342472"/>
                </a:lnTo>
                <a:cubicBezTo>
                  <a:pt x="30691" y="342472"/>
                  <a:pt x="0" y="311781"/>
                  <a:pt x="0" y="273978"/>
                </a:cubicBezTo>
                <a:lnTo>
                  <a:pt x="0" y="68494"/>
                </a:lnTo>
                <a:cubicBezTo>
                  <a:pt x="0" y="30666"/>
                  <a:pt x="30666" y="0"/>
                  <a:pt x="68494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19528" y="436652"/>
            <a:ext cx="192640" cy="154112"/>
          </a:xfrm>
          <a:custGeom>
            <a:avLst/>
            <a:gdLst/>
            <a:ahLst/>
            <a:cxnLst/>
            <a:rect l="l" t="t" r="r" b="b"/>
            <a:pathLst>
              <a:path w="192640" h="154112">
                <a:moveTo>
                  <a:pt x="115584" y="9632"/>
                </a:moveTo>
                <a:lnTo>
                  <a:pt x="154112" y="9632"/>
                </a:lnTo>
                <a:cubicBezTo>
                  <a:pt x="159440" y="9632"/>
                  <a:pt x="163744" y="13936"/>
                  <a:pt x="163744" y="19264"/>
                </a:cubicBezTo>
                <a:cubicBezTo>
                  <a:pt x="163744" y="24592"/>
                  <a:pt x="159440" y="28896"/>
                  <a:pt x="154112" y="28896"/>
                </a:cubicBezTo>
                <a:lnTo>
                  <a:pt x="119919" y="28896"/>
                </a:lnTo>
                <a:cubicBezTo>
                  <a:pt x="118353" y="36662"/>
                  <a:pt x="113026" y="43073"/>
                  <a:pt x="105952" y="46143"/>
                </a:cubicBezTo>
                <a:lnTo>
                  <a:pt x="105952" y="134848"/>
                </a:lnTo>
                <a:lnTo>
                  <a:pt x="154112" y="134848"/>
                </a:lnTo>
                <a:cubicBezTo>
                  <a:pt x="159440" y="134848"/>
                  <a:pt x="163744" y="139153"/>
                  <a:pt x="163744" y="144480"/>
                </a:cubicBezTo>
                <a:cubicBezTo>
                  <a:pt x="163744" y="149808"/>
                  <a:pt x="159440" y="154112"/>
                  <a:pt x="154112" y="154112"/>
                </a:cubicBezTo>
                <a:lnTo>
                  <a:pt x="38528" y="154112"/>
                </a:lnTo>
                <a:cubicBezTo>
                  <a:pt x="33200" y="154112"/>
                  <a:pt x="28896" y="149808"/>
                  <a:pt x="28896" y="144480"/>
                </a:cubicBezTo>
                <a:cubicBezTo>
                  <a:pt x="28896" y="139153"/>
                  <a:pt x="33200" y="134848"/>
                  <a:pt x="38528" y="134848"/>
                </a:cubicBezTo>
                <a:lnTo>
                  <a:pt x="86688" y="134848"/>
                </a:lnTo>
                <a:lnTo>
                  <a:pt x="86688" y="46143"/>
                </a:lnTo>
                <a:cubicBezTo>
                  <a:pt x="79615" y="43043"/>
                  <a:pt x="74287" y="36632"/>
                  <a:pt x="72722" y="28896"/>
                </a:cubicBezTo>
                <a:lnTo>
                  <a:pt x="38528" y="28896"/>
                </a:lnTo>
                <a:cubicBezTo>
                  <a:pt x="33200" y="28896"/>
                  <a:pt x="28896" y="24592"/>
                  <a:pt x="28896" y="19264"/>
                </a:cubicBezTo>
                <a:cubicBezTo>
                  <a:pt x="28896" y="13936"/>
                  <a:pt x="33200" y="9632"/>
                  <a:pt x="38528" y="9632"/>
                </a:cubicBezTo>
                <a:lnTo>
                  <a:pt x="77056" y="9632"/>
                </a:lnTo>
                <a:cubicBezTo>
                  <a:pt x="81451" y="3793"/>
                  <a:pt x="88434" y="0"/>
                  <a:pt x="96320" y="0"/>
                </a:cubicBezTo>
                <a:cubicBezTo>
                  <a:pt x="104206" y="0"/>
                  <a:pt x="111190" y="3793"/>
                  <a:pt x="115584" y="9632"/>
                </a:cubicBezTo>
                <a:close/>
                <a:moveTo>
                  <a:pt x="132320" y="96320"/>
                </a:moveTo>
                <a:lnTo>
                  <a:pt x="175905" y="96320"/>
                </a:lnTo>
                <a:lnTo>
                  <a:pt x="154112" y="58936"/>
                </a:lnTo>
                <a:lnTo>
                  <a:pt x="132320" y="96320"/>
                </a:lnTo>
                <a:close/>
                <a:moveTo>
                  <a:pt x="154112" y="125216"/>
                </a:moveTo>
                <a:cubicBezTo>
                  <a:pt x="135179" y="125216"/>
                  <a:pt x="119437" y="114982"/>
                  <a:pt x="116186" y="101467"/>
                </a:cubicBezTo>
                <a:cubicBezTo>
                  <a:pt x="115404" y="98156"/>
                  <a:pt x="116487" y="94755"/>
                  <a:pt x="118203" y="91805"/>
                </a:cubicBezTo>
                <a:lnTo>
                  <a:pt x="146858" y="42682"/>
                </a:lnTo>
                <a:cubicBezTo>
                  <a:pt x="148363" y="40093"/>
                  <a:pt x="151132" y="38528"/>
                  <a:pt x="154112" y="38528"/>
                </a:cubicBezTo>
                <a:cubicBezTo>
                  <a:pt x="157092" y="38528"/>
                  <a:pt x="159861" y="40123"/>
                  <a:pt x="161366" y="42682"/>
                </a:cubicBezTo>
                <a:lnTo>
                  <a:pt x="190022" y="91805"/>
                </a:lnTo>
                <a:cubicBezTo>
                  <a:pt x="191737" y="94755"/>
                  <a:pt x="192821" y="98156"/>
                  <a:pt x="192038" y="101467"/>
                </a:cubicBezTo>
                <a:cubicBezTo>
                  <a:pt x="188788" y="114952"/>
                  <a:pt x="173045" y="125216"/>
                  <a:pt x="154112" y="125216"/>
                </a:cubicBezTo>
                <a:close/>
                <a:moveTo>
                  <a:pt x="38167" y="58936"/>
                </a:moveTo>
                <a:lnTo>
                  <a:pt x="16374" y="96320"/>
                </a:lnTo>
                <a:lnTo>
                  <a:pt x="59989" y="96320"/>
                </a:lnTo>
                <a:lnTo>
                  <a:pt x="38167" y="58936"/>
                </a:lnTo>
                <a:close/>
                <a:moveTo>
                  <a:pt x="271" y="101467"/>
                </a:moveTo>
                <a:cubicBezTo>
                  <a:pt x="-512" y="98156"/>
                  <a:pt x="572" y="94755"/>
                  <a:pt x="2288" y="91805"/>
                </a:cubicBezTo>
                <a:lnTo>
                  <a:pt x="30943" y="42682"/>
                </a:lnTo>
                <a:cubicBezTo>
                  <a:pt x="32448" y="40093"/>
                  <a:pt x="35217" y="38528"/>
                  <a:pt x="38197" y="38528"/>
                </a:cubicBezTo>
                <a:cubicBezTo>
                  <a:pt x="41177" y="38528"/>
                  <a:pt x="43946" y="40123"/>
                  <a:pt x="45451" y="42682"/>
                </a:cubicBezTo>
                <a:lnTo>
                  <a:pt x="74106" y="91805"/>
                </a:lnTo>
                <a:cubicBezTo>
                  <a:pt x="75822" y="94755"/>
                  <a:pt x="76906" y="98156"/>
                  <a:pt x="76123" y="101467"/>
                </a:cubicBezTo>
                <a:cubicBezTo>
                  <a:pt x="72872" y="114952"/>
                  <a:pt x="57130" y="125216"/>
                  <a:pt x="38197" y="125216"/>
                </a:cubicBezTo>
                <a:cubicBezTo>
                  <a:pt x="19264" y="125216"/>
                  <a:pt x="3522" y="114982"/>
                  <a:pt x="271" y="101467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87685" y="428090"/>
            <a:ext cx="847618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kern="0" spc="47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04.1 方案对比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2472" y="787685"/>
            <a:ext cx="11661169" cy="34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标准推理 vs KV Caching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6753" y="1339921"/>
            <a:ext cx="11498494" cy="4572000"/>
          </a:xfrm>
          <a:custGeom>
            <a:avLst/>
            <a:gdLst/>
            <a:ahLst/>
            <a:cxnLst/>
            <a:rect l="l" t="t" r="r" b="b"/>
            <a:pathLst>
              <a:path w="11498494" h="4572000">
                <a:moveTo>
                  <a:pt x="102733" y="0"/>
                </a:moveTo>
                <a:lnTo>
                  <a:pt x="11395762" y="0"/>
                </a:lnTo>
                <a:cubicBezTo>
                  <a:pt x="11452499" y="0"/>
                  <a:pt x="11498494" y="45995"/>
                  <a:pt x="11498494" y="102733"/>
                </a:cubicBezTo>
                <a:lnTo>
                  <a:pt x="11498494" y="4469267"/>
                </a:lnTo>
                <a:cubicBezTo>
                  <a:pt x="11498494" y="4526005"/>
                  <a:pt x="11452499" y="4572000"/>
                  <a:pt x="11395762" y="4572000"/>
                </a:cubicBezTo>
                <a:lnTo>
                  <a:pt x="102733" y="4572000"/>
                </a:lnTo>
                <a:cubicBezTo>
                  <a:pt x="45995" y="4572000"/>
                  <a:pt x="0" y="4526005"/>
                  <a:pt x="0" y="4469267"/>
                </a:cubicBezTo>
                <a:lnTo>
                  <a:pt x="0" y="102733"/>
                </a:lnTo>
                <a:cubicBezTo>
                  <a:pt x="0" y="46033"/>
                  <a:pt x="46033" y="0"/>
                  <a:pt x="10273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6517" y="1549685"/>
          <a:ext cx="11078966" cy="4152472"/>
        </p:xfrm>
        <a:graphic>
          <a:graphicData uri="http://schemas.openxmlformats.org/drawingml/2006/table">
            <a:tbl>
              <a:tblPr/>
              <a:tblGrid>
                <a:gridCol w="2868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2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0494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D9A4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标准推理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4A9B9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KV Caching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49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单步计算量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随序列长度平方级增长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随序列长度线性增长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49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显存占用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主要取决于模型权重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随序列长度线性增加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49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推理速度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显著变慢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随生成长度恶化(计算瓶颈)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快速稳定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速度快且相对稳定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49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短文本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显存极其受限的场景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长文本生成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000" u="none" dirty="0">
                          <a:solidFill>
                            <a:srgbClr val="E8E8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高吞吐服务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6989" marR="136989" marT="136989" marB="1369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46753" y="6125966"/>
            <a:ext cx="11498494" cy="727753"/>
          </a:xfrm>
          <a:custGeom>
            <a:avLst/>
            <a:gdLst/>
            <a:ahLst/>
            <a:cxnLst/>
            <a:rect l="l" t="t" r="r" b="b"/>
            <a:pathLst>
              <a:path w="11498494" h="727753">
                <a:moveTo>
                  <a:pt x="102744" y="0"/>
                </a:moveTo>
                <a:lnTo>
                  <a:pt x="11395750" y="0"/>
                </a:lnTo>
                <a:cubicBezTo>
                  <a:pt x="11452494" y="0"/>
                  <a:pt x="11498494" y="46000"/>
                  <a:pt x="11498494" y="102744"/>
                </a:cubicBezTo>
                <a:lnTo>
                  <a:pt x="11498494" y="625009"/>
                </a:lnTo>
                <a:cubicBezTo>
                  <a:pt x="11498494" y="681753"/>
                  <a:pt x="11452494" y="727753"/>
                  <a:pt x="11395750" y="727753"/>
                </a:cubicBezTo>
                <a:lnTo>
                  <a:pt x="102744" y="727753"/>
                </a:lnTo>
                <a:cubicBezTo>
                  <a:pt x="46000" y="727753"/>
                  <a:pt x="0" y="681753"/>
                  <a:pt x="0" y="625009"/>
                </a:cubicBezTo>
                <a:lnTo>
                  <a:pt x="0" y="102744"/>
                </a:lnTo>
                <a:cubicBezTo>
                  <a:pt x="0" y="46000"/>
                  <a:pt x="46000" y="0"/>
                  <a:pt x="10274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30831" y="6387101"/>
            <a:ext cx="154112" cy="205483"/>
          </a:xfrm>
          <a:custGeom>
            <a:avLst/>
            <a:gdLst/>
            <a:ahLst/>
            <a:cxnLst/>
            <a:rect l="l" t="t" r="r" b="b"/>
            <a:pathLst>
              <a:path w="154112" h="205483">
                <a:moveTo>
                  <a:pt x="117551" y="154112"/>
                </a:moveTo>
                <a:cubicBezTo>
                  <a:pt x="120481" y="145163"/>
                  <a:pt x="126340" y="137056"/>
                  <a:pt x="132962" y="130072"/>
                </a:cubicBezTo>
                <a:cubicBezTo>
                  <a:pt x="146086" y="116267"/>
                  <a:pt x="154112" y="97604"/>
                  <a:pt x="154112" y="77056"/>
                </a:cubicBezTo>
                <a:cubicBezTo>
                  <a:pt x="154112" y="34515"/>
                  <a:pt x="119598" y="0"/>
                  <a:pt x="77056" y="0"/>
                </a:cubicBezTo>
                <a:cubicBezTo>
                  <a:pt x="34515" y="0"/>
                  <a:pt x="0" y="34515"/>
                  <a:pt x="0" y="77056"/>
                </a:cubicBezTo>
                <a:cubicBezTo>
                  <a:pt x="0" y="97604"/>
                  <a:pt x="8027" y="116267"/>
                  <a:pt x="21150" y="130072"/>
                </a:cubicBezTo>
                <a:cubicBezTo>
                  <a:pt x="27772" y="137056"/>
                  <a:pt x="33672" y="145163"/>
                  <a:pt x="36562" y="154112"/>
                </a:cubicBezTo>
                <a:lnTo>
                  <a:pt x="117511" y="154112"/>
                </a:lnTo>
                <a:close/>
                <a:moveTo>
                  <a:pt x="115584" y="173376"/>
                </a:moveTo>
                <a:lnTo>
                  <a:pt x="38528" y="173376"/>
                </a:lnTo>
                <a:lnTo>
                  <a:pt x="38528" y="179798"/>
                </a:lnTo>
                <a:cubicBezTo>
                  <a:pt x="38528" y="197537"/>
                  <a:pt x="52896" y="211904"/>
                  <a:pt x="70635" y="211904"/>
                </a:cubicBezTo>
                <a:lnTo>
                  <a:pt x="83478" y="211904"/>
                </a:lnTo>
                <a:cubicBezTo>
                  <a:pt x="101217" y="211904"/>
                  <a:pt x="115584" y="197537"/>
                  <a:pt x="115584" y="179798"/>
                </a:cubicBezTo>
                <a:lnTo>
                  <a:pt x="115584" y="173376"/>
                </a:lnTo>
                <a:close/>
                <a:moveTo>
                  <a:pt x="73846" y="44949"/>
                </a:moveTo>
                <a:cubicBezTo>
                  <a:pt x="57872" y="44949"/>
                  <a:pt x="44949" y="57872"/>
                  <a:pt x="44949" y="73846"/>
                </a:cubicBezTo>
                <a:cubicBezTo>
                  <a:pt x="44949" y="79183"/>
                  <a:pt x="40655" y="83478"/>
                  <a:pt x="35317" y="83478"/>
                </a:cubicBezTo>
                <a:cubicBezTo>
                  <a:pt x="29980" y="83478"/>
                  <a:pt x="25685" y="79183"/>
                  <a:pt x="25685" y="73846"/>
                </a:cubicBezTo>
                <a:cubicBezTo>
                  <a:pt x="25685" y="47237"/>
                  <a:pt x="47237" y="25685"/>
                  <a:pt x="73846" y="25685"/>
                </a:cubicBezTo>
                <a:cubicBezTo>
                  <a:pt x="79183" y="25685"/>
                  <a:pt x="83478" y="29980"/>
                  <a:pt x="83478" y="35317"/>
                </a:cubicBezTo>
                <a:cubicBezTo>
                  <a:pt x="83478" y="40655"/>
                  <a:pt x="79183" y="44949"/>
                  <a:pt x="73846" y="44949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68019" y="6267236"/>
            <a:ext cx="10907730" cy="44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关键结论:</a:t>
            </a:r>
            <a:r>
              <a:rPr lang="en-US" sz="1079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对于现代LLM应用(如RAG、长文档摘要),上下文长度往往达到32k甚至128k。</a:t>
            </a:r>
            <a:r>
              <a:rPr lang="en-US" sz="1079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如果不使用KV Cache,生成延迟将变得难以接受</a:t>
            </a:r>
            <a:r>
              <a:rPr lang="en-US" sz="1079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。因此,KV Cache已成为所有主流推理框架的标准配置。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86723" y="-180489"/>
            <a:ext cx="7219541" cy="7219541"/>
          </a:xfrm>
          <a:custGeom>
            <a:avLst/>
            <a:gdLst/>
            <a:ahLst/>
            <a:cxnLst/>
            <a:rect l="l" t="t" r="r" b="b"/>
            <a:pathLst>
              <a:path w="7219541" h="7219541">
                <a:moveTo>
                  <a:pt x="3609771" y="0"/>
                </a:moveTo>
                <a:lnTo>
                  <a:pt x="3609771" y="0"/>
                </a:lnTo>
                <a:cubicBezTo>
                  <a:pt x="5603392" y="0"/>
                  <a:pt x="7219541" y="1616149"/>
                  <a:pt x="7219541" y="3609771"/>
                </a:cubicBezTo>
                <a:lnTo>
                  <a:pt x="7219541" y="3609771"/>
                </a:lnTo>
                <a:cubicBezTo>
                  <a:pt x="7219541" y="5603392"/>
                  <a:pt x="5603392" y="7219541"/>
                  <a:pt x="3609771" y="7219541"/>
                </a:cubicBezTo>
                <a:lnTo>
                  <a:pt x="3609771" y="7219541"/>
                </a:lnTo>
                <a:cubicBezTo>
                  <a:pt x="1616149" y="7219541"/>
                  <a:pt x="0" y="5603392"/>
                  <a:pt x="0" y="3609771"/>
                </a:cubicBezTo>
                <a:lnTo>
                  <a:pt x="0" y="3609771"/>
                </a:lnTo>
                <a:cubicBezTo>
                  <a:pt x="0" y="1616149"/>
                  <a:pt x="1616149" y="0"/>
                  <a:pt x="3609770" y="0"/>
                </a:cubicBezTo>
                <a:close/>
              </a:path>
            </a:pathLst>
          </a:custGeom>
          <a:solidFill>
            <a:srgbClr val="4A9B9B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489" y="1813910"/>
            <a:ext cx="1353664" cy="406099"/>
          </a:xfrm>
          <a:custGeom>
            <a:avLst/>
            <a:gdLst/>
            <a:ahLst/>
            <a:cxnLst/>
            <a:rect l="l" t="t" r="r" b="b"/>
            <a:pathLst>
              <a:path w="1353664" h="406099">
                <a:moveTo>
                  <a:pt x="203050" y="0"/>
                </a:moveTo>
                <a:lnTo>
                  <a:pt x="1150614" y="0"/>
                </a:lnTo>
                <a:cubicBezTo>
                  <a:pt x="1262756" y="0"/>
                  <a:pt x="1353664" y="90908"/>
                  <a:pt x="1353664" y="203050"/>
                </a:cubicBezTo>
                <a:lnTo>
                  <a:pt x="1353664" y="203050"/>
                </a:lnTo>
                <a:cubicBezTo>
                  <a:pt x="1353664" y="315191"/>
                  <a:pt x="1262756" y="406099"/>
                  <a:pt x="1150614" y="406099"/>
                </a:cubicBezTo>
                <a:lnTo>
                  <a:pt x="203050" y="406099"/>
                </a:lnTo>
                <a:cubicBezTo>
                  <a:pt x="90983" y="406099"/>
                  <a:pt x="0" y="315116"/>
                  <a:pt x="0" y="203050"/>
                </a:cubicBezTo>
                <a:lnTo>
                  <a:pt x="0" y="203050"/>
                </a:lnTo>
                <a:cubicBezTo>
                  <a:pt x="0" y="90983"/>
                  <a:pt x="90983" y="0"/>
                  <a:pt x="20305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 w="12700">
            <a:solidFill>
              <a:srgbClr val="4A9B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0977" y="1809397"/>
            <a:ext cx="1425859" cy="397075"/>
          </a:xfrm>
          <a:prstGeom prst="rect">
            <a:avLst/>
          </a:prstGeom>
          <a:noFill/>
          <a:ln/>
        </p:spPr>
        <p:txBody>
          <a:bodyPr wrap="square" lIns="144391" tIns="72195" rIns="144391" bIns="72195" rtlCol="0" anchor="ctr"/>
          <a:lstStyle/>
          <a:p>
            <a:pPr>
              <a:lnSpc>
                <a:spcPct val="130000"/>
              </a:lnSpc>
            </a:pPr>
            <a:r>
              <a:rPr lang="en-US" sz="1279" b="1" kern="0" spc="64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0977" y="2441107"/>
            <a:ext cx="11740779" cy="135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进阶: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降低KV Cache开销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0977" y="4011358"/>
            <a:ext cx="6172708" cy="35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5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注意力机制的进化:MQA与GQA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0977" y="4904776"/>
            <a:ext cx="577563" cy="36098"/>
          </a:xfrm>
          <a:custGeom>
            <a:avLst/>
            <a:gdLst/>
            <a:ahLst/>
            <a:cxnLst/>
            <a:rect l="l" t="t" r="r" b="b"/>
            <a:pathLst>
              <a:path w="577563" h="36098">
                <a:moveTo>
                  <a:pt x="0" y="0"/>
                </a:moveTo>
                <a:lnTo>
                  <a:pt x="577563" y="0"/>
                </a:lnTo>
                <a:lnTo>
                  <a:pt x="577563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2931" y="4796483"/>
            <a:ext cx="201244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MQA &amp; GQA Optimization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7172" y="2344"/>
                </a:moveTo>
                <a:cubicBezTo>
                  <a:pt x="150320" y="-804"/>
                  <a:pt x="155410" y="-804"/>
                  <a:pt x="158524" y="2344"/>
                </a:cubicBezTo>
                <a:lnTo>
                  <a:pt x="169240" y="13060"/>
                </a:lnTo>
                <a:cubicBezTo>
                  <a:pt x="172388" y="16207"/>
                  <a:pt x="172388" y="21297"/>
                  <a:pt x="169240" y="24412"/>
                </a:cubicBezTo>
                <a:lnTo>
                  <a:pt x="140107" y="53545"/>
                </a:lnTo>
                <a:lnTo>
                  <a:pt x="153166" y="66604"/>
                </a:lnTo>
                <a:cubicBezTo>
                  <a:pt x="155477" y="68915"/>
                  <a:pt x="156147" y="72364"/>
                  <a:pt x="154908" y="75378"/>
                </a:cubicBezTo>
                <a:cubicBezTo>
                  <a:pt x="153669" y="78391"/>
                  <a:pt x="150755" y="80367"/>
                  <a:pt x="147507" y="80367"/>
                </a:cubicBezTo>
                <a:lnTo>
                  <a:pt x="99287" y="80367"/>
                </a:lnTo>
                <a:cubicBezTo>
                  <a:pt x="94833" y="80367"/>
                  <a:pt x="91250" y="76784"/>
                  <a:pt x="91250" y="72330"/>
                </a:cubicBezTo>
                <a:lnTo>
                  <a:pt x="91250" y="24110"/>
                </a:lnTo>
                <a:cubicBezTo>
                  <a:pt x="91250" y="20862"/>
                  <a:pt x="93192" y="17915"/>
                  <a:pt x="96206" y="16676"/>
                </a:cubicBezTo>
                <a:cubicBezTo>
                  <a:pt x="99220" y="15437"/>
                  <a:pt x="102669" y="16107"/>
                  <a:pt x="104980" y="18417"/>
                </a:cubicBezTo>
                <a:lnTo>
                  <a:pt x="118039" y="31477"/>
                </a:lnTo>
                <a:lnTo>
                  <a:pt x="147172" y="2344"/>
                </a:lnTo>
                <a:close/>
                <a:moveTo>
                  <a:pt x="24278" y="91083"/>
                </a:moveTo>
                <a:lnTo>
                  <a:pt x="72498" y="91083"/>
                </a:lnTo>
                <a:cubicBezTo>
                  <a:pt x="76952" y="91083"/>
                  <a:pt x="80535" y="94666"/>
                  <a:pt x="80535" y="99120"/>
                </a:cubicBezTo>
                <a:lnTo>
                  <a:pt x="80535" y="147340"/>
                </a:lnTo>
                <a:cubicBezTo>
                  <a:pt x="80535" y="150588"/>
                  <a:pt x="78592" y="153535"/>
                  <a:pt x="75579" y="154774"/>
                </a:cubicBezTo>
                <a:cubicBezTo>
                  <a:pt x="72565" y="156013"/>
                  <a:pt x="69116" y="155343"/>
                  <a:pt x="66805" y="153033"/>
                </a:cubicBezTo>
                <a:lnTo>
                  <a:pt x="53746" y="139973"/>
                </a:lnTo>
                <a:lnTo>
                  <a:pt x="24612" y="169106"/>
                </a:lnTo>
                <a:cubicBezTo>
                  <a:pt x="21465" y="172254"/>
                  <a:pt x="16375" y="172254"/>
                  <a:pt x="13261" y="169106"/>
                </a:cubicBezTo>
                <a:lnTo>
                  <a:pt x="2545" y="158390"/>
                </a:lnTo>
                <a:cubicBezTo>
                  <a:pt x="-603" y="155243"/>
                  <a:pt x="-603" y="150153"/>
                  <a:pt x="2545" y="147038"/>
                </a:cubicBezTo>
                <a:lnTo>
                  <a:pt x="31678" y="117905"/>
                </a:lnTo>
                <a:lnTo>
                  <a:pt x="18618" y="104846"/>
                </a:lnTo>
                <a:cubicBezTo>
                  <a:pt x="16308" y="102535"/>
                  <a:pt x="15638" y="99086"/>
                  <a:pt x="16877" y="96072"/>
                </a:cubicBezTo>
                <a:cubicBezTo>
                  <a:pt x="18116" y="93059"/>
                  <a:pt x="21029" y="91083"/>
                  <a:pt x="24278" y="91083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05.1 优化方案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MQA与GQA:压缩KV Cache开销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90663"/>
            <a:ext cx="5314950" cy="2371725"/>
          </a:xfrm>
          <a:custGeom>
            <a:avLst/>
            <a:gdLst/>
            <a:ahLst/>
            <a:cxnLst/>
            <a:rect l="l" t="t" r="r" b="b"/>
            <a:pathLst>
              <a:path w="5314950" h="2371725">
                <a:moveTo>
                  <a:pt x="114293" y="0"/>
                </a:moveTo>
                <a:lnTo>
                  <a:pt x="5200657" y="0"/>
                </a:lnTo>
                <a:cubicBezTo>
                  <a:pt x="5263737" y="0"/>
                  <a:pt x="5314950" y="51213"/>
                  <a:pt x="5314950" y="114293"/>
                </a:cubicBezTo>
                <a:lnTo>
                  <a:pt x="5314950" y="2257432"/>
                </a:lnTo>
                <a:cubicBezTo>
                  <a:pt x="5314950" y="2320512"/>
                  <a:pt x="5263737" y="2371725"/>
                  <a:pt x="5200657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2938" y="176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cubicBezTo>
                  <a:pt x="-967" y="35644"/>
                  <a:pt x="74" y="40742"/>
                  <a:pt x="3497" y="44128"/>
                </a:cubicBezTo>
                <a:lnTo>
                  <a:pt x="71438" y="112105"/>
                </a:lnTo>
                <a:lnTo>
                  <a:pt x="71438" y="154781"/>
                </a:lnTo>
                <a:cubicBezTo>
                  <a:pt x="71438" y="157944"/>
                  <a:pt x="72703" y="160958"/>
                  <a:pt x="74935" y="163190"/>
                </a:cubicBezTo>
                <a:lnTo>
                  <a:pt x="98747" y="187003"/>
                </a:lnTo>
                <a:cubicBezTo>
                  <a:pt x="102171" y="190426"/>
                  <a:pt x="107268" y="191430"/>
                  <a:pt x="111733" y="189570"/>
                </a:cubicBezTo>
                <a:cubicBezTo>
                  <a:pt x="116198" y="187709"/>
                  <a:pt x="119063" y="183393"/>
                  <a:pt x="119063" y="178594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57250" y="172402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MQA (Multi-Query Attention)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43125"/>
            <a:ext cx="4924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</a:t>
            </a:r>
            <a:r>
              <a:rPr lang="en-US" sz="120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所有的Attention Head共享同一组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Key和Value矩阵,从而将KV Cache的大小压缩到原来的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1/Nattn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888" y="2795588"/>
            <a:ext cx="4838700" cy="828675"/>
          </a:xfrm>
          <a:custGeom>
            <a:avLst/>
            <a:gdLst/>
            <a:ahLst/>
            <a:cxnLst/>
            <a:rect l="l" t="t" r="r" b="b"/>
            <a:pathLst>
              <a:path w="4838700" h="828675">
                <a:moveTo>
                  <a:pt x="76197" y="0"/>
                </a:moveTo>
                <a:lnTo>
                  <a:pt x="4762503" y="0"/>
                </a:lnTo>
                <a:cubicBezTo>
                  <a:pt x="4804586" y="0"/>
                  <a:pt x="4838700" y="34114"/>
                  <a:pt x="4838700" y="76197"/>
                </a:cubicBezTo>
                <a:lnTo>
                  <a:pt x="4838700" y="752478"/>
                </a:lnTo>
                <a:cubicBezTo>
                  <a:pt x="4838700" y="794561"/>
                  <a:pt x="4804586" y="828675"/>
                  <a:pt x="4762503" y="828675"/>
                </a:cubicBezTo>
                <a:lnTo>
                  <a:pt x="76197" y="828675"/>
                </a:lnTo>
                <a:cubicBezTo>
                  <a:pt x="34114" y="828675"/>
                  <a:pt x="0" y="794561"/>
                  <a:pt x="0" y="75247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09625" y="2990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7750" y="2952750"/>
            <a:ext cx="1733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极大地降低了显存占用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625" y="328374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47750" y="3245644"/>
            <a:ext cx="1866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代价: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可能会轻微影响模型性能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095750"/>
            <a:ext cx="5314950" cy="2371725"/>
          </a:xfrm>
          <a:custGeom>
            <a:avLst/>
            <a:gdLst/>
            <a:ahLst/>
            <a:cxnLst/>
            <a:rect l="l" t="t" r="r" b="b"/>
            <a:pathLst>
              <a:path w="5314950" h="2371725">
                <a:moveTo>
                  <a:pt x="114293" y="0"/>
                </a:moveTo>
                <a:lnTo>
                  <a:pt x="5200657" y="0"/>
                </a:lnTo>
                <a:cubicBezTo>
                  <a:pt x="5263737" y="0"/>
                  <a:pt x="5314950" y="51213"/>
                  <a:pt x="5314950" y="114293"/>
                </a:cubicBezTo>
                <a:lnTo>
                  <a:pt x="5314950" y="2257432"/>
                </a:lnTo>
                <a:cubicBezTo>
                  <a:pt x="5314950" y="2320512"/>
                  <a:pt x="5263737" y="2371725"/>
                  <a:pt x="5200657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42938" y="43672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7250" y="4329113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GQA (Grouped-Query Attention)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125" y="4748213"/>
            <a:ext cx="4924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MQA和标准MHA的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折中方案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。将Query Head分组,每组共享一对K/V Head。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3888" y="5400675"/>
            <a:ext cx="4838700" cy="828675"/>
          </a:xfrm>
          <a:custGeom>
            <a:avLst/>
            <a:gdLst/>
            <a:ahLst/>
            <a:cxnLst/>
            <a:rect l="l" t="t" r="r" b="b"/>
            <a:pathLst>
              <a:path w="4838700" h="828675">
                <a:moveTo>
                  <a:pt x="76197" y="0"/>
                </a:moveTo>
                <a:lnTo>
                  <a:pt x="4762503" y="0"/>
                </a:lnTo>
                <a:cubicBezTo>
                  <a:pt x="4804586" y="0"/>
                  <a:pt x="4838700" y="34114"/>
                  <a:pt x="4838700" y="76197"/>
                </a:cubicBezTo>
                <a:lnTo>
                  <a:pt x="4838700" y="752478"/>
                </a:lnTo>
                <a:cubicBezTo>
                  <a:pt x="4838700" y="794561"/>
                  <a:pt x="4804586" y="828675"/>
                  <a:pt x="4762503" y="828675"/>
                </a:cubicBezTo>
                <a:lnTo>
                  <a:pt x="76197" y="828675"/>
                </a:lnTo>
                <a:cubicBezTo>
                  <a:pt x="34114" y="828675"/>
                  <a:pt x="0" y="794561"/>
                  <a:pt x="0" y="75247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09625" y="55959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47750" y="5557838"/>
            <a:ext cx="2266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显著提升吞吐量且保持模型效果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0575" y="588883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47750" y="5850731"/>
            <a:ext cx="2333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Llama-2-70B使用GQA,效果显著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15038" y="1490663"/>
            <a:ext cx="5791200" cy="4981575"/>
          </a:xfrm>
          <a:custGeom>
            <a:avLst/>
            <a:gdLst/>
            <a:ahLst/>
            <a:cxnLst/>
            <a:rect l="l" t="t" r="r" b="b"/>
            <a:pathLst>
              <a:path w="5791200" h="4981575">
                <a:moveTo>
                  <a:pt x="114277" y="0"/>
                </a:moveTo>
                <a:lnTo>
                  <a:pt x="5676923" y="0"/>
                </a:lnTo>
                <a:cubicBezTo>
                  <a:pt x="5740036" y="0"/>
                  <a:pt x="5791200" y="51164"/>
                  <a:pt x="5791200" y="114277"/>
                </a:cubicBezTo>
                <a:lnTo>
                  <a:pt x="5791200" y="4867298"/>
                </a:lnTo>
                <a:cubicBezTo>
                  <a:pt x="5791200" y="4930411"/>
                  <a:pt x="5740036" y="4981575"/>
                  <a:pt x="5676923" y="4981575"/>
                </a:cubicBezTo>
                <a:lnTo>
                  <a:pt x="114277" y="4981575"/>
                </a:lnTo>
                <a:cubicBezTo>
                  <a:pt x="51164" y="4981575"/>
                  <a:pt x="0" y="4930411"/>
                  <a:pt x="0" y="4867298"/>
                </a:cubicBezTo>
                <a:lnTo>
                  <a:pt x="0" y="114277"/>
                </a:lnTo>
                <a:cubicBezTo>
                  <a:pt x="0" y="51206"/>
                  <a:pt x="51206" y="0"/>
                  <a:pt x="114277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205538" y="172402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注意力机制的进化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67450" y="5324475"/>
            <a:ext cx="5305425" cy="419100"/>
          </a:xfrm>
          <a:custGeom>
            <a:avLst/>
            <a:gdLst/>
            <a:ahLst/>
            <a:cxnLst/>
            <a:rect l="l" t="t" r="r" b="b"/>
            <a:pathLst>
              <a:path w="5305425" h="419100">
                <a:moveTo>
                  <a:pt x="38100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342899"/>
                </a:lnTo>
                <a:cubicBezTo>
                  <a:pt x="5305425" y="384984"/>
                  <a:pt x="5271309" y="419100"/>
                  <a:pt x="5229224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6267450" y="532447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6400800" y="5438775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MQA: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所有Head共享一组K/V,显存压缩至1/N_attn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67450" y="5819775"/>
            <a:ext cx="5305425" cy="419100"/>
          </a:xfrm>
          <a:custGeom>
            <a:avLst/>
            <a:gdLst/>
            <a:ahLst/>
            <a:cxnLst/>
            <a:rect l="l" t="t" r="r" b="b"/>
            <a:pathLst>
              <a:path w="5305425" h="419100">
                <a:moveTo>
                  <a:pt x="38100" y="0"/>
                </a:moveTo>
                <a:lnTo>
                  <a:pt x="5229224" y="0"/>
                </a:lnTo>
                <a:cubicBezTo>
                  <a:pt x="5271309" y="0"/>
                  <a:pt x="5305425" y="34116"/>
                  <a:pt x="5305425" y="76201"/>
                </a:cubicBezTo>
                <a:lnTo>
                  <a:pt x="5305425" y="342899"/>
                </a:lnTo>
                <a:cubicBezTo>
                  <a:pt x="5305425" y="384984"/>
                  <a:pt x="5271309" y="419100"/>
                  <a:pt x="5229224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8"/>
          <p:cNvSpPr/>
          <p:nvPr/>
        </p:nvSpPr>
        <p:spPr>
          <a:xfrm>
            <a:off x="6267450" y="581977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6400800" y="5934075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GQA: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折中方案,分组共享K/V,平衡性能与效果</a:t>
            </a:r>
            <a:endParaRPr lang="en-US" sz="16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3C322CB-0512-86B6-9B2C-24A7ABC67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178" y="2083594"/>
            <a:ext cx="5523968" cy="30813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05.2 架构对比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架构对决:MHA vs GQA vs MQA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90663"/>
            <a:ext cx="5314950" cy="3590925"/>
          </a:xfrm>
          <a:custGeom>
            <a:avLst/>
            <a:gdLst/>
            <a:ahLst/>
            <a:cxnLst/>
            <a:rect l="l" t="t" r="r" b="b"/>
            <a:pathLst>
              <a:path w="5314950" h="3590925">
                <a:moveTo>
                  <a:pt x="114299" y="0"/>
                </a:moveTo>
                <a:lnTo>
                  <a:pt x="5200651" y="0"/>
                </a:lnTo>
                <a:cubicBezTo>
                  <a:pt x="5263777" y="0"/>
                  <a:pt x="5314950" y="51173"/>
                  <a:pt x="5314950" y="114299"/>
                </a:cubicBezTo>
                <a:lnTo>
                  <a:pt x="5314950" y="3476626"/>
                </a:lnTo>
                <a:cubicBezTo>
                  <a:pt x="5314950" y="3539752"/>
                  <a:pt x="5263777" y="3590925"/>
                  <a:pt x="5200651" y="3590925"/>
                </a:cubicBezTo>
                <a:lnTo>
                  <a:pt x="114299" y="3590925"/>
                </a:lnTo>
                <a:cubicBezTo>
                  <a:pt x="51173" y="3590925"/>
                  <a:pt x="0" y="3539752"/>
                  <a:pt x="0" y="347662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2938" y="1762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57250" y="172402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三种注意力机制对比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8175" y="2143125"/>
            <a:ext cx="4829175" cy="800100"/>
          </a:xfrm>
          <a:custGeom>
            <a:avLst/>
            <a:gdLst/>
            <a:ahLst/>
            <a:cxnLst/>
            <a:rect l="l" t="t" r="r" b="b"/>
            <a:pathLst>
              <a:path w="4829175" h="800100">
                <a:moveTo>
                  <a:pt x="0" y="0"/>
                </a:moveTo>
                <a:lnTo>
                  <a:pt x="4752973" y="0"/>
                </a:lnTo>
                <a:cubicBezTo>
                  <a:pt x="4795058" y="0"/>
                  <a:pt x="4829175" y="34117"/>
                  <a:pt x="4829175" y="76202"/>
                </a:cubicBezTo>
                <a:lnTo>
                  <a:pt x="4829175" y="723898"/>
                </a:lnTo>
                <a:cubicBezTo>
                  <a:pt x="4829175" y="765983"/>
                  <a:pt x="4795058" y="800100"/>
                  <a:pt x="4752973" y="800100"/>
                </a:cubicBez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38175" y="21431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9625" y="2295525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MHA (Multi-Head)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3950" y="229552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33950" y="229552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9625" y="2600325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每个Query Head都有对应的Key/Value Head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8175" y="3095625"/>
            <a:ext cx="4829175" cy="800100"/>
          </a:xfrm>
          <a:custGeom>
            <a:avLst/>
            <a:gdLst/>
            <a:ahLst/>
            <a:cxnLst/>
            <a:rect l="l" t="t" r="r" b="b"/>
            <a:pathLst>
              <a:path w="4829175" h="800100">
                <a:moveTo>
                  <a:pt x="0" y="0"/>
                </a:moveTo>
                <a:lnTo>
                  <a:pt x="4752973" y="0"/>
                </a:lnTo>
                <a:cubicBezTo>
                  <a:pt x="4795058" y="0"/>
                  <a:pt x="4829175" y="34117"/>
                  <a:pt x="4829175" y="76202"/>
                </a:cubicBezTo>
                <a:lnTo>
                  <a:pt x="4829175" y="723898"/>
                </a:lnTo>
                <a:cubicBezTo>
                  <a:pt x="4829175" y="765983"/>
                  <a:pt x="4795058" y="800100"/>
                  <a:pt x="4752973" y="800100"/>
                </a:cubicBez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38175" y="30956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09625" y="3248025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GQA (Grouped-Query)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3950" y="324802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933950" y="324802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折中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625" y="3552825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多个Query Head共享一组K/V Head(分组共享)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8175" y="4048125"/>
            <a:ext cx="4829175" cy="800100"/>
          </a:xfrm>
          <a:custGeom>
            <a:avLst/>
            <a:gdLst/>
            <a:ahLst/>
            <a:cxnLst/>
            <a:rect l="l" t="t" r="r" b="b"/>
            <a:pathLst>
              <a:path w="4829175" h="800100">
                <a:moveTo>
                  <a:pt x="0" y="0"/>
                </a:moveTo>
                <a:lnTo>
                  <a:pt x="4752973" y="0"/>
                </a:lnTo>
                <a:cubicBezTo>
                  <a:pt x="4795058" y="0"/>
                  <a:pt x="4829175" y="34117"/>
                  <a:pt x="4829175" y="76202"/>
                </a:cubicBezTo>
                <a:lnTo>
                  <a:pt x="4829175" y="723898"/>
                </a:lnTo>
                <a:cubicBezTo>
                  <a:pt x="4829175" y="765983"/>
                  <a:pt x="4795058" y="800100"/>
                  <a:pt x="4752973" y="800100"/>
                </a:cubicBez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38175" y="4048125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09625" y="4200525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MQA (Multi-Query)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3950" y="420052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933950" y="420052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9625" y="4505325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所有Query Head共享同一组K/V Head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5319713"/>
            <a:ext cx="5314950" cy="1343025"/>
          </a:xfrm>
          <a:custGeom>
            <a:avLst/>
            <a:gdLst/>
            <a:ahLst/>
            <a:cxnLst/>
            <a:rect l="l" t="t" r="r" b="b"/>
            <a:pathLst>
              <a:path w="5314950" h="1343025">
                <a:moveTo>
                  <a:pt x="114305" y="0"/>
                </a:moveTo>
                <a:lnTo>
                  <a:pt x="5200645" y="0"/>
                </a:lnTo>
                <a:cubicBezTo>
                  <a:pt x="5263732" y="0"/>
                  <a:pt x="5314950" y="51218"/>
                  <a:pt x="5314950" y="114305"/>
                </a:cubicBezTo>
                <a:lnTo>
                  <a:pt x="5314950" y="1228720"/>
                </a:lnTo>
                <a:cubicBezTo>
                  <a:pt x="5314950" y="1291807"/>
                  <a:pt x="5263732" y="1343025"/>
                  <a:pt x="5200645" y="1343025"/>
                </a:cubicBezTo>
                <a:lnTo>
                  <a:pt x="114305" y="1343025"/>
                </a:lnTo>
                <a:cubicBezTo>
                  <a:pt x="51218" y="1343025"/>
                  <a:pt x="0" y="1291807"/>
                  <a:pt x="0" y="122872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42938" y="5591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7250" y="5553075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演进趋势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9125" y="5934075"/>
            <a:ext cx="4924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随着向右演进,需缓存的</a:t>
            </a:r>
            <a:r>
              <a:rPr lang="en-US" sz="120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K/V矩阵数量大幅减少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,从而直接降低Memory_KV公式中的系数,在几乎不损失模型表现的前提下,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成倍降低缓存大小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15038" y="1490663"/>
            <a:ext cx="5791200" cy="5172075"/>
          </a:xfrm>
          <a:custGeom>
            <a:avLst/>
            <a:gdLst/>
            <a:ahLst/>
            <a:cxnLst/>
            <a:rect l="l" t="t" r="r" b="b"/>
            <a:pathLst>
              <a:path w="5791200" h="5172075">
                <a:moveTo>
                  <a:pt x="114303" y="0"/>
                </a:moveTo>
                <a:lnTo>
                  <a:pt x="5676897" y="0"/>
                </a:lnTo>
                <a:cubicBezTo>
                  <a:pt x="5739983" y="0"/>
                  <a:pt x="5791200" y="51217"/>
                  <a:pt x="5791200" y="114303"/>
                </a:cubicBezTo>
                <a:lnTo>
                  <a:pt x="5791200" y="5057772"/>
                </a:lnTo>
                <a:cubicBezTo>
                  <a:pt x="5791200" y="5120858"/>
                  <a:pt x="5739983" y="5172075"/>
                  <a:pt x="5676897" y="5172075"/>
                </a:cubicBezTo>
                <a:lnTo>
                  <a:pt x="114303" y="5172075"/>
                </a:lnTo>
                <a:cubicBezTo>
                  <a:pt x="51217" y="5172075"/>
                  <a:pt x="0" y="5120858"/>
                  <a:pt x="0" y="50577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4A9B9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205538" y="172402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三种架构直观对比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253163" y="5653088"/>
            <a:ext cx="1685925" cy="771525"/>
          </a:xfrm>
          <a:custGeom>
            <a:avLst/>
            <a:gdLst/>
            <a:ahLst/>
            <a:cxnLst/>
            <a:rect l="l" t="t" r="r" b="b"/>
            <a:pathLst>
              <a:path w="1685925" h="771525">
                <a:moveTo>
                  <a:pt x="76204" y="0"/>
                </a:moveTo>
                <a:lnTo>
                  <a:pt x="1609721" y="0"/>
                </a:lnTo>
                <a:cubicBezTo>
                  <a:pt x="1651808" y="0"/>
                  <a:pt x="1685925" y="34117"/>
                  <a:pt x="1685925" y="76204"/>
                </a:cubicBezTo>
                <a:lnTo>
                  <a:pt x="1685925" y="695321"/>
                </a:lnTo>
                <a:cubicBezTo>
                  <a:pt x="1685925" y="737408"/>
                  <a:pt x="1651808" y="771525"/>
                  <a:pt x="160972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6343650" y="5772150"/>
            <a:ext cx="150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MHA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38888" y="596265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1:1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43650" y="6153150"/>
            <a:ext cx="150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Q:K/V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066038" y="5653088"/>
            <a:ext cx="1685925" cy="771525"/>
          </a:xfrm>
          <a:custGeom>
            <a:avLst/>
            <a:gdLst/>
            <a:ahLst/>
            <a:cxnLst/>
            <a:rect l="l" t="t" r="r" b="b"/>
            <a:pathLst>
              <a:path w="1685925" h="771525">
                <a:moveTo>
                  <a:pt x="76204" y="0"/>
                </a:moveTo>
                <a:lnTo>
                  <a:pt x="1609721" y="0"/>
                </a:lnTo>
                <a:cubicBezTo>
                  <a:pt x="1651808" y="0"/>
                  <a:pt x="1685925" y="34117"/>
                  <a:pt x="1685925" y="76204"/>
                </a:cubicBezTo>
                <a:lnTo>
                  <a:pt x="1685925" y="695321"/>
                </a:lnTo>
                <a:cubicBezTo>
                  <a:pt x="1685925" y="737408"/>
                  <a:pt x="1651808" y="771525"/>
                  <a:pt x="160972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8156525" y="5772150"/>
            <a:ext cx="150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GQA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151763" y="596265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N:1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156525" y="6153150"/>
            <a:ext cx="150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分组共享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9878988" y="5653088"/>
            <a:ext cx="1685925" cy="771525"/>
          </a:xfrm>
          <a:custGeom>
            <a:avLst/>
            <a:gdLst/>
            <a:ahLst/>
            <a:cxnLst/>
            <a:rect l="l" t="t" r="r" b="b"/>
            <a:pathLst>
              <a:path w="1685925" h="771525">
                <a:moveTo>
                  <a:pt x="76204" y="0"/>
                </a:moveTo>
                <a:lnTo>
                  <a:pt x="1609721" y="0"/>
                </a:lnTo>
                <a:cubicBezTo>
                  <a:pt x="1651808" y="0"/>
                  <a:pt x="1685925" y="34117"/>
                  <a:pt x="1685925" y="76204"/>
                </a:cubicBezTo>
                <a:lnTo>
                  <a:pt x="1685925" y="695321"/>
                </a:lnTo>
                <a:cubicBezTo>
                  <a:pt x="1685925" y="737408"/>
                  <a:pt x="1651808" y="771525"/>
                  <a:pt x="160972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9969475" y="5772150"/>
            <a:ext cx="150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MQA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964713" y="596265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All:1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969475" y="6153150"/>
            <a:ext cx="150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全部共享</a:t>
            </a:r>
            <a:endParaRPr lang="en-US" sz="16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9888A15E-C1E2-0986-FD7F-F7D612762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671" y="2191736"/>
            <a:ext cx="5566657" cy="31051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86723" y="-180489"/>
            <a:ext cx="7219541" cy="7219541"/>
          </a:xfrm>
          <a:custGeom>
            <a:avLst/>
            <a:gdLst/>
            <a:ahLst/>
            <a:cxnLst/>
            <a:rect l="l" t="t" r="r" b="b"/>
            <a:pathLst>
              <a:path w="7219541" h="7219541">
                <a:moveTo>
                  <a:pt x="3609771" y="0"/>
                </a:moveTo>
                <a:lnTo>
                  <a:pt x="3609771" y="0"/>
                </a:lnTo>
                <a:cubicBezTo>
                  <a:pt x="5603392" y="0"/>
                  <a:pt x="7219541" y="1616149"/>
                  <a:pt x="7219541" y="3609771"/>
                </a:cubicBezTo>
                <a:lnTo>
                  <a:pt x="7219541" y="3609771"/>
                </a:lnTo>
                <a:cubicBezTo>
                  <a:pt x="7219541" y="5603392"/>
                  <a:pt x="5603392" y="7219541"/>
                  <a:pt x="3609771" y="7219541"/>
                </a:cubicBezTo>
                <a:lnTo>
                  <a:pt x="3609771" y="7219541"/>
                </a:lnTo>
                <a:cubicBezTo>
                  <a:pt x="1616149" y="7219541"/>
                  <a:pt x="0" y="5603392"/>
                  <a:pt x="0" y="3609771"/>
                </a:cubicBezTo>
                <a:lnTo>
                  <a:pt x="0" y="3609771"/>
                </a:lnTo>
                <a:cubicBezTo>
                  <a:pt x="0" y="1616149"/>
                  <a:pt x="1616149" y="0"/>
                  <a:pt x="3609770" y="0"/>
                </a:cubicBezTo>
                <a:close/>
              </a:path>
            </a:pathLst>
          </a:custGeom>
          <a:solidFill>
            <a:srgbClr val="D9A443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365489" y="1813910"/>
            <a:ext cx="1353664" cy="406099"/>
          </a:xfrm>
          <a:custGeom>
            <a:avLst/>
            <a:gdLst/>
            <a:ahLst/>
            <a:cxnLst/>
            <a:rect l="l" t="t" r="r" b="b"/>
            <a:pathLst>
              <a:path w="1353664" h="406099">
                <a:moveTo>
                  <a:pt x="203050" y="0"/>
                </a:moveTo>
                <a:lnTo>
                  <a:pt x="1150614" y="0"/>
                </a:lnTo>
                <a:cubicBezTo>
                  <a:pt x="1262756" y="0"/>
                  <a:pt x="1353664" y="90908"/>
                  <a:pt x="1353664" y="203050"/>
                </a:cubicBezTo>
                <a:lnTo>
                  <a:pt x="1353664" y="203050"/>
                </a:lnTo>
                <a:cubicBezTo>
                  <a:pt x="1353664" y="315191"/>
                  <a:pt x="1262756" y="406099"/>
                  <a:pt x="1150614" y="406099"/>
                </a:cubicBezTo>
                <a:lnTo>
                  <a:pt x="203050" y="406099"/>
                </a:lnTo>
                <a:cubicBezTo>
                  <a:pt x="90983" y="406099"/>
                  <a:pt x="0" y="315116"/>
                  <a:pt x="0" y="203050"/>
                </a:cubicBezTo>
                <a:lnTo>
                  <a:pt x="0" y="203050"/>
                </a:lnTo>
                <a:cubicBezTo>
                  <a:pt x="0" y="90983"/>
                  <a:pt x="90983" y="0"/>
                  <a:pt x="20305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 w="12700">
            <a:solidFill>
              <a:srgbClr val="D9A44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0977" y="1809397"/>
            <a:ext cx="1425859" cy="397075"/>
          </a:xfrm>
          <a:prstGeom prst="rect">
            <a:avLst/>
          </a:prstGeom>
          <a:noFill/>
          <a:ln/>
        </p:spPr>
        <p:txBody>
          <a:bodyPr wrap="square" lIns="144391" tIns="72195" rIns="144391" bIns="72195" rtlCol="0" anchor="ctr"/>
          <a:lstStyle/>
          <a:p>
            <a:pPr>
              <a:lnSpc>
                <a:spcPct val="130000"/>
              </a:lnSpc>
            </a:pPr>
            <a:r>
              <a:rPr lang="en-US" sz="1279" b="1" kern="0" spc="64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0977" y="2441107"/>
            <a:ext cx="11740779" cy="135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工程实践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264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要点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0977" y="4011358"/>
            <a:ext cx="6172708" cy="35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5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从理论到生产:系统级优化方案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0977" y="4904776"/>
            <a:ext cx="577563" cy="36098"/>
          </a:xfrm>
          <a:custGeom>
            <a:avLst/>
            <a:gdLst/>
            <a:ahLst/>
            <a:cxnLst/>
            <a:rect l="l" t="t" r="r" b="b"/>
            <a:pathLst>
              <a:path w="577563" h="36098">
                <a:moveTo>
                  <a:pt x="0" y="0"/>
                </a:moveTo>
                <a:lnTo>
                  <a:pt x="577563" y="0"/>
                </a:lnTo>
                <a:lnTo>
                  <a:pt x="577563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2931" y="4796483"/>
            <a:ext cx="208464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Engineering Best Practices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66725" y="4857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06.1 优化方向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生产环境的四大优化方向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90663"/>
            <a:ext cx="5591175" cy="2162175"/>
          </a:xfrm>
          <a:custGeom>
            <a:avLst/>
            <a:gdLst/>
            <a:ahLst/>
            <a:cxnLst/>
            <a:rect l="l" t="t" r="r" b="b"/>
            <a:pathLst>
              <a:path w="5591175" h="2162175">
                <a:moveTo>
                  <a:pt x="114293" y="0"/>
                </a:moveTo>
                <a:lnTo>
                  <a:pt x="5476882" y="0"/>
                </a:lnTo>
                <a:cubicBezTo>
                  <a:pt x="5539962" y="0"/>
                  <a:pt x="5591175" y="51213"/>
                  <a:pt x="5591175" y="114293"/>
                </a:cubicBezTo>
                <a:lnTo>
                  <a:pt x="5591175" y="2047882"/>
                </a:lnTo>
                <a:cubicBezTo>
                  <a:pt x="5591175" y="2111004"/>
                  <a:pt x="5540004" y="2162175"/>
                  <a:pt x="5476882" y="2162175"/>
                </a:cubicBezTo>
                <a:lnTo>
                  <a:pt x="114293" y="2162175"/>
                </a:lnTo>
                <a:cubicBezTo>
                  <a:pt x="51213" y="2162175"/>
                  <a:pt x="0" y="2110962"/>
                  <a:pt x="0" y="20478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19125" y="1724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71525" y="1876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04925" y="1724025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TTFT / TPOT 指标分拆优化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4925" y="2028825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 To First Token / Time Per Output Token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8175" y="2409825"/>
            <a:ext cx="5105400" cy="447675"/>
          </a:xfrm>
          <a:custGeom>
            <a:avLst/>
            <a:gdLst/>
            <a:ahLst/>
            <a:cxnLst/>
            <a:rect l="l" t="t" r="r" b="b"/>
            <a:pathLst>
              <a:path w="5105400" h="447675">
                <a:moveTo>
                  <a:pt x="38100" y="0"/>
                </a:moveTo>
                <a:lnTo>
                  <a:pt x="5029201" y="0"/>
                </a:lnTo>
                <a:cubicBezTo>
                  <a:pt x="5071285" y="0"/>
                  <a:pt x="5105400" y="34115"/>
                  <a:pt x="5105400" y="76199"/>
                </a:cubicBezTo>
                <a:lnTo>
                  <a:pt x="5105400" y="371476"/>
                </a:lnTo>
                <a:cubicBezTo>
                  <a:pt x="5105400" y="413560"/>
                  <a:pt x="5071285" y="447675"/>
                  <a:pt x="5029201" y="447675"/>
                </a:cubicBezTo>
                <a:lnTo>
                  <a:pt x="38100" y="447675"/>
                </a:lnTo>
                <a:cubicBezTo>
                  <a:pt x="17058" y="447675"/>
                  <a:pt x="0" y="430617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38175" y="2409825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3810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71525" y="2524125"/>
            <a:ext cx="4924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TTFT: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主要受Prefill影响,优化重点是批处理策略、算子融合与高效调度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2969419"/>
            <a:ext cx="5105400" cy="447675"/>
          </a:xfrm>
          <a:custGeom>
            <a:avLst/>
            <a:gdLst/>
            <a:ahLst/>
            <a:cxnLst/>
            <a:rect l="l" t="t" r="r" b="b"/>
            <a:pathLst>
              <a:path w="5105400" h="447675">
                <a:moveTo>
                  <a:pt x="38100" y="0"/>
                </a:moveTo>
                <a:lnTo>
                  <a:pt x="5029201" y="0"/>
                </a:lnTo>
                <a:cubicBezTo>
                  <a:pt x="5071285" y="0"/>
                  <a:pt x="5105400" y="34115"/>
                  <a:pt x="5105400" y="76199"/>
                </a:cubicBezTo>
                <a:lnTo>
                  <a:pt x="5105400" y="371476"/>
                </a:lnTo>
                <a:cubicBezTo>
                  <a:pt x="5105400" y="413560"/>
                  <a:pt x="5071285" y="447675"/>
                  <a:pt x="5029201" y="447675"/>
                </a:cubicBezTo>
                <a:lnTo>
                  <a:pt x="38100" y="447675"/>
                </a:lnTo>
                <a:cubicBezTo>
                  <a:pt x="17058" y="447675"/>
                  <a:pt x="0" y="430617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38175" y="2969419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3810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71525" y="3083719"/>
            <a:ext cx="4924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TPOT: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主要受Decode影响,优化重点是KV访存效率与带宽利用率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5063" y="1490663"/>
            <a:ext cx="5591175" cy="2162175"/>
          </a:xfrm>
          <a:custGeom>
            <a:avLst/>
            <a:gdLst/>
            <a:ahLst/>
            <a:cxnLst/>
            <a:rect l="l" t="t" r="r" b="b"/>
            <a:pathLst>
              <a:path w="5591175" h="2162175">
                <a:moveTo>
                  <a:pt x="114293" y="0"/>
                </a:moveTo>
                <a:lnTo>
                  <a:pt x="5476882" y="0"/>
                </a:lnTo>
                <a:cubicBezTo>
                  <a:pt x="5539962" y="0"/>
                  <a:pt x="5591175" y="51213"/>
                  <a:pt x="5591175" y="114293"/>
                </a:cubicBezTo>
                <a:lnTo>
                  <a:pt x="5591175" y="2047882"/>
                </a:lnTo>
                <a:cubicBezTo>
                  <a:pt x="5591175" y="2111004"/>
                  <a:pt x="5540004" y="2162175"/>
                  <a:pt x="5476882" y="2162175"/>
                </a:cubicBezTo>
                <a:lnTo>
                  <a:pt x="114293" y="2162175"/>
                </a:lnTo>
                <a:cubicBezTo>
                  <a:pt x="51213" y="2162175"/>
                  <a:pt x="0" y="2110962"/>
                  <a:pt x="0" y="20478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448425" y="1724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615113" y="18764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42863"/>
                </a:moveTo>
                <a:lnTo>
                  <a:pt x="114300" y="42863"/>
                </a:lnTo>
                <a:lnTo>
                  <a:pt x="114300" y="100013"/>
                </a:lnTo>
                <a:lnTo>
                  <a:pt x="171450" y="100013"/>
                </a:lnTo>
                <a:lnTo>
                  <a:pt x="171450" y="42863"/>
                </a:lnTo>
                <a:close/>
                <a:moveTo>
                  <a:pt x="200025" y="100013"/>
                </a:move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00013"/>
                </a:lnTo>
                <a:close/>
                <a:moveTo>
                  <a:pt x="28575" y="128588"/>
                </a:moveTo>
                <a:lnTo>
                  <a:pt x="28575" y="185738"/>
                </a:lnTo>
                <a:lnTo>
                  <a:pt x="85725" y="185738"/>
                </a:lnTo>
                <a:lnTo>
                  <a:pt x="85725" y="128588"/>
                </a:lnTo>
                <a:lnTo>
                  <a:pt x="28575" y="128588"/>
                </a:lnTo>
                <a:close/>
                <a:moveTo>
                  <a:pt x="85725" y="100013"/>
                </a:moveTo>
                <a:lnTo>
                  <a:pt x="85725" y="42863"/>
                </a:lnTo>
                <a:lnTo>
                  <a:pt x="28575" y="42863"/>
                </a:lnTo>
                <a:lnTo>
                  <a:pt x="28575" y="100013"/>
                </a:lnTo>
                <a:lnTo>
                  <a:pt x="85725" y="100013"/>
                </a:lnTo>
                <a:close/>
                <a:moveTo>
                  <a:pt x="114300" y="128588"/>
                </a:moveTo>
                <a:lnTo>
                  <a:pt x="114300" y="185738"/>
                </a:lnTo>
                <a:lnTo>
                  <a:pt x="171450" y="185738"/>
                </a:lnTo>
                <a:lnTo>
                  <a:pt x="171450" y="128588"/>
                </a:lnTo>
                <a:lnTo>
                  <a:pt x="114300" y="128588"/>
                </a:ln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134225" y="1724025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Paged KV Cache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4225" y="2028825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分页缓存技术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67475" y="2409825"/>
            <a:ext cx="5105400" cy="447675"/>
          </a:xfrm>
          <a:custGeom>
            <a:avLst/>
            <a:gdLst/>
            <a:ahLst/>
            <a:cxnLst/>
            <a:rect l="l" t="t" r="r" b="b"/>
            <a:pathLst>
              <a:path w="5105400" h="447675">
                <a:moveTo>
                  <a:pt x="38100" y="0"/>
                </a:moveTo>
                <a:lnTo>
                  <a:pt x="5029201" y="0"/>
                </a:lnTo>
                <a:cubicBezTo>
                  <a:pt x="5071285" y="0"/>
                  <a:pt x="5105400" y="34115"/>
                  <a:pt x="5105400" y="76199"/>
                </a:cubicBezTo>
                <a:lnTo>
                  <a:pt x="5105400" y="371476"/>
                </a:lnTo>
                <a:cubicBezTo>
                  <a:pt x="5105400" y="413560"/>
                  <a:pt x="5071285" y="447675"/>
                  <a:pt x="5029201" y="447675"/>
                </a:cubicBezTo>
                <a:lnTo>
                  <a:pt x="38100" y="447675"/>
                </a:lnTo>
                <a:cubicBezTo>
                  <a:pt x="17058" y="447675"/>
                  <a:pt x="0" y="430617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467475" y="2409825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3810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00825" y="2524125"/>
            <a:ext cx="4924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核心思想: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将连续大块KV内存切分为页,按需分配与回收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67475" y="2969419"/>
            <a:ext cx="5105400" cy="447675"/>
          </a:xfrm>
          <a:custGeom>
            <a:avLst/>
            <a:gdLst/>
            <a:ahLst/>
            <a:cxnLst/>
            <a:rect l="l" t="t" r="r" b="b"/>
            <a:pathLst>
              <a:path w="5105400" h="447675">
                <a:moveTo>
                  <a:pt x="38100" y="0"/>
                </a:moveTo>
                <a:lnTo>
                  <a:pt x="5029201" y="0"/>
                </a:lnTo>
                <a:cubicBezTo>
                  <a:pt x="5071285" y="0"/>
                  <a:pt x="5105400" y="34115"/>
                  <a:pt x="5105400" y="76199"/>
                </a:cubicBezTo>
                <a:lnTo>
                  <a:pt x="5105400" y="371476"/>
                </a:lnTo>
                <a:cubicBezTo>
                  <a:pt x="5105400" y="413560"/>
                  <a:pt x="5071285" y="447675"/>
                  <a:pt x="5029201" y="447675"/>
                </a:cubicBezTo>
                <a:lnTo>
                  <a:pt x="38100" y="447675"/>
                </a:lnTo>
                <a:cubicBezTo>
                  <a:pt x="17058" y="447675"/>
                  <a:pt x="0" y="430617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467475" y="2969419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3810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600825" y="3083719"/>
            <a:ext cx="4924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减少内存碎片,支持更高并发与更灵活的请求调度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5763" y="3844160"/>
            <a:ext cx="5591175" cy="2162175"/>
          </a:xfrm>
          <a:custGeom>
            <a:avLst/>
            <a:gdLst/>
            <a:ahLst/>
            <a:cxnLst/>
            <a:rect l="l" t="t" r="r" b="b"/>
            <a:pathLst>
              <a:path w="5591175" h="2162175">
                <a:moveTo>
                  <a:pt x="114293" y="0"/>
                </a:moveTo>
                <a:lnTo>
                  <a:pt x="5476882" y="0"/>
                </a:lnTo>
                <a:cubicBezTo>
                  <a:pt x="5539962" y="0"/>
                  <a:pt x="5591175" y="51213"/>
                  <a:pt x="5591175" y="114293"/>
                </a:cubicBezTo>
                <a:lnTo>
                  <a:pt x="5591175" y="2047882"/>
                </a:lnTo>
                <a:cubicBezTo>
                  <a:pt x="5591175" y="2111004"/>
                  <a:pt x="5540004" y="2162175"/>
                  <a:pt x="5476882" y="2162175"/>
                </a:cubicBezTo>
                <a:lnTo>
                  <a:pt x="114293" y="2162175"/>
                </a:lnTo>
                <a:cubicBezTo>
                  <a:pt x="51213" y="2162175"/>
                  <a:pt x="0" y="2110962"/>
                  <a:pt x="0" y="20478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19125" y="407752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85813" y="42299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438" y="28575"/>
                </a:moveTo>
                <a:cubicBezTo>
                  <a:pt x="71438" y="20672"/>
                  <a:pt x="65053" y="14288"/>
                  <a:pt x="57150" y="14288"/>
                </a:cubicBezTo>
                <a:cubicBezTo>
                  <a:pt x="49247" y="14288"/>
                  <a:pt x="42863" y="20672"/>
                  <a:pt x="42863" y="28575"/>
                </a:cubicBezTo>
                <a:lnTo>
                  <a:pt x="42863" y="57150"/>
                </a:lnTo>
                <a:lnTo>
                  <a:pt x="14288" y="57150"/>
                </a:ln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57150" y="85725"/>
                </a:lnTo>
                <a:cubicBezTo>
                  <a:pt x="65053" y="85725"/>
                  <a:pt x="71438" y="79340"/>
                  <a:pt x="71438" y="71438"/>
                </a:cubicBezTo>
                <a:lnTo>
                  <a:pt x="71438" y="28575"/>
                </a:lnTo>
                <a:close/>
                <a:moveTo>
                  <a:pt x="14288" y="142875"/>
                </a:move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8" y="171450"/>
                </a:cubicBezTo>
                <a:lnTo>
                  <a:pt x="42863" y="171450"/>
                </a:lnTo>
                <a:lnTo>
                  <a:pt x="42863" y="200025"/>
                </a:lnTo>
                <a:cubicBezTo>
                  <a:pt x="42863" y="207928"/>
                  <a:pt x="49247" y="214313"/>
                  <a:pt x="57150" y="214313"/>
                </a:cubicBezTo>
                <a:cubicBezTo>
                  <a:pt x="65053" y="214313"/>
                  <a:pt x="71438" y="207928"/>
                  <a:pt x="71438" y="200025"/>
                </a:cubicBezTo>
                <a:lnTo>
                  <a:pt x="71438" y="157163"/>
                </a:lnTo>
                <a:cubicBezTo>
                  <a:pt x="71438" y="149260"/>
                  <a:pt x="65053" y="142875"/>
                  <a:pt x="57150" y="142875"/>
                </a:cubicBezTo>
                <a:lnTo>
                  <a:pt x="14288" y="142875"/>
                </a:lnTo>
                <a:close/>
                <a:moveTo>
                  <a:pt x="157163" y="28575"/>
                </a:moveTo>
                <a:cubicBezTo>
                  <a:pt x="157163" y="20672"/>
                  <a:pt x="150778" y="14288"/>
                  <a:pt x="142875" y="14288"/>
                </a:cubicBezTo>
                <a:cubicBezTo>
                  <a:pt x="134972" y="14288"/>
                  <a:pt x="128588" y="20672"/>
                  <a:pt x="128588" y="28575"/>
                </a:cubicBezTo>
                <a:lnTo>
                  <a:pt x="128588" y="71438"/>
                </a:lnTo>
                <a:cubicBezTo>
                  <a:pt x="128588" y="79340"/>
                  <a:pt x="134972" y="85725"/>
                  <a:pt x="142875" y="85725"/>
                </a:cubicBez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57163" y="57150"/>
                </a:lnTo>
                <a:lnTo>
                  <a:pt x="157163" y="28575"/>
                </a:lnTo>
                <a:close/>
                <a:moveTo>
                  <a:pt x="142875" y="142875"/>
                </a:moveTo>
                <a:cubicBezTo>
                  <a:pt x="134972" y="142875"/>
                  <a:pt x="128588" y="149260"/>
                  <a:pt x="128588" y="157163"/>
                </a:cubicBezTo>
                <a:lnTo>
                  <a:pt x="128588" y="200025"/>
                </a:lnTo>
                <a:cubicBezTo>
                  <a:pt x="128588" y="207928"/>
                  <a:pt x="134972" y="214313"/>
                  <a:pt x="142875" y="214313"/>
                </a:cubicBezTo>
                <a:cubicBezTo>
                  <a:pt x="150778" y="214313"/>
                  <a:pt x="157163" y="207928"/>
                  <a:pt x="157163" y="200025"/>
                </a:cubicBezTo>
                <a:lnTo>
                  <a:pt x="157163" y="171450"/>
                </a:ln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142875" y="142875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304925" y="4077522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 量化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04925" y="4382323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FP8 / INT8 精度压缩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175" y="4763323"/>
            <a:ext cx="5105400" cy="447675"/>
          </a:xfrm>
          <a:custGeom>
            <a:avLst/>
            <a:gdLst/>
            <a:ahLst/>
            <a:cxnLst/>
            <a:rect l="l" t="t" r="r" b="b"/>
            <a:pathLst>
              <a:path w="5105400" h="447675">
                <a:moveTo>
                  <a:pt x="38100" y="0"/>
                </a:moveTo>
                <a:lnTo>
                  <a:pt x="5029201" y="0"/>
                </a:lnTo>
                <a:cubicBezTo>
                  <a:pt x="5071285" y="0"/>
                  <a:pt x="5105400" y="34115"/>
                  <a:pt x="5105400" y="76199"/>
                </a:cubicBezTo>
                <a:lnTo>
                  <a:pt x="5105400" y="371476"/>
                </a:lnTo>
                <a:cubicBezTo>
                  <a:pt x="5105400" y="413560"/>
                  <a:pt x="5071285" y="447675"/>
                  <a:pt x="5029201" y="447675"/>
                </a:cubicBezTo>
                <a:lnTo>
                  <a:pt x="38100" y="447675"/>
                </a:lnTo>
                <a:cubicBezTo>
                  <a:pt x="17058" y="447675"/>
                  <a:pt x="0" y="430617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38175" y="4763323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3810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71525" y="4877623"/>
            <a:ext cx="4924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核心思想: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通过降低KV精度显著减少显存占用与带宽压力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175" y="5322916"/>
            <a:ext cx="5105400" cy="447675"/>
          </a:xfrm>
          <a:custGeom>
            <a:avLst/>
            <a:gdLst/>
            <a:ahLst/>
            <a:cxnLst/>
            <a:rect l="l" t="t" r="r" b="b"/>
            <a:pathLst>
              <a:path w="5105400" h="447675">
                <a:moveTo>
                  <a:pt x="38100" y="0"/>
                </a:moveTo>
                <a:lnTo>
                  <a:pt x="5029201" y="0"/>
                </a:lnTo>
                <a:cubicBezTo>
                  <a:pt x="5071285" y="0"/>
                  <a:pt x="5105400" y="34115"/>
                  <a:pt x="5105400" y="76199"/>
                </a:cubicBezTo>
                <a:lnTo>
                  <a:pt x="5105400" y="371476"/>
                </a:lnTo>
                <a:cubicBezTo>
                  <a:pt x="5105400" y="413560"/>
                  <a:pt x="5071285" y="447675"/>
                  <a:pt x="5029201" y="447675"/>
                </a:cubicBezTo>
                <a:lnTo>
                  <a:pt x="38100" y="447675"/>
                </a:lnTo>
                <a:cubicBezTo>
                  <a:pt x="17058" y="447675"/>
                  <a:pt x="0" y="430617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38175" y="5322916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3810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71525" y="5437216"/>
            <a:ext cx="4924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权衡: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需要在速度、显存收益与精度损失之间做任务级评估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5063" y="3844160"/>
            <a:ext cx="5591175" cy="2162175"/>
          </a:xfrm>
          <a:custGeom>
            <a:avLst/>
            <a:gdLst/>
            <a:ahLst/>
            <a:cxnLst/>
            <a:rect l="l" t="t" r="r" b="b"/>
            <a:pathLst>
              <a:path w="5591175" h="2162175">
                <a:moveTo>
                  <a:pt x="114293" y="0"/>
                </a:moveTo>
                <a:lnTo>
                  <a:pt x="5476882" y="0"/>
                </a:lnTo>
                <a:cubicBezTo>
                  <a:pt x="5539962" y="0"/>
                  <a:pt x="5591175" y="51213"/>
                  <a:pt x="5591175" y="114293"/>
                </a:cubicBezTo>
                <a:lnTo>
                  <a:pt x="5591175" y="2047882"/>
                </a:lnTo>
                <a:cubicBezTo>
                  <a:pt x="5591175" y="2111004"/>
                  <a:pt x="5540004" y="2162175"/>
                  <a:pt x="5476882" y="2162175"/>
                </a:cubicBezTo>
                <a:lnTo>
                  <a:pt x="114293" y="2162175"/>
                </a:lnTo>
                <a:cubicBezTo>
                  <a:pt x="51213" y="2162175"/>
                  <a:pt x="0" y="2110962"/>
                  <a:pt x="0" y="20478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448425" y="407752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600825" y="42299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8000" y="26789"/>
                </a:moveTo>
                <a:cubicBezTo>
                  <a:pt x="88627" y="-8930"/>
                  <a:pt x="140196" y="-8930"/>
                  <a:pt x="160824" y="26789"/>
                </a:cubicBezTo>
                <a:lnTo>
                  <a:pt x="177478" y="55632"/>
                </a:lnTo>
                <a:lnTo>
                  <a:pt x="189845" y="48488"/>
                </a:lnTo>
                <a:cubicBezTo>
                  <a:pt x="193596" y="46300"/>
                  <a:pt x="198284" y="46613"/>
                  <a:pt x="201722" y="49247"/>
                </a:cubicBezTo>
                <a:cubicBezTo>
                  <a:pt x="205160" y="51881"/>
                  <a:pt x="206678" y="56346"/>
                  <a:pt x="205561" y="60543"/>
                </a:cubicBezTo>
                <a:lnTo>
                  <a:pt x="195069" y="99566"/>
                </a:lnTo>
                <a:cubicBezTo>
                  <a:pt x="193551" y="105281"/>
                  <a:pt x="187657" y="108674"/>
                  <a:pt x="181942" y="107156"/>
                </a:cubicBezTo>
                <a:lnTo>
                  <a:pt x="142920" y="96709"/>
                </a:lnTo>
                <a:cubicBezTo>
                  <a:pt x="138723" y="95592"/>
                  <a:pt x="135642" y="92065"/>
                  <a:pt x="135062" y="87779"/>
                </a:cubicBezTo>
                <a:cubicBezTo>
                  <a:pt x="134481" y="83493"/>
                  <a:pt x="136580" y="79251"/>
                  <a:pt x="140330" y="77108"/>
                </a:cubicBezTo>
                <a:lnTo>
                  <a:pt x="152698" y="69964"/>
                </a:lnTo>
                <a:lnTo>
                  <a:pt x="136044" y="41121"/>
                </a:lnTo>
                <a:cubicBezTo>
                  <a:pt x="126400" y="24467"/>
                  <a:pt x="102379" y="24467"/>
                  <a:pt x="92735" y="41121"/>
                </a:cubicBezTo>
                <a:lnTo>
                  <a:pt x="90368" y="45184"/>
                </a:lnTo>
                <a:cubicBezTo>
                  <a:pt x="86439" y="52015"/>
                  <a:pt x="77688" y="54337"/>
                  <a:pt x="70857" y="50408"/>
                </a:cubicBezTo>
                <a:cubicBezTo>
                  <a:pt x="64026" y="46479"/>
                  <a:pt x="61704" y="37728"/>
                  <a:pt x="65633" y="30852"/>
                </a:cubicBezTo>
                <a:lnTo>
                  <a:pt x="68000" y="26789"/>
                </a:lnTo>
                <a:close/>
                <a:moveTo>
                  <a:pt x="200784" y="124614"/>
                </a:moveTo>
                <a:cubicBezTo>
                  <a:pt x="207615" y="120685"/>
                  <a:pt x="216366" y="123006"/>
                  <a:pt x="220295" y="129838"/>
                </a:cubicBezTo>
                <a:lnTo>
                  <a:pt x="222662" y="133901"/>
                </a:lnTo>
                <a:cubicBezTo>
                  <a:pt x="243289" y="169619"/>
                  <a:pt x="217527" y="214268"/>
                  <a:pt x="176272" y="214268"/>
                </a:cubicBezTo>
                <a:lnTo>
                  <a:pt x="142964" y="214268"/>
                </a:lnTo>
                <a:lnTo>
                  <a:pt x="142964" y="228555"/>
                </a:lnTo>
                <a:cubicBezTo>
                  <a:pt x="142964" y="232886"/>
                  <a:pt x="140375" y="236815"/>
                  <a:pt x="136356" y="238467"/>
                </a:cubicBezTo>
                <a:cubicBezTo>
                  <a:pt x="132338" y="240119"/>
                  <a:pt x="127739" y="239226"/>
                  <a:pt x="124658" y="236146"/>
                </a:cubicBezTo>
                <a:lnTo>
                  <a:pt x="96083" y="207571"/>
                </a:lnTo>
                <a:cubicBezTo>
                  <a:pt x="91886" y="203374"/>
                  <a:pt x="91886" y="196587"/>
                  <a:pt x="96083" y="192435"/>
                </a:cubicBezTo>
                <a:lnTo>
                  <a:pt x="124658" y="163860"/>
                </a:lnTo>
                <a:cubicBezTo>
                  <a:pt x="127739" y="160779"/>
                  <a:pt x="132338" y="159886"/>
                  <a:pt x="136356" y="161538"/>
                </a:cubicBezTo>
                <a:cubicBezTo>
                  <a:pt x="140375" y="163190"/>
                  <a:pt x="142964" y="167119"/>
                  <a:pt x="142964" y="171450"/>
                </a:cubicBezTo>
                <a:lnTo>
                  <a:pt x="142964" y="185738"/>
                </a:lnTo>
                <a:lnTo>
                  <a:pt x="176272" y="185738"/>
                </a:lnTo>
                <a:cubicBezTo>
                  <a:pt x="195516" y="185738"/>
                  <a:pt x="207571" y="164887"/>
                  <a:pt x="197927" y="148233"/>
                </a:cubicBezTo>
                <a:lnTo>
                  <a:pt x="195560" y="144170"/>
                </a:lnTo>
                <a:cubicBezTo>
                  <a:pt x="191631" y="137339"/>
                  <a:pt x="193953" y="128588"/>
                  <a:pt x="200784" y="124658"/>
                </a:cubicBezTo>
                <a:close/>
                <a:moveTo>
                  <a:pt x="22771" y="105102"/>
                </a:moveTo>
                <a:lnTo>
                  <a:pt x="10403" y="97959"/>
                </a:lnTo>
                <a:cubicBezTo>
                  <a:pt x="6653" y="95771"/>
                  <a:pt x="4554" y="91574"/>
                  <a:pt x="5135" y="87288"/>
                </a:cubicBezTo>
                <a:cubicBezTo>
                  <a:pt x="5715" y="83001"/>
                  <a:pt x="8796" y="79474"/>
                  <a:pt x="12993" y="78358"/>
                </a:cubicBezTo>
                <a:lnTo>
                  <a:pt x="52015" y="67866"/>
                </a:lnTo>
                <a:cubicBezTo>
                  <a:pt x="57730" y="66348"/>
                  <a:pt x="63624" y="69741"/>
                  <a:pt x="65142" y="75456"/>
                </a:cubicBezTo>
                <a:lnTo>
                  <a:pt x="75590" y="114479"/>
                </a:lnTo>
                <a:cubicBezTo>
                  <a:pt x="76706" y="118676"/>
                  <a:pt x="75188" y="123096"/>
                  <a:pt x="71750" y="125775"/>
                </a:cubicBezTo>
                <a:cubicBezTo>
                  <a:pt x="68312" y="128454"/>
                  <a:pt x="63624" y="128721"/>
                  <a:pt x="59874" y="126534"/>
                </a:cubicBezTo>
                <a:lnTo>
                  <a:pt x="47506" y="119390"/>
                </a:lnTo>
                <a:lnTo>
                  <a:pt x="30852" y="148233"/>
                </a:lnTo>
                <a:cubicBezTo>
                  <a:pt x="21208" y="164887"/>
                  <a:pt x="33263" y="185738"/>
                  <a:pt x="52507" y="185738"/>
                </a:cubicBezTo>
                <a:lnTo>
                  <a:pt x="57239" y="185738"/>
                </a:lnTo>
                <a:cubicBezTo>
                  <a:pt x="65142" y="185738"/>
                  <a:pt x="71527" y="192122"/>
                  <a:pt x="71527" y="200025"/>
                </a:cubicBezTo>
                <a:cubicBezTo>
                  <a:pt x="71527" y="207928"/>
                  <a:pt x="65142" y="214313"/>
                  <a:pt x="57239" y="214313"/>
                </a:cubicBezTo>
                <a:lnTo>
                  <a:pt x="52507" y="214313"/>
                </a:lnTo>
                <a:cubicBezTo>
                  <a:pt x="11296" y="214313"/>
                  <a:pt x="-14466" y="169664"/>
                  <a:pt x="6161" y="133945"/>
                </a:cubicBezTo>
                <a:lnTo>
                  <a:pt x="22771" y="105102"/>
                </a:ln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134225" y="4077522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淘汰与窗口策略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34225" y="4382323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Eviction / Sliding Window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67475" y="4763323"/>
            <a:ext cx="5105400" cy="447675"/>
          </a:xfrm>
          <a:custGeom>
            <a:avLst/>
            <a:gdLst/>
            <a:ahLst/>
            <a:cxnLst/>
            <a:rect l="l" t="t" r="r" b="b"/>
            <a:pathLst>
              <a:path w="5105400" h="447675">
                <a:moveTo>
                  <a:pt x="38100" y="0"/>
                </a:moveTo>
                <a:lnTo>
                  <a:pt x="5029201" y="0"/>
                </a:lnTo>
                <a:cubicBezTo>
                  <a:pt x="5071285" y="0"/>
                  <a:pt x="5105400" y="34115"/>
                  <a:pt x="5105400" y="76199"/>
                </a:cubicBezTo>
                <a:lnTo>
                  <a:pt x="5105400" y="371476"/>
                </a:lnTo>
                <a:cubicBezTo>
                  <a:pt x="5105400" y="413560"/>
                  <a:pt x="5071285" y="447675"/>
                  <a:pt x="5029201" y="447675"/>
                </a:cubicBezTo>
                <a:lnTo>
                  <a:pt x="38100" y="447675"/>
                </a:lnTo>
                <a:cubicBezTo>
                  <a:pt x="17058" y="447675"/>
                  <a:pt x="0" y="430617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467475" y="4763323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3810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600825" y="4877623"/>
            <a:ext cx="4924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核心思想: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对超长上下文可采用滑动窗口、分段摘要或优先级淘汰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67475" y="5322916"/>
            <a:ext cx="5105400" cy="447675"/>
          </a:xfrm>
          <a:custGeom>
            <a:avLst/>
            <a:gdLst/>
            <a:ahLst/>
            <a:cxnLst/>
            <a:rect l="l" t="t" r="r" b="b"/>
            <a:pathLst>
              <a:path w="5105400" h="447675">
                <a:moveTo>
                  <a:pt x="38100" y="0"/>
                </a:moveTo>
                <a:lnTo>
                  <a:pt x="5029201" y="0"/>
                </a:lnTo>
                <a:cubicBezTo>
                  <a:pt x="5071285" y="0"/>
                  <a:pt x="5105400" y="34115"/>
                  <a:pt x="5105400" y="76199"/>
                </a:cubicBezTo>
                <a:lnTo>
                  <a:pt x="5105400" y="371476"/>
                </a:lnTo>
                <a:cubicBezTo>
                  <a:pt x="5105400" y="413560"/>
                  <a:pt x="5071285" y="447675"/>
                  <a:pt x="5029201" y="447675"/>
                </a:cubicBezTo>
                <a:lnTo>
                  <a:pt x="38100" y="447675"/>
                </a:lnTo>
                <a:cubicBezTo>
                  <a:pt x="17058" y="447675"/>
                  <a:pt x="0" y="430617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467475" y="5322916"/>
            <a:ext cx="38100" cy="447675"/>
          </a:xfrm>
          <a:custGeom>
            <a:avLst/>
            <a:gdLst/>
            <a:ahLst/>
            <a:cxnLst/>
            <a:rect l="l" t="t" r="r" b="b"/>
            <a:pathLst>
              <a:path w="38100" h="447675">
                <a:moveTo>
                  <a:pt x="38100" y="0"/>
                </a:moveTo>
                <a:lnTo>
                  <a:pt x="38100" y="0"/>
                </a:lnTo>
                <a:lnTo>
                  <a:pt x="38100" y="447675"/>
                </a:lnTo>
                <a:lnTo>
                  <a:pt x="38100" y="447675"/>
                </a:lnTo>
                <a:cubicBezTo>
                  <a:pt x="17072" y="447675"/>
                  <a:pt x="0" y="430603"/>
                  <a:pt x="0" y="409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600825" y="5437216"/>
            <a:ext cx="4924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目标:</a:t>
            </a: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在有限显存下维持可接受的生成质量与系统稳定性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5763" y="6197658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114300" y="0"/>
                </a:moveTo>
                <a:lnTo>
                  <a:pt x="11306175" y="0"/>
                </a:lnTo>
                <a:cubicBezTo>
                  <a:pt x="11369301" y="0"/>
                  <a:pt x="11420475" y="51174"/>
                  <a:pt x="11420475" y="114300"/>
                </a:cubicBezTo>
                <a:lnTo>
                  <a:pt x="11420475" y="447675"/>
                </a:lnTo>
                <a:cubicBezTo>
                  <a:pt x="11420475" y="510801"/>
                  <a:pt x="11369301" y="561975"/>
                  <a:pt x="11306175" y="561975"/>
                </a:cubicBezTo>
                <a:lnTo>
                  <a:pt x="114300" y="561975"/>
                </a:lnTo>
                <a:cubicBezTo>
                  <a:pt x="51174" y="561975"/>
                  <a:pt x="0" y="510801"/>
                  <a:pt x="0" y="4476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71500" y="636434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81075" y="6354820"/>
            <a:ext cx="86582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实践要点: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在真实推理服务中,KV Cache的优化目标通常不是单一指标,而是综合平衡</a:t>
            </a:r>
            <a:r>
              <a:rPr lang="en-US" sz="12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首字延迟、单Token延迟、吞吐与显存成本</a:t>
            </a: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08340" y="935831"/>
            <a:ext cx="1371600" cy="428625"/>
          </a:xfrm>
          <a:custGeom>
            <a:avLst/>
            <a:gdLst/>
            <a:ahLst/>
            <a:cxnLst/>
            <a:rect l="l" t="t" r="r" b="b"/>
            <a:pathLst>
              <a:path w="1371600" h="428625">
                <a:moveTo>
                  <a:pt x="214313" y="0"/>
                </a:moveTo>
                <a:lnTo>
                  <a:pt x="1157288" y="0"/>
                </a:lnTo>
                <a:cubicBezTo>
                  <a:pt x="1275570" y="0"/>
                  <a:pt x="1371600" y="96030"/>
                  <a:pt x="1371600" y="214313"/>
                </a:cubicBezTo>
                <a:lnTo>
                  <a:pt x="1371600" y="214313"/>
                </a:lnTo>
                <a:cubicBezTo>
                  <a:pt x="1371600" y="332595"/>
                  <a:pt x="1275570" y="428625"/>
                  <a:pt x="115728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4A9B9B">
              <a:alpha val="20000"/>
            </a:srgbClr>
          </a:solidFill>
          <a:ln w="12700">
            <a:solidFill>
              <a:srgbClr val="4A9B9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598840" y="1035844"/>
            <a:ext cx="994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38700" y="1902619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68587" y="2783681"/>
            <a:ext cx="7658100" cy="781050"/>
          </a:xfrm>
          <a:custGeom>
            <a:avLst/>
            <a:gdLst/>
            <a:ahLst/>
            <a:cxnLst/>
            <a:rect l="l" t="t" r="r" b="b"/>
            <a:pathLst>
              <a:path w="7658100" h="781050">
                <a:moveTo>
                  <a:pt x="114299" y="0"/>
                </a:moveTo>
                <a:lnTo>
                  <a:pt x="7543801" y="0"/>
                </a:lnTo>
                <a:cubicBezTo>
                  <a:pt x="7606927" y="0"/>
                  <a:pt x="7658100" y="51173"/>
                  <a:pt x="7658100" y="114299"/>
                </a:cubicBezTo>
                <a:lnTo>
                  <a:pt x="7658100" y="666751"/>
                </a:lnTo>
                <a:cubicBezTo>
                  <a:pt x="7658100" y="729877"/>
                  <a:pt x="7606927" y="781050"/>
                  <a:pt x="7543801" y="781050"/>
                </a:cubicBezTo>
                <a:lnTo>
                  <a:pt x="114299" y="781050"/>
                </a:lnTo>
                <a:cubicBezTo>
                  <a:pt x="51173" y="781050"/>
                  <a:pt x="0" y="729877"/>
                  <a:pt x="0" y="6667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454325" y="3017044"/>
            <a:ext cx="72866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</a:t>
            </a: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已成为现代LLM推理的</a:t>
            </a:r>
            <a:r>
              <a:rPr lang="en-US" sz="1500" b="1" dirty="0">
                <a:solidFill>
                  <a:srgbClr val="D9A4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标配技术</a:t>
            </a: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,通过</a:t>
            </a:r>
            <a:r>
              <a:rPr lang="en-US" sz="1500" b="1" dirty="0">
                <a:solidFill>
                  <a:srgbClr val="4A9B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空间换时间</a:t>
            </a: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大幅提升长文本生成效率。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68587" y="3798094"/>
            <a:ext cx="2447925" cy="1438275"/>
          </a:xfrm>
          <a:custGeom>
            <a:avLst/>
            <a:gdLst/>
            <a:ahLst/>
            <a:cxnLst/>
            <a:rect l="l" t="t" r="r" b="b"/>
            <a:pathLst>
              <a:path w="2447925" h="1438275">
                <a:moveTo>
                  <a:pt x="114300" y="0"/>
                </a:moveTo>
                <a:lnTo>
                  <a:pt x="2333625" y="0"/>
                </a:lnTo>
                <a:cubicBezTo>
                  <a:pt x="2396751" y="0"/>
                  <a:pt x="2447925" y="51174"/>
                  <a:pt x="2447925" y="114300"/>
                </a:cubicBezTo>
                <a:lnTo>
                  <a:pt x="2447925" y="1323975"/>
                </a:lnTo>
                <a:cubicBezTo>
                  <a:pt x="2447925" y="1387101"/>
                  <a:pt x="2396751" y="1438275"/>
                  <a:pt x="2333625" y="1438275"/>
                </a:cubicBezTo>
                <a:lnTo>
                  <a:pt x="114300" y="1438275"/>
                </a:lnTo>
                <a:cubicBezTo>
                  <a:pt x="51174" y="1438275"/>
                  <a:pt x="0" y="1387101"/>
                  <a:pt x="0" y="1323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349898" y="39552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382887" y="4355306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92412" y="4698206"/>
            <a:ext cx="2200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O(N)计算复杂度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推理速度稳定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74121" y="3798094"/>
            <a:ext cx="2447925" cy="1438275"/>
          </a:xfrm>
          <a:custGeom>
            <a:avLst/>
            <a:gdLst/>
            <a:ahLst/>
            <a:cxnLst/>
            <a:rect l="l" t="t" r="r" b="b"/>
            <a:pathLst>
              <a:path w="2447925" h="1438275">
                <a:moveTo>
                  <a:pt x="114300" y="0"/>
                </a:moveTo>
                <a:lnTo>
                  <a:pt x="2333625" y="0"/>
                </a:lnTo>
                <a:cubicBezTo>
                  <a:pt x="2396751" y="0"/>
                  <a:pt x="2447925" y="51174"/>
                  <a:pt x="2447925" y="114300"/>
                </a:cubicBezTo>
                <a:lnTo>
                  <a:pt x="2447925" y="1323975"/>
                </a:lnTo>
                <a:cubicBezTo>
                  <a:pt x="2447925" y="1387101"/>
                  <a:pt x="2396751" y="1438275"/>
                  <a:pt x="2333625" y="1438275"/>
                </a:cubicBezTo>
                <a:lnTo>
                  <a:pt x="114300" y="1438275"/>
                </a:lnTo>
                <a:cubicBezTo>
                  <a:pt x="51174" y="1438275"/>
                  <a:pt x="0" y="1387101"/>
                  <a:pt x="0" y="1323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D9A44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955432" y="39552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988421" y="4355306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97946" y="4698206"/>
            <a:ext cx="2200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显存占用线性增长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成为系统瓶颈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79655" y="3798094"/>
            <a:ext cx="2447925" cy="1438275"/>
          </a:xfrm>
          <a:custGeom>
            <a:avLst/>
            <a:gdLst/>
            <a:ahLst/>
            <a:cxnLst/>
            <a:rect l="l" t="t" r="r" b="b"/>
            <a:pathLst>
              <a:path w="2447925" h="1438275">
                <a:moveTo>
                  <a:pt x="114300" y="0"/>
                </a:moveTo>
                <a:lnTo>
                  <a:pt x="2333625" y="0"/>
                </a:lnTo>
                <a:cubicBezTo>
                  <a:pt x="2396751" y="0"/>
                  <a:pt x="2447925" y="51174"/>
                  <a:pt x="2447925" y="114300"/>
                </a:cubicBezTo>
                <a:lnTo>
                  <a:pt x="2447925" y="1323975"/>
                </a:lnTo>
                <a:cubicBezTo>
                  <a:pt x="2447925" y="1387101"/>
                  <a:pt x="2396751" y="1438275"/>
                  <a:pt x="2333625" y="1438275"/>
                </a:cubicBezTo>
                <a:lnTo>
                  <a:pt x="114300" y="1438275"/>
                </a:lnTo>
                <a:cubicBezTo>
                  <a:pt x="51174" y="1438275"/>
                  <a:pt x="0" y="1387101"/>
                  <a:pt x="0" y="1323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A9B9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96685" y="3955256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593955" y="4355306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优化方向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03480" y="4698206"/>
            <a:ext cx="2200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MQA/GQA架构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分页缓存与量化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08487" y="57173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460900" y="569833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持续优化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13400" y="571738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0" y="95250"/>
                </a:moveTo>
                <a:cubicBezTo>
                  <a:pt x="0" y="62359"/>
                  <a:pt x="26640" y="35719"/>
                  <a:pt x="59531" y="35719"/>
                </a:cubicBezTo>
                <a:cubicBezTo>
                  <a:pt x="78284" y="35719"/>
                  <a:pt x="95920" y="44537"/>
                  <a:pt x="107156" y="59531"/>
                </a:cubicBezTo>
                <a:lnTo>
                  <a:pt x="119063" y="75419"/>
                </a:lnTo>
                <a:lnTo>
                  <a:pt x="130969" y="59531"/>
                </a:lnTo>
                <a:cubicBezTo>
                  <a:pt x="142205" y="44537"/>
                  <a:pt x="159841" y="35719"/>
                  <a:pt x="178594" y="35719"/>
                </a:cubicBezTo>
                <a:cubicBezTo>
                  <a:pt x="211485" y="35719"/>
                  <a:pt x="238125" y="62359"/>
                  <a:pt x="238125" y="95250"/>
                </a:cubicBezTo>
                <a:cubicBezTo>
                  <a:pt x="238125" y="128141"/>
                  <a:pt x="211485" y="154781"/>
                  <a:pt x="178594" y="154781"/>
                </a:cubicBezTo>
                <a:cubicBezTo>
                  <a:pt x="159841" y="154781"/>
                  <a:pt x="142205" y="145963"/>
                  <a:pt x="130969" y="130969"/>
                </a:cubicBezTo>
                <a:lnTo>
                  <a:pt x="119063" y="115081"/>
                </a:lnTo>
                <a:lnTo>
                  <a:pt x="107156" y="130969"/>
                </a:lnTo>
                <a:cubicBezTo>
                  <a:pt x="95920" y="145963"/>
                  <a:pt x="78284" y="154781"/>
                  <a:pt x="59531" y="154781"/>
                </a:cubicBezTo>
                <a:cubicBezTo>
                  <a:pt x="26640" y="154781"/>
                  <a:pt x="0" y="128141"/>
                  <a:pt x="0" y="95250"/>
                </a:cubicBezTo>
                <a:close/>
                <a:moveTo>
                  <a:pt x="104180" y="95250"/>
                </a:moveTo>
                <a:lnTo>
                  <a:pt x="88106" y="73819"/>
                </a:lnTo>
                <a:cubicBezTo>
                  <a:pt x="81372" y="64815"/>
                  <a:pt x="70768" y="59531"/>
                  <a:pt x="59531" y="59531"/>
                </a:cubicBezTo>
                <a:cubicBezTo>
                  <a:pt x="39812" y="59531"/>
                  <a:pt x="23812" y="75530"/>
                  <a:pt x="23812" y="95250"/>
                </a:cubicBezTo>
                <a:cubicBezTo>
                  <a:pt x="23812" y="114970"/>
                  <a:pt x="39812" y="130969"/>
                  <a:pt x="59531" y="130969"/>
                </a:cubicBezTo>
                <a:cubicBezTo>
                  <a:pt x="70768" y="130969"/>
                  <a:pt x="81372" y="125685"/>
                  <a:pt x="88106" y="116681"/>
                </a:cubicBezTo>
                <a:lnTo>
                  <a:pt x="104180" y="95250"/>
                </a:lnTo>
                <a:close/>
                <a:moveTo>
                  <a:pt x="133945" y="95250"/>
                </a:moveTo>
                <a:lnTo>
                  <a:pt x="150019" y="116681"/>
                </a:lnTo>
                <a:cubicBezTo>
                  <a:pt x="156753" y="125685"/>
                  <a:pt x="167357" y="130969"/>
                  <a:pt x="178594" y="130969"/>
                </a:cubicBezTo>
                <a:cubicBezTo>
                  <a:pt x="198313" y="130969"/>
                  <a:pt x="214313" y="114970"/>
                  <a:pt x="214313" y="95250"/>
                </a:cubicBezTo>
                <a:cubicBezTo>
                  <a:pt x="214313" y="75530"/>
                  <a:pt x="198313" y="59531"/>
                  <a:pt x="178594" y="59531"/>
                </a:cubicBezTo>
                <a:cubicBezTo>
                  <a:pt x="167357" y="59531"/>
                  <a:pt x="156753" y="64815"/>
                  <a:pt x="150019" y="73819"/>
                </a:cubicBezTo>
                <a:lnTo>
                  <a:pt x="133945" y="95250"/>
                </a:lnTo>
                <a:close/>
              </a:path>
            </a:pathLst>
          </a:custGeom>
          <a:solidFill>
            <a:srgbClr val="D9A4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689625" y="5698331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长上下文支持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70737" y="57173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A9B9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223150" y="5698331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AI应用支撑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1221</Words>
  <Application>Microsoft Macintosh PowerPoint</Application>
  <PresentationFormat>宽屏</PresentationFormat>
  <Paragraphs>336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Arial</vt:lpstr>
      <vt:lpstr>MiSans</vt:lpstr>
      <vt:lpstr>微软雅黑</vt:lpstr>
      <vt:lpstr>Noto Sans SC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Cache 原理简介</dc:title>
  <dc:subject>KV Cache 原理简介</dc:subject>
  <dc:creator>Kimi</dc:creator>
  <cp:lastModifiedBy>王 天青</cp:lastModifiedBy>
  <cp:revision>13</cp:revision>
  <dcterms:created xsi:type="dcterms:W3CDTF">2026-04-08T04:24:13Z</dcterms:created>
  <dcterms:modified xsi:type="dcterms:W3CDTF">2026-04-08T04:30:43Z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{"Label":"KV Cache 原理简介","ContentProducer":"001191110108MACG2KBH8F10000","ProduceID":"19d6b501-b7a2-8f8f-8000-00003331e88d","ReservedCode1":"","ContentPropagator":"001191110108MACG2KBH8F20000","PropagateID":"19d6b501-b7a2-8f8f-8000-00003331e88d","ReservedCode2":""}</vt:lpwstr>
  </property>
</Properties>
</file>